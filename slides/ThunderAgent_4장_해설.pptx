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f(t)=2^-t</c:v>
                </c:pt>
              </c:strCache>
            </c:strRef>
          </c:tx>
          <c:spPr>
            <a:solidFill>
              <a:srgbClr val="F5B301"/>
            </a:solidFill>
            <a:ln w="44450" cap="flat">
              <a:solidFill>
                <a:srgbClr val="F5B30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B301"/>
              </a:solidFill>
              <a:ln w="9525" cap="flat">
                <a:solidFill>
                  <a:srgbClr val="F5B301"/>
                </a:solidFill>
                <a:prstDash val="solid"/>
                <a:round/>
              </a:ln>
              <a:effectLst/>
            </c:spPr>
          </c:marker>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1</c:v>
                </c:pt>
                <c:pt idx="1">
                  <c:v>0.5</c:v>
                </c:pt>
                <c:pt idx="2">
                  <c:v>0.25</c:v>
                </c:pt>
                <c:pt idx="3">
                  <c:v>0.125</c:v>
                </c:pt>
                <c:pt idx="4">
                  <c:v>0.0625</c:v>
                </c:pt>
                <c:pt idx="5">
                  <c:v>0.03125</c:v>
                </c:pt>
                <c:pt idx="6">
                  <c:v>0.015625</c:v>
                </c:pt>
                <c:pt idx="7">
                  <c:v>0.0078125</c:v>
                </c:pt>
                <c:pt idx="8">
                  <c:v>0.00390625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4748B"/>
                    </a:solidFill>
                    <a:latin typeface="Arial"/>
                  </a:defRPr>
                </a:pPr>
                <a:r>
                  <a:rPr sz="1100" b="0" i="0" u="none" strike="noStrike">
                    <a:solidFill>
                      <a:srgbClr val="64748B"/>
                    </a:solidFill>
                    <a:latin typeface="Arial"/>
                  </a:rPr>
                  <a:t>경과 툴 대기 시간 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8EDF2"/>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가중치 f(t)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발표는 ThunderAgent 논문의 4장 전체를 한국어로 풀어 설명합니다. 핵심 메시지는 '기존 추론 시스템은 요청(request) 하나하나를 따로 처리해서, 에이전트 워크플로우 전체를 보지 못한다'는 것입니다. 그래서 KV 캐시가 반복적으로 쫓겨나고(스래싱), 노드마다 메모리가 불균형해지고, 다 쓴 툴 환경이 정리되지 않아 자원이 새어나갑니다. ThunderAgent는 워크플로우 전체를 'LLM 프로그램'이라는 하나의 단위로 보고, 이를 기준으로 스케줄링과 자원 관리를 합니다. 4장은 크게 네 부분입니다. (1) 프로그램 추상화 (2) 비용 모델 (3) 스케줄링 정책 (4) 툴 리소스 관리. 이 순서대로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4장의 네 블록은 서로 쌓여 있는 구조입니다. 4.1 프로그램 추상화가 가장 아래 토대입니다. 워크플로우 전체를 P라는 하나의 튜플로 표현합니다. 4.2 비용 모델은 이 추상화 덕분에 '지금 얼마나 낭비하고 있는지'를 메모리×시간으로 계산합니다. 4.3 스케줄링 정책은 그 비용 중 낭비 항목(재계산, 유휴 캐싱, 노드 불균형)을 줄이는 것을 목표로 삼습니다. 4.4 툴 리소스 관리는 GPU 밖의 자원(도커 샌드박스, 네트워크 포트 등)의 생명주기를 프로그램 상태와 묶어서 관리합니다. 즉 추상화 → 측정 → 최적화(스케줄링) → 자원관리 순서로 논리가 전개된다고 이해하면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4.1의 핵심은 '에이전트 워크플로우 하나 = 프로그램 P 하나'라는 추상화입니다. P는 여섯 가지 정보를 담은 튜플입니다. ID는 전역 고유 식별자로, 서로 다른 워크플로우의 요청을 구분하게 해줍니다. 이게 있어야 시스템이 '이 요청은 몇 번 워크플로우 것'인지 압니다. c는 컨텍스트 토큰 수인데, 곧 KV 캐시가 차지하는 메모리 크기와 같습니다. 뒤의 비용 모델과 스케줄링에서 핵심 변수로 계속 등장합니다. T는 이 프로그램이 사용하는 툴 환경들의 집합입니다. 어떤 프로그램도 더 이상 안 쓰면 그 환경을 회수(garbage collect)할 수 있게 해줍니다. L은 현재 어느 GPU 노드에 배치돼 있는지(공간적 지역성), τ는 지금 모델이 생각 중(Reasoning)인지 툴을 실행 중(Acting)인지, s는 스케줄 상태로 Active/Paused/Terminated 셋 중 하나입니다. 중요한 점: 이 메타데이터는 요청 단위 시스템(vLLM 등)에는 없습니다. 특히 '지금 툴 실행 중이라 메모리만 잡아먹고 있다(Acting)'는 정보가 없어서, 기존 시스템은 잠깐 기다리는 것과 완전히 끝난 것을 구분하지 못합니다. P는 바로 그 정보를 시스템에 노출시킵니다.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강조하는 건 '실용성'입니다. ThunderAgent는 vLLM이나 SGLang 같은 기존 추론 엔진을 새로 만들지 않고, 그 위에 얇게 올라가는 계층입니다. 연결은 OpenAI 스타일 엔드포인트(chat completion API)를 통해 이뤄지기 때문에, 기존 엔진을 그대로 쓰면서 스케줄링만 프로그램 단위로 바꿀 수 있습니다. 이렇게 실행 백엔드와 스케줄링 로직이 분리되어 있어서 새로운 에이전트 워크플로우도 쉽게 붙일 수 있습니다. 오른쪽은 부록 B의 내용인데, 실제로 코드에서 바꿔야 하는 건 세 군데뿐입니다. 첫째, LLM 요청 보낼 때 extrabody에 program_id를 넣는다. 둘째, 툴 실행 함수에도 같은 program_id를 넘긴다. 셋째, 워크플로우가 끝나면 /programs/release로 종료 신호를 보낸다. 나머지 API 형태는 그대로입니다. 참고로 session ID가 아니라 program ID를 쓰는 이유는, program ID로 워크플로우의 메타데이터(지금 툴 대기 중인지 등)를 조회할 수 있어서, 단순 라우팅 라벨인 session ID로는 불가능한 똑똑한 선점(preemption) 판단이 가능해지기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비용 모델의 목적은 '무엇이 낭비인지'를 숫자로 정의하는 것입니다. 멀티턴 에이전트 추론에서 실제로 처리량(throughput)에 기여하는 건 활성 prefill과 decode뿐이고, 재계산·놀고 있는 용량·유휴 캐싱은 전부 낭비입니다. 이걸 재기 위해 저자들은 Space-Time Product, 줄여서 STP라는 지표를 씁니다. 원래 가상메모리 교체 알고리즘 연구(Belady, 1966)에서 온 개념입니다. 정의는 간단합니다. 어떤 과정 x의 비용은, 그 과정 동안 메모리 사용량 M(t)를 시간에 대해 적분한 값입니다. 즉 그래프에서 '메모리 곡선 아래 면적'입니다. LLM에서 메모리 사용량은 KV 캐시 토큰 수로 바로 잴 수 있으니, 결국 '토큰 수 × 시간'의 면적이 비용이 됩니다. 직관은 오른쪽 그림입니다. 에이전트가 진행될수록 컨텍스트가 길어져서 메모리가 계단처럼 커지고, 그만큼 면적(=비용)도 커집니다. 핵심 통찰은 '같은 크기의 메모리라도 오래 붙잡고 있으면 비용이 커진다'는 것입니다. 그래서 뒤의 스케줄링은 이 면적을 줄이는 방향으로 설계됩니다.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총비용을 다섯 항으로 쪼갭니다. 이 분해가 4장 전체의 설계도 역할을 합니다. 왼쪽 초록 두 항, decode와 prefill은 '효과적인 일'입니다. 실제로 답을 만들어내는 데 쓰는 비용이라 처리량에 직접 기여합니다. 이건 줄일 대상이 아닙니다. 오른쪽 빨강 세 항이 전부 낭비입니다. Cost_recompute는 KV 캐시 스래싱(3.1)에서 옵니다. 캐시가 쫓겨나면 툴이 끝났을 때 전체 히스토리를 다시 prefill 해야 하는데, 이게 아주 비쌉니다. Cost_unused는 노드 간 메모리 불균형(3.2)입니다. 한 노드는 꽉 찼는데 다른 노드는 놀고 있으면, 그 놀고 있는 용량이 낭비입니다. Cost_caching은 툴 실행 중 유휴 캐싱(3.3)입니다. 모델은 툴 결과를 기다리며 아무 계산도 안 하는데 KV 캐시 메모리는 계속 붙잡고 있는 상황입니다. 참고로 저자들은 '툴 결과를 이어서 처리하는 incremental prefill'과 '쫓겨난 캐시를 전체 재계산하는 recompute'를 명확히 구분합니다. 후자가 훨씬 비쌉니다. 4.3 스케줄링의 목표는 딱 이 빨강 세 항(recompute, unused, caching)을 최소화하는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스케줄링 정책은 앞서 정의한 낭비 세 항목을 줄이는 게 전부입니다. 각 낭비를 어떤 메커니즘으로 없애는지 미리 지도처럼 보여드립니다. 첫째, recompute(재계산)는 스래싱 때문에 생깁니다. 이건 4.3.1의 '프로그램 인식 대기 큐'와 '주기적 스래싱 감지'로 막습니다. 활성 프로그램 수를 명시적으로 조절해서 캐시가 쫓겨나지 않게 합니다. 둘째, unused(유휴 용량)는 노드 불균형 때문입니다. 이건 4.3.2의 '전역 대기 큐'로 해결합니다. 모든 노드가 하나의 대기 큐를 공유하게 만듭니다. 셋째, caching(유휴 캐싱)은 툴 실행 중 붙잡고 있는 메모리입니다. 이건 역시 4.3.1에서 'Acting 상태 프로그램을 우선 Pause'하고, 시간이 지날수록 우선순위를 낮추는 시간감쇠 함수 f(t)로 다룹니다. 즉 4.3.1이 recompute와 caching을, 4.3.2가 unused를 담당합니다. 이제 각각을 자세히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스케줄러의 동작은 딱 두 가지 기본 연산으로 표현됩니다: Restore와 Pause. Restore는 대기 중인(Paused) 프로그램을 활성 실행으로 올리는 연산입니다. 여유가 있는 백엔드 L′을 찾아 배치하고, 상태를 Paused에서 Active로 바꿉니다. Pause는 반대입니다. 활성 프로그램을 실행에서 내리는 연산으로, 노드에서 분리하고 그 KV 캐시를 선점(반납)할 수 있게 풀어주며, 상태를 Active에서 Paused로, 노드 배치 L을 비웁니다(∅). 그림처럼 가운데에 모든 노드가 공유하는 대기 큐가 있고, 왼쪽 GPU 백엔드와의 사이를 프로그램들이 오르내립니다. 중요한 건 'Pause하면 KV 캐시를 반납한다'는 점입니다. 즉 일단 Pause된 프로그램은 캐시가 사라졌다고 가정하므로, 나중에 어느 노드에서 재개하든 재계산 비용이 같습니다. 이 성질이 뒤에 나올 전역 큐(4.3.2)에서 노드를 자유롭게 바꿀 수 있게 해주는 근거가 됩니다. 이 두 연산 위에, '언제 Pause하고 언제 Restore할지'를 정하는 정책이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스래싱을 막는 핵심 메커니즘입니다. 먼저 스래싱 조건을 정의합니다: 어떤 백엔드 L에서 프로그램들의 메모리 수요 합(Σcp)이 그 노드의 KV 캐시 용량 Ctotal을 넘으면 스래싱 상태입니다. 프로그램 추상화 덕분에 우리는 Acting 프로그램의 KV 캐시 크기까지 알 수 있는데, 이건 요청 단위 시스템에는 없는 정보입니다. 가장 중요한 차이점: 기존 Continuum 같은 스케줄러는 워크플로우가 '도착할 때'만 받아들일지 검사합니다. 그런데 에이전트는 디코딩 중에 컨텍스트 c가 빠르게 자라기 때문에, 새 요청이 하나도 안 들어와도 실행 도중에 메모리가 터질 수 있습니다. 그래서 ThunderAgent는 고정 간격 Δt마다 메모리 사용량을 계속 점검하는 주기적 모니터를 둡니다. 덕분에 압력을 미리 감지하고 완화할 수 있습니다. 발동 규칙은 두 가지입니다. 메모리 초과가 임박하면 Pause를 호출해 λmax·Ctotal 아래로 내려갈 때까지 활성 프로그램을 내립니다. 반대로 여유가 생겨 사용량이 λmin·Ctotal보다 작아지면 대기 큐에서 프로그램을 Restore합니다. λmax와 λmin은 각각 고·저 워터마크로, 둘 사이에 히스테리시스 구간을 만들어 스케줄이 너무 자주 오락가락하지 않게 안정화합니다. 실제로는 공유 프롬프트가 버퍼 역할을 해서 둘 다 1로 설정합니다. 이 주기적 용량 점검으로, Acting 단계 동안 활성 프로그램을 위한 메모리를 확보해두어 스래싱이 없음을 보장할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앞의 주기적 감시로 스래싱은 막을 수 있지만, 새로운 트레이드오프가 생깁니다. 활성 프로그램을 위해 메모리를 예약해두면, 그 프로그램이 오래 걸리는 툴을 실행하는 동안 GPU 메모리가 그냥 놀게 됩니다. 이게 바로 Cost_caching입니다. 이걸 재계산 비용과 균형 맞추기 위해, 스래싱 점검 식에 시간 감쇠 항 f(t)를 넣습니다. 식을 보면, Reasoning 상태 프로그램의 토큰은 그대로 세지만, Acting 상태 프로그램의 토큰 cq에는 f(tq)를 곱합니다. tq는 그 프로그램이 현재 스텝에서 툴을 실행한 시간입니다. f(t)는 시간이 지날수록 값이 줄어드는 함수라, 오래 놀고 있는 Acting 캐시일수록 유효 메모리 우선순위가 낮아집니다. 그러면 스케줄러가 '이건 언제 돌아올지 모르니 우선 축출하자'고 판단하게 되어, 무한정 붙잡고 있지 않고 유휴 캐싱 비용을 줄입니다. 이론적으로도 뒷받침됩니다. 부록 E.1에서, 툴 실행 시간이 무기억성(memoryless) 성질을 만족하면 — 즉 남은 실행 시간이 이미 지난 시간과 무관하면 — 최적의 f(t)는 지수 감쇠 형태 e^(−λt)임을 증명합니다. 실험에서는 이산 버전인 f(t)=2^(−t)를 사용합니다. 오른쪽 그래프가 그 2^(−t) 곡선입니다. t=0일 때 1(감쇠 없음, 사실상 Reasoning처럼 취급)에서 시작해 시간이 지나면 0에 수렴합니다. 즉 툴 대기가 길어질수록 그 캐시를 지킬 이유가 사라지는 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Pause를 하기로 정했을 때, '그럼 어느 프로그램을 내릴 것인가'를 푸는 부분입니다. 답은 '컨텍스트가 가장 짧은 것부터'입니다. 근거는 Lemma 4.1입니다. 어떤 프로그램을 축출했다가 다시 재계산하려면 전체 컨텍스트를 다시 prefill해야 하는데, 청크 단위 prefill은 매 반복마다 일정한 양을 처리하므로 누적 계산량이 시간에 선형으로 늘고, 이를 적분하면 비용이 컨텍스트 길이 ci의 제곱에 비례합니다. 그래서 축출 문제는 '필요한 메모리 ΔC 이상을 확보하되, 재계산 비용 합 Σci²를 최소화하는 부분집합 S를 고르는' 최적화가 됩니다. 제곱 함수는 볼록이고 초가법적(super-additive)이라, 같은 총량을 확보한다면 큰 프로그램 하나를 내리는 것보다 작은 프로그램 여러 개를 내리는 게 항상 penalty가 작습니다. (a+b)² &gt; a²+b² 이기 때문입니다. 부록 E.3에서 교환 논증으로 엄밀히 증명합니다. 따라서 전략은 '컨텍스트가 가장 짧은 프로그램부터 그리디하게 Pause·축출'입니다. 다만 실제 점수 식에는 길이뿐 아니라 상태 τ도 들어갑니다. Srestore = 1/cP + I(τ=R), Spause = 1/cP + I(τ=A). 지시함수 I가 길이보다 상태를 강하게 우선시합니다. 결과적으로 복귀는 Reasoning 프로그램을 먼저 해서 효과적인 일(decode·prefill)을 극대화하고, Pause는 Acting 프로그램을 먼저 해서 놀고 있는 캐시를 회수해 caching 비용을 줄입니다. 두 경우 모두 같은 길이라면 짧은 것 우선입니다.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4.3.2는 노드 간 메모리 불균형(Cost_unused)을 다룹니다. 3.2에서 봤듯이, 기존 KV 인지 라우터는 한 워크플로우의 모든 요청을 같은 노드에 고정합니다. 캐시 지역성은 좋아지지만, 워크플로우마다 메모리 사용량과 수명이 제각각이라 한 노드는 과부하, 다른 노드는 놀게 됩니다. 실측에서 두 노드 간 격차가 최대 51%까지 벌어졌습니다. 왼쪽 그림이 그 상황입니다. Node 0은 꽉 차서 불필요하게 프로그램을 Pause해야 하는데, Node 1에는 여유 메모리가 있습니다. 그 놀고 있는 용량이 바로 Cost_unused입니다. ThunderAgent의 해법은 단순합니다. 모든 백엔드 복제본의 대기 큐를 하나의 '전역 프로그램 인지 대기 큐'로 합칩니다. 핵심 통찰: Cost_unused는 '대기 큐에 프로그램이 있는데 어떤 노드는 메모리가 남을 때'만 생깁니다. 그리고 앞서 봤듯 프로그램이 Pause되면 그 KV 캐시는 이미 축출된 상태라, 재계산 비용이 어느 노드에서 재개하든 동일합니다(노드 무관). 덕분에 복귀(Restore) 정책을 엄격한 KV 인지 라우팅 대신 '부하 분산'에 맞출 수 있습니다. Pause된 프로그램은 여유 메모리가 있는 아무 복제본으로나 보낼 수 있습니다. 그 결과 전역 큐는 각 노드의 유휴 비용을 cmin·Δt 아래로 묶어줍니다(cmin은 대기 중 프로그램의 최소 토큰 길이). 즉 KV 캐시 지역성을 크게 희생하지 않으면서도 노드 간 메모리 균형을 맞추는 것이 이 설계의 요점입니다.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4.4는 GPU 메모리가 아니라 GPU '바깥'의 자원, 즉 도커 샌드박스·네트워크 포트·연산 슬롯 같은 툴 실행 환경을 다룹니다. 장기 실행 에이전트에서는 이런 환경이 계속 살아있는 자원이라, 잘못 관리하면 지속 처리량을 직접 갉아먹습니다. 첫 번째 메커니즘은 훅 기반 가비지 컬렉션입니다. 문제는 3.3에서 봤듯, 끝난 워크플로우의 도커 이미지나 포트가 회수되지 않아 디스크 사용량이 처리한 워크플로우 수에 비례해 선형으로 늘고 결국 용량을 초과해 시스템이 죽는다는 것입니다. 해법은 툴 자원의 수명을 프로그램의 스케줄 상태 s와 엄격히 묶는 생명주기 훅입니다. 프로그램이 Terminated가 되면, 컬렉터가 즉시 teardown 시퀀스를 돌려 샌드박스·소켓·연산 슬롯을 회수합니다. 그 결과 디스크 사용량이 시간이 지나도 거의 일정하게 유지되고, 실험에서 최대 4.2배 디스크 절감을 얻었습니다. 두 번째 메커니즘은 비동기 환경 준비입니다. 코딩 에이전트는 도커를 pull하고 패키지를 설치하고 레포를 빌드해야 하는데, 이 준비 시간이 배치 크기가 커질수록 함께 늘어납니다. LLM 엔진이 환경이 다 준비될 때까지 기다리면 전체 지연이 커집니다. 그래서 ThunderAgent는 전역 대기 큐를 감시하다가, 복귀 문턱에 다가온 고우선(높은 Srestore) 프로그램이 있으면 GPU 메모리를 할당하기 '전에' 그 실행 환경을 비동기로 미리 준비합니다. 이렇게 초기화 오버헤드를 LLM 추론과 겹쳐 숨김으로써, 툴 호출이 많은 코딩·과학 에이전트의 end-to-end 지연을 크게 줄입니다. 두 메커니즘 모두 '실행 의존성을 추적하는 프로그램 추상화'가 있어야 가능하다는 점이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4장을 한 장으로 요약합니다. 4.1 추상화: 에이전트 워크플로우 전체를 프로그램 P라는 하나의 튜플로 표현하고, 지금 추론 중인지 툴 대기 중인지 같은 상태를 시스템에 노출합니다. 4.2 비용 모델: 메모리×시간(STP)이라는 지표로 무엇이 낭비인지 정의합니다. 낭비는 재계산·유휴용량·유휴캐싱 세 가지입니다. 4.3 스케줄링: 주기적 스래싱 감시와 시간감쇠 함수 f(t)로 재계산과 유휴 캐싱을 줄이고, 짧은 것부터 축출하는 규칙으로 재계산 비용을 최소화하며, 전역 대기 큐로 노드 간 불균형을 없앱니다. 4.4 툴 관리: 프로그램이 끝나면 훅으로 도커·포트를 즉시 회수하고, 복귀가 임박한 프로그램의 환경은 미리 비동기로 준비해 지연을 숨깁니다. 전체를 한 문장으로 말하면, ThunderAgent는 '요청 하나하나'가 아니라 '프로그램, 즉 워크플로우 전체'를 스케줄링 단위로 삼음으로써, 낭비를 정확히 측정하고 체계적으로 줄이는 시스템입니다. 이것이 요청 단위 엔진으로는 불가능한 이유는, 워크플로우 상태와 실행 의존성에 대한 표현이 없으면 '잠깐 툴 대기'와 '완전 종료'를 구분할 수도, GPU 메모리와 외부 자원의 생명주기를 함께 조율할 수도 없기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9"/>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E1729"/>
          </a:solidFill>
          <a:ln/>
        </p:spPr>
      </p:sp>
      <p:pic>
        <p:nvPicPr>
          <p:cNvPr id="3" name="Image 0" descr="preencoded.png">    </p:cNvPr>
          <p:cNvPicPr>
            <a:picLocks noChangeAspect="1"/>
          </p:cNvPicPr>
          <p:nvPr/>
        </p:nvPicPr>
        <p:blipFill>
          <a:blip r:embed="rId1">
            <a:alphaModFix amt="88000"/>
          </a:blip>
          <a:stretch>
            <a:fillRect/>
          </a:stretch>
        </p:blipFill>
        <p:spPr>
          <a:xfrm>
            <a:off x="9509760" y="1005840"/>
            <a:ext cx="2194560" cy="2194560"/>
          </a:xfrm>
          <a:prstGeom prst="rect">
            <a:avLst/>
          </a:prstGeom>
        </p:spPr>
      </p:pic>
      <p:pic>
        <p:nvPicPr>
          <p:cNvPr id="4" name="Image 1" descr="preencoded.png">    </p:cNvPr>
          <p:cNvPicPr>
            <a:picLocks noChangeAspect="1"/>
          </p:cNvPicPr>
          <p:nvPr/>
        </p:nvPicPr>
        <p:blipFill>
          <a:blip r:embed="rId2">
            <a:alphaModFix amt="45000"/>
          </a:blip>
          <a:stretch>
            <a:fillRect/>
          </a:stretch>
        </p:blipFill>
        <p:spPr>
          <a:xfrm>
            <a:off x="8778240" y="3931920"/>
            <a:ext cx="1097280" cy="1097280"/>
          </a:xfrm>
          <a:prstGeom prst="rect">
            <a:avLst/>
          </a:prstGeom>
        </p:spPr>
      </p:pic>
      <p:sp>
        <p:nvSpPr>
          <p:cNvPr id="5" name="Text 1"/>
          <p:cNvSpPr/>
          <p:nvPr/>
        </p:nvSpPr>
        <p:spPr>
          <a:xfrm>
            <a:off x="822960" y="1417320"/>
            <a:ext cx="8229600" cy="457200"/>
          </a:xfrm>
          <a:prstGeom prst="rect">
            <a:avLst/>
          </a:prstGeom>
          <a:noFill/>
          <a:ln/>
        </p:spPr>
        <p:txBody>
          <a:bodyPr wrap="square" rtlCol="0" anchor="ctr"/>
          <a:lstStyle/>
          <a:p>
            <a:pPr indent="0" marL="0">
              <a:buNone/>
            </a:pPr>
            <a:r>
              <a:rPr lang="en-US" sz="1600" b="1" spc="200" kern="0" dirty="0">
                <a:solidFill>
                  <a:srgbClr val="F5B301"/>
                </a:solidFill>
                <a:latin typeface="Arial" pitchFamily="34" charset="0"/>
                <a:ea typeface="Arial" pitchFamily="34" charset="-122"/>
                <a:cs typeface="Arial" pitchFamily="34" charset="-120"/>
              </a:rPr>
              <a:t>ThunderAgent · 논문 4장 해설</a:t>
            </a:r>
            <a:endParaRPr lang="en-US" sz="1600" dirty="0"/>
          </a:p>
        </p:txBody>
      </p:sp>
      <p:sp>
        <p:nvSpPr>
          <p:cNvPr id="6" name="Text 2"/>
          <p:cNvSpPr/>
          <p:nvPr/>
        </p:nvSpPr>
        <p:spPr>
          <a:xfrm>
            <a:off x="777240" y="1965960"/>
            <a:ext cx="9601200" cy="1920240"/>
          </a:xfrm>
          <a:prstGeom prst="rect">
            <a:avLst/>
          </a:prstGeom>
          <a:noFill/>
          <a:ln/>
        </p:spPr>
        <p:txBody>
          <a:bodyPr wrap="square"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프로그램을 이해하는</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에이전트 추론 시스템</a:t>
            </a:r>
            <a:endParaRPr lang="en-US" sz="4600" dirty="0"/>
          </a:p>
        </p:txBody>
      </p:sp>
      <p:sp>
        <p:nvSpPr>
          <p:cNvPr id="7" name="Text 3"/>
          <p:cNvSpPr/>
          <p:nvPr/>
        </p:nvSpPr>
        <p:spPr>
          <a:xfrm>
            <a:off x="822960" y="3977640"/>
            <a:ext cx="10058400" cy="457200"/>
          </a:xfrm>
          <a:prstGeom prst="rect">
            <a:avLst/>
          </a:prstGeom>
          <a:noFill/>
          <a:ln/>
        </p:spPr>
        <p:txBody>
          <a:bodyPr wrap="square" rtlCol="0" anchor="ctr"/>
          <a:lstStyle/>
          <a:p>
            <a:pPr indent="0" marL="0">
              <a:buNone/>
            </a:pPr>
            <a:r>
              <a:rPr lang="en-US" sz="1700" i="1" dirty="0">
                <a:solidFill>
                  <a:srgbClr val="2DD4BF"/>
                </a:solidFill>
                <a:latin typeface="Arial" pitchFamily="34" charset="0"/>
                <a:ea typeface="Arial" pitchFamily="34" charset="-122"/>
                <a:cs typeface="Arial" pitchFamily="34" charset="-120"/>
              </a:rPr>
              <a:t>Section 4. ThunderAgent: A Program-Aware Agentic Inference System</a:t>
            </a:r>
            <a:endParaRPr lang="en-US" sz="1700" dirty="0"/>
          </a:p>
        </p:txBody>
      </p:sp>
      <p:sp>
        <p:nvSpPr>
          <p:cNvPr id="8" name="Shape 4"/>
          <p:cNvSpPr/>
          <p:nvPr/>
        </p:nvSpPr>
        <p:spPr>
          <a:xfrm>
            <a:off x="822960" y="4892040"/>
            <a:ext cx="3383280" cy="1234440"/>
          </a:xfrm>
          <a:prstGeom prst="roundRect">
            <a:avLst>
              <a:gd name="adj" fmla="val 6667"/>
            </a:avLst>
          </a:prstGeom>
          <a:solidFill>
            <a:srgbClr val="16233D"/>
          </a:solidFill>
          <a:ln w="12700">
            <a:solidFill>
              <a:srgbClr val="F5B301"/>
            </a:solidFill>
            <a:prstDash val="solid"/>
          </a:ln>
        </p:spPr>
      </p:sp>
      <p:sp>
        <p:nvSpPr>
          <p:cNvPr id="9" name="Text 5"/>
          <p:cNvSpPr/>
          <p:nvPr/>
        </p:nvSpPr>
        <p:spPr>
          <a:xfrm>
            <a:off x="1051560" y="5074920"/>
            <a:ext cx="3017520" cy="365760"/>
          </a:xfrm>
          <a:prstGeom prst="rect">
            <a:avLst/>
          </a:prstGeom>
          <a:noFill/>
          <a:ln/>
        </p:spPr>
        <p:txBody>
          <a:bodyPr wrap="square" rtlCol="0" anchor="ctr"/>
          <a:lstStyle/>
          <a:p>
            <a:pPr indent="0" marL="0">
              <a:buNone/>
            </a:pPr>
            <a:r>
              <a:rPr lang="en-US" sz="1500" b="1" dirty="0">
                <a:solidFill>
                  <a:srgbClr val="F5B301"/>
                </a:solidFill>
                <a:latin typeface="Arial" pitchFamily="34" charset="0"/>
                <a:ea typeface="Arial" pitchFamily="34" charset="-122"/>
                <a:cs typeface="Arial" pitchFamily="34" charset="-120"/>
              </a:rPr>
              <a:t>프로그램 추상화</a:t>
            </a:r>
            <a:endParaRPr lang="en-US" sz="1500" dirty="0"/>
          </a:p>
        </p:txBody>
      </p:sp>
      <p:sp>
        <p:nvSpPr>
          <p:cNvPr id="10" name="Text 6"/>
          <p:cNvSpPr/>
          <p:nvPr/>
        </p:nvSpPr>
        <p:spPr>
          <a:xfrm>
            <a:off x="1051560" y="5468112"/>
            <a:ext cx="3017520" cy="548640"/>
          </a:xfrm>
          <a:prstGeom prst="rect">
            <a:avLst/>
          </a:prstGeom>
          <a:noFill/>
          <a:ln/>
        </p:spPr>
        <p:txBody>
          <a:bodyPr wrap="square" rtlCol="0" anchor="ctr"/>
          <a:lstStyle/>
          <a:p>
            <a:pPr indent="0" marL="0">
              <a:buNone/>
            </a:pPr>
            <a:r>
              <a:rPr lang="en-US" sz="1200" dirty="0">
                <a:solidFill>
                  <a:srgbClr val="CBD5E1"/>
                </a:solidFill>
                <a:latin typeface="Arial" pitchFamily="34" charset="0"/>
                <a:ea typeface="Arial" pitchFamily="34" charset="-122"/>
                <a:cs typeface="Arial" pitchFamily="34" charset="-120"/>
              </a:rPr>
              <a:t>워크플로우를 하나의 단위로</a:t>
            </a:r>
            <a:endParaRPr lang="en-US" sz="1200" dirty="0"/>
          </a:p>
        </p:txBody>
      </p:sp>
      <p:sp>
        <p:nvSpPr>
          <p:cNvPr id="11" name="Shape 7"/>
          <p:cNvSpPr/>
          <p:nvPr/>
        </p:nvSpPr>
        <p:spPr>
          <a:xfrm>
            <a:off x="4434840" y="4892040"/>
            <a:ext cx="3383280" cy="1234440"/>
          </a:xfrm>
          <a:prstGeom prst="roundRect">
            <a:avLst>
              <a:gd name="adj" fmla="val 6667"/>
            </a:avLst>
          </a:prstGeom>
          <a:solidFill>
            <a:srgbClr val="16233D"/>
          </a:solidFill>
          <a:ln w="12700">
            <a:solidFill>
              <a:srgbClr val="F5B301"/>
            </a:solidFill>
            <a:prstDash val="solid"/>
          </a:ln>
        </p:spPr>
      </p:sp>
      <p:sp>
        <p:nvSpPr>
          <p:cNvPr id="12" name="Text 8"/>
          <p:cNvSpPr/>
          <p:nvPr/>
        </p:nvSpPr>
        <p:spPr>
          <a:xfrm>
            <a:off x="4663440" y="5074920"/>
            <a:ext cx="3017520" cy="365760"/>
          </a:xfrm>
          <a:prstGeom prst="rect">
            <a:avLst/>
          </a:prstGeom>
          <a:noFill/>
          <a:ln/>
        </p:spPr>
        <p:txBody>
          <a:bodyPr wrap="square" rtlCol="0" anchor="ctr"/>
          <a:lstStyle/>
          <a:p>
            <a:pPr indent="0" marL="0">
              <a:buNone/>
            </a:pPr>
            <a:r>
              <a:rPr lang="en-US" sz="1500" b="1" dirty="0">
                <a:solidFill>
                  <a:srgbClr val="F5B301"/>
                </a:solidFill>
                <a:latin typeface="Arial" pitchFamily="34" charset="0"/>
                <a:ea typeface="Arial" pitchFamily="34" charset="-122"/>
                <a:cs typeface="Arial" pitchFamily="34" charset="-120"/>
              </a:rPr>
              <a:t>프로그램 인식 스케줄러</a:t>
            </a:r>
            <a:endParaRPr lang="en-US" sz="1500" dirty="0"/>
          </a:p>
        </p:txBody>
      </p:sp>
      <p:sp>
        <p:nvSpPr>
          <p:cNvPr id="13" name="Text 9"/>
          <p:cNvSpPr/>
          <p:nvPr/>
        </p:nvSpPr>
        <p:spPr>
          <a:xfrm>
            <a:off x="4663440" y="5468112"/>
            <a:ext cx="3017520" cy="548640"/>
          </a:xfrm>
          <a:prstGeom prst="rect">
            <a:avLst/>
          </a:prstGeom>
          <a:noFill/>
          <a:ln/>
        </p:spPr>
        <p:txBody>
          <a:bodyPr wrap="square" rtlCol="0" anchor="ctr"/>
          <a:lstStyle/>
          <a:p>
            <a:pPr indent="0" marL="0">
              <a:buNone/>
            </a:pPr>
            <a:r>
              <a:rPr lang="en-US" sz="1200" dirty="0">
                <a:solidFill>
                  <a:srgbClr val="CBD5E1"/>
                </a:solidFill>
                <a:latin typeface="Arial" pitchFamily="34" charset="0"/>
                <a:ea typeface="Arial" pitchFamily="34" charset="-122"/>
                <a:cs typeface="Arial" pitchFamily="34" charset="-120"/>
              </a:rPr>
              <a:t>KV 캐시 스래싱·메모리 불균형 해소</a:t>
            </a:r>
            <a:endParaRPr lang="en-US" sz="1200" dirty="0"/>
          </a:p>
        </p:txBody>
      </p:sp>
      <p:sp>
        <p:nvSpPr>
          <p:cNvPr id="14" name="Shape 10"/>
          <p:cNvSpPr/>
          <p:nvPr/>
        </p:nvSpPr>
        <p:spPr>
          <a:xfrm>
            <a:off x="8046720" y="4892040"/>
            <a:ext cx="3383280" cy="1234440"/>
          </a:xfrm>
          <a:prstGeom prst="roundRect">
            <a:avLst>
              <a:gd name="adj" fmla="val 6667"/>
            </a:avLst>
          </a:prstGeom>
          <a:solidFill>
            <a:srgbClr val="16233D"/>
          </a:solidFill>
          <a:ln w="12700">
            <a:solidFill>
              <a:srgbClr val="F5B301"/>
            </a:solidFill>
            <a:prstDash val="solid"/>
          </a:ln>
        </p:spPr>
      </p:sp>
      <p:sp>
        <p:nvSpPr>
          <p:cNvPr id="15" name="Text 11"/>
          <p:cNvSpPr/>
          <p:nvPr/>
        </p:nvSpPr>
        <p:spPr>
          <a:xfrm>
            <a:off x="8275320" y="5074920"/>
            <a:ext cx="3017520" cy="365760"/>
          </a:xfrm>
          <a:prstGeom prst="rect">
            <a:avLst/>
          </a:prstGeom>
          <a:noFill/>
          <a:ln/>
        </p:spPr>
        <p:txBody>
          <a:bodyPr wrap="square" rtlCol="0" anchor="ctr"/>
          <a:lstStyle/>
          <a:p>
            <a:pPr indent="0" marL="0">
              <a:buNone/>
            </a:pPr>
            <a:r>
              <a:rPr lang="en-US" sz="1500" b="1" dirty="0">
                <a:solidFill>
                  <a:srgbClr val="F5B301"/>
                </a:solidFill>
                <a:latin typeface="Arial" pitchFamily="34" charset="0"/>
                <a:ea typeface="Arial" pitchFamily="34" charset="-122"/>
                <a:cs typeface="Arial" pitchFamily="34" charset="-120"/>
              </a:rPr>
              <a:t>툴 리소스 관리</a:t>
            </a:r>
            <a:endParaRPr lang="en-US" sz="1500" dirty="0"/>
          </a:p>
        </p:txBody>
      </p:sp>
      <p:sp>
        <p:nvSpPr>
          <p:cNvPr id="16" name="Text 12"/>
          <p:cNvSpPr/>
          <p:nvPr/>
        </p:nvSpPr>
        <p:spPr>
          <a:xfrm>
            <a:off x="8275320" y="5468112"/>
            <a:ext cx="3017520" cy="548640"/>
          </a:xfrm>
          <a:prstGeom prst="rect">
            <a:avLst/>
          </a:prstGeom>
          <a:noFill/>
          <a:ln/>
        </p:spPr>
        <p:txBody>
          <a:bodyPr wrap="square" rtlCol="0" anchor="ctr"/>
          <a:lstStyle/>
          <a:p>
            <a:pPr indent="0" marL="0">
              <a:buNone/>
            </a:pPr>
            <a:r>
              <a:rPr lang="en-US" sz="1200" dirty="0">
                <a:solidFill>
                  <a:srgbClr val="CBD5E1"/>
                </a:solidFill>
                <a:latin typeface="Arial" pitchFamily="34" charset="0"/>
                <a:ea typeface="Arial" pitchFamily="34" charset="-122"/>
                <a:cs typeface="Arial" pitchFamily="34" charset="-120"/>
              </a:rPr>
              <a:t>누수 방지 · 비동기 준비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SECTION 4 · 전체 구조</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4장은 네 개의 블록으로 쌓아 올립니다</a:t>
            </a:r>
            <a:endParaRPr lang="en-US" sz="3200" dirty="0"/>
          </a:p>
        </p:txBody>
      </p:sp>
      <p:sp>
        <p:nvSpPr>
          <p:cNvPr id="4" name="Shape 2"/>
          <p:cNvSpPr/>
          <p:nvPr/>
        </p:nvSpPr>
        <p:spPr>
          <a:xfrm>
            <a:off x="640080" y="1965960"/>
            <a:ext cx="2697480" cy="3566160"/>
          </a:xfrm>
          <a:prstGeom prst="roundRect">
            <a:avLst>
              <a:gd name="adj" fmla="val 3390"/>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5" name="Text 3"/>
          <p:cNvSpPr/>
          <p:nvPr/>
        </p:nvSpPr>
        <p:spPr>
          <a:xfrm>
            <a:off x="896112" y="2221992"/>
            <a:ext cx="1280160" cy="548640"/>
          </a:xfrm>
          <a:prstGeom prst="rect">
            <a:avLst/>
          </a:prstGeom>
          <a:noFill/>
          <a:ln/>
        </p:spPr>
        <p:txBody>
          <a:bodyPr wrap="square" rtlCol="0" anchor="ctr"/>
          <a:lstStyle/>
          <a:p>
            <a:pPr indent="0" marL="0">
              <a:buNone/>
            </a:pPr>
            <a:r>
              <a:rPr lang="en-US" sz="3000" b="1" dirty="0">
                <a:solidFill>
                  <a:srgbClr val="0D9488"/>
                </a:solidFill>
                <a:latin typeface="Cambria" pitchFamily="34" charset="0"/>
                <a:ea typeface="Cambria" pitchFamily="34" charset="-122"/>
                <a:cs typeface="Cambria" pitchFamily="34" charset="-120"/>
              </a:rPr>
              <a:t>4.1</a:t>
            </a:r>
            <a:endParaRPr lang="en-US" sz="3000" dirty="0"/>
          </a:p>
        </p:txBody>
      </p:sp>
      <p:sp>
        <p:nvSpPr>
          <p:cNvPr id="6" name="Shape 4"/>
          <p:cNvSpPr/>
          <p:nvPr/>
        </p:nvSpPr>
        <p:spPr>
          <a:xfrm>
            <a:off x="2286000" y="2258568"/>
            <a:ext cx="777240" cy="777240"/>
          </a:xfrm>
          <a:prstGeom prst="ellipse">
            <a:avLst/>
          </a:prstGeom>
          <a:solidFill>
            <a:srgbClr val="D5F0EC"/>
          </a:solidFill>
          <a:ln/>
        </p:spPr>
      </p:sp>
      <p:pic>
        <p:nvPicPr>
          <p:cNvPr id="7" name="Image 0" descr="preencoded.png">    </p:cNvPr>
          <p:cNvPicPr>
            <a:picLocks noChangeAspect="1"/>
          </p:cNvPicPr>
          <p:nvPr/>
        </p:nvPicPr>
        <p:blipFill>
          <a:blip r:embed="rId1"/>
          <a:stretch>
            <a:fillRect/>
          </a:stretch>
        </p:blipFill>
        <p:spPr>
          <a:xfrm>
            <a:off x="2488082" y="2460650"/>
            <a:ext cx="373075" cy="373075"/>
          </a:xfrm>
          <a:prstGeom prst="rect">
            <a:avLst/>
          </a:prstGeom>
        </p:spPr>
      </p:pic>
      <p:sp>
        <p:nvSpPr>
          <p:cNvPr id="8" name="Text 5"/>
          <p:cNvSpPr/>
          <p:nvPr/>
        </p:nvSpPr>
        <p:spPr>
          <a:xfrm>
            <a:off x="896112" y="3291840"/>
            <a:ext cx="2240280" cy="822960"/>
          </a:xfrm>
          <a:prstGeom prst="rect">
            <a:avLst/>
          </a:prstGeom>
          <a:noFill/>
          <a:ln/>
        </p:spPr>
        <p:txBody>
          <a:bodyPr wrap="square" rtlCol="0" anchor="t"/>
          <a:lstStyle/>
          <a:p>
            <a:pPr indent="0" marL="0">
              <a:buNone/>
            </a:pPr>
            <a:r>
              <a:rPr lang="en-US" sz="1900" b="1" dirty="0">
                <a:solidFill>
                  <a:srgbClr val="1E293B"/>
                </a:solidFill>
                <a:latin typeface="Arial" pitchFamily="34" charset="0"/>
                <a:ea typeface="Arial" pitchFamily="34" charset="-122"/>
                <a:cs typeface="Arial" pitchFamily="34" charset="-120"/>
              </a:rPr>
              <a:t>프로그램 추상화</a:t>
            </a:r>
            <a:endParaRPr lang="en-US" sz="1900" dirty="0"/>
          </a:p>
        </p:txBody>
      </p:sp>
      <p:sp>
        <p:nvSpPr>
          <p:cNvPr id="9" name="Text 6"/>
          <p:cNvSpPr/>
          <p:nvPr/>
        </p:nvSpPr>
        <p:spPr>
          <a:xfrm>
            <a:off x="896112" y="4114800"/>
            <a:ext cx="2240280" cy="1234440"/>
          </a:xfrm>
          <a:prstGeom prst="rect">
            <a:avLst/>
          </a:prstGeom>
          <a:noFill/>
          <a:ln/>
        </p:spPr>
        <p:txBody>
          <a:bodyPr wrap="square" rtlCol="0" anchor="t"/>
          <a:lstStyle/>
          <a:p>
            <a:pPr indent="0" marL="0">
              <a:lnSpc>
                <a:spcPct val="115000"/>
              </a:lnSpc>
              <a:buNone/>
            </a:pPr>
            <a:r>
              <a:rPr lang="en-US" sz="1300" dirty="0">
                <a:solidFill>
                  <a:srgbClr val="334155"/>
                </a:solidFill>
                <a:latin typeface="Arial" pitchFamily="34" charset="0"/>
                <a:ea typeface="Arial" pitchFamily="34" charset="-122"/>
                <a:cs typeface="Arial" pitchFamily="34" charset="-120"/>
              </a:rPr>
              <a:t>워크플로우 = 하나의 프로그램 P = ⟨ID, c, T, L, τ, s⟩</a:t>
            </a:r>
            <a:endParaRPr lang="en-US" sz="1300" dirty="0"/>
          </a:p>
        </p:txBody>
      </p:sp>
      <p:pic>
        <p:nvPicPr>
          <p:cNvPr id="10" name="Image 1" descr="preencoded.png">    </p:cNvPr>
          <p:cNvPicPr>
            <a:picLocks noChangeAspect="1"/>
          </p:cNvPicPr>
          <p:nvPr/>
        </p:nvPicPr>
        <p:blipFill>
          <a:blip r:embed="rId2">
            <a:alphaModFix amt="80000"/>
          </a:blip>
          <a:stretch>
            <a:fillRect/>
          </a:stretch>
        </p:blipFill>
        <p:spPr>
          <a:xfrm>
            <a:off x="3337560" y="3621024"/>
            <a:ext cx="256032" cy="256032"/>
          </a:xfrm>
          <a:prstGeom prst="rect">
            <a:avLst/>
          </a:prstGeom>
        </p:spPr>
      </p:pic>
      <p:sp>
        <p:nvSpPr>
          <p:cNvPr id="11" name="Shape 7"/>
          <p:cNvSpPr/>
          <p:nvPr/>
        </p:nvSpPr>
        <p:spPr>
          <a:xfrm>
            <a:off x="3593592" y="1965960"/>
            <a:ext cx="2697480" cy="3566160"/>
          </a:xfrm>
          <a:prstGeom prst="roundRect">
            <a:avLst>
              <a:gd name="adj" fmla="val 3390"/>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12" name="Text 8"/>
          <p:cNvSpPr/>
          <p:nvPr/>
        </p:nvSpPr>
        <p:spPr>
          <a:xfrm>
            <a:off x="3849624" y="2221992"/>
            <a:ext cx="1280160" cy="548640"/>
          </a:xfrm>
          <a:prstGeom prst="rect">
            <a:avLst/>
          </a:prstGeom>
          <a:noFill/>
          <a:ln/>
        </p:spPr>
        <p:txBody>
          <a:bodyPr wrap="square" rtlCol="0" anchor="ctr"/>
          <a:lstStyle/>
          <a:p>
            <a:pPr indent="0" marL="0">
              <a:buNone/>
            </a:pPr>
            <a:r>
              <a:rPr lang="en-US" sz="3000" b="1" dirty="0">
                <a:solidFill>
                  <a:srgbClr val="F5B301"/>
                </a:solidFill>
                <a:latin typeface="Cambria" pitchFamily="34" charset="0"/>
                <a:ea typeface="Cambria" pitchFamily="34" charset="-122"/>
                <a:cs typeface="Cambria" pitchFamily="34" charset="-120"/>
              </a:rPr>
              <a:t>4.2</a:t>
            </a:r>
            <a:endParaRPr lang="en-US" sz="3000" dirty="0"/>
          </a:p>
        </p:txBody>
      </p:sp>
      <p:sp>
        <p:nvSpPr>
          <p:cNvPr id="13" name="Shape 9"/>
          <p:cNvSpPr/>
          <p:nvPr/>
        </p:nvSpPr>
        <p:spPr>
          <a:xfrm>
            <a:off x="5239512" y="2258568"/>
            <a:ext cx="777240" cy="777240"/>
          </a:xfrm>
          <a:prstGeom prst="ellipse">
            <a:avLst/>
          </a:prstGeom>
          <a:solidFill>
            <a:srgbClr val="FDECC4"/>
          </a:solidFill>
          <a:ln/>
        </p:spPr>
      </p:sp>
      <p:pic>
        <p:nvPicPr>
          <p:cNvPr id="14" name="Image 2" descr="preencoded.png">    </p:cNvPr>
          <p:cNvPicPr>
            <a:picLocks noChangeAspect="1"/>
          </p:cNvPicPr>
          <p:nvPr/>
        </p:nvPicPr>
        <p:blipFill>
          <a:blip r:embed="rId3"/>
          <a:stretch>
            <a:fillRect/>
          </a:stretch>
        </p:blipFill>
        <p:spPr>
          <a:xfrm>
            <a:off x="5441594" y="2460650"/>
            <a:ext cx="373075" cy="373075"/>
          </a:xfrm>
          <a:prstGeom prst="rect">
            <a:avLst/>
          </a:prstGeom>
        </p:spPr>
      </p:pic>
      <p:sp>
        <p:nvSpPr>
          <p:cNvPr id="15" name="Text 10"/>
          <p:cNvSpPr/>
          <p:nvPr/>
        </p:nvSpPr>
        <p:spPr>
          <a:xfrm>
            <a:off x="3849624" y="3291840"/>
            <a:ext cx="2240280" cy="822960"/>
          </a:xfrm>
          <a:prstGeom prst="rect">
            <a:avLst/>
          </a:prstGeom>
          <a:noFill/>
          <a:ln/>
        </p:spPr>
        <p:txBody>
          <a:bodyPr wrap="square" rtlCol="0" anchor="t"/>
          <a:lstStyle/>
          <a:p>
            <a:pPr indent="0" marL="0">
              <a:buNone/>
            </a:pPr>
            <a:r>
              <a:rPr lang="en-US" sz="1900" b="1" dirty="0">
                <a:solidFill>
                  <a:srgbClr val="1E293B"/>
                </a:solidFill>
                <a:latin typeface="Arial" pitchFamily="34" charset="0"/>
                <a:ea typeface="Arial" pitchFamily="34" charset="-122"/>
                <a:cs typeface="Arial" pitchFamily="34" charset="-120"/>
              </a:rPr>
              <a:t>비용 모델</a:t>
            </a:r>
            <a:endParaRPr lang="en-US" sz="1900" dirty="0"/>
          </a:p>
        </p:txBody>
      </p:sp>
      <p:sp>
        <p:nvSpPr>
          <p:cNvPr id="16" name="Text 11"/>
          <p:cNvSpPr/>
          <p:nvPr/>
        </p:nvSpPr>
        <p:spPr>
          <a:xfrm>
            <a:off x="3849624" y="4114800"/>
            <a:ext cx="2240280" cy="1234440"/>
          </a:xfrm>
          <a:prstGeom prst="rect">
            <a:avLst/>
          </a:prstGeom>
          <a:noFill/>
          <a:ln/>
        </p:spPr>
        <p:txBody>
          <a:bodyPr wrap="square" rtlCol="0" anchor="t"/>
          <a:lstStyle/>
          <a:p>
            <a:pPr indent="0" marL="0">
              <a:lnSpc>
                <a:spcPct val="115000"/>
              </a:lnSpc>
              <a:buNone/>
            </a:pPr>
            <a:r>
              <a:rPr lang="en-US" sz="1300" dirty="0">
                <a:solidFill>
                  <a:srgbClr val="334155"/>
                </a:solidFill>
                <a:latin typeface="Arial" pitchFamily="34" charset="0"/>
                <a:ea typeface="Arial" pitchFamily="34" charset="-122"/>
                <a:cs typeface="Arial" pitchFamily="34" charset="-120"/>
              </a:rPr>
              <a:t>메모리 × 시간(STP)으로 '낭비'를 수치화</a:t>
            </a:r>
            <a:endParaRPr lang="en-US" sz="1300" dirty="0"/>
          </a:p>
        </p:txBody>
      </p:sp>
      <p:pic>
        <p:nvPicPr>
          <p:cNvPr id="17" name="Image 3" descr="preencoded.png">    </p:cNvPr>
          <p:cNvPicPr>
            <a:picLocks noChangeAspect="1"/>
          </p:cNvPicPr>
          <p:nvPr/>
        </p:nvPicPr>
        <p:blipFill>
          <a:blip r:embed="rId4">
            <a:alphaModFix amt="80000"/>
          </a:blip>
          <a:stretch>
            <a:fillRect/>
          </a:stretch>
        </p:blipFill>
        <p:spPr>
          <a:xfrm>
            <a:off x="6291072" y="3621024"/>
            <a:ext cx="256032" cy="256032"/>
          </a:xfrm>
          <a:prstGeom prst="rect">
            <a:avLst/>
          </a:prstGeom>
        </p:spPr>
      </p:pic>
      <p:sp>
        <p:nvSpPr>
          <p:cNvPr id="18" name="Shape 12"/>
          <p:cNvSpPr/>
          <p:nvPr/>
        </p:nvSpPr>
        <p:spPr>
          <a:xfrm>
            <a:off x="6547104" y="1965960"/>
            <a:ext cx="2697480" cy="3566160"/>
          </a:xfrm>
          <a:prstGeom prst="roundRect">
            <a:avLst>
              <a:gd name="adj" fmla="val 3390"/>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19" name="Text 13"/>
          <p:cNvSpPr/>
          <p:nvPr/>
        </p:nvSpPr>
        <p:spPr>
          <a:xfrm>
            <a:off x="6803136" y="2221992"/>
            <a:ext cx="1280160" cy="548640"/>
          </a:xfrm>
          <a:prstGeom prst="rect">
            <a:avLst/>
          </a:prstGeom>
          <a:noFill/>
          <a:ln/>
        </p:spPr>
        <p:txBody>
          <a:bodyPr wrap="square" rtlCol="0" anchor="ctr"/>
          <a:lstStyle/>
          <a:p>
            <a:pPr indent="0" marL="0">
              <a:buNone/>
            </a:pPr>
            <a:r>
              <a:rPr lang="en-US" sz="3000" b="1" dirty="0">
                <a:solidFill>
                  <a:srgbClr val="0D9488"/>
                </a:solidFill>
                <a:latin typeface="Cambria" pitchFamily="34" charset="0"/>
                <a:ea typeface="Cambria" pitchFamily="34" charset="-122"/>
                <a:cs typeface="Cambria" pitchFamily="34" charset="-120"/>
              </a:rPr>
              <a:t>4.3</a:t>
            </a:r>
            <a:endParaRPr lang="en-US" sz="3000" dirty="0"/>
          </a:p>
        </p:txBody>
      </p:sp>
      <p:sp>
        <p:nvSpPr>
          <p:cNvPr id="20" name="Shape 14"/>
          <p:cNvSpPr/>
          <p:nvPr/>
        </p:nvSpPr>
        <p:spPr>
          <a:xfrm>
            <a:off x="8193024" y="2258568"/>
            <a:ext cx="777240" cy="777240"/>
          </a:xfrm>
          <a:prstGeom prst="ellipse">
            <a:avLst/>
          </a:prstGeom>
          <a:solidFill>
            <a:srgbClr val="D5F0EC"/>
          </a:solidFill>
          <a:ln/>
        </p:spPr>
      </p:sp>
      <p:pic>
        <p:nvPicPr>
          <p:cNvPr id="21" name="Image 4" descr="preencoded.png">    </p:cNvPr>
          <p:cNvPicPr>
            <a:picLocks noChangeAspect="1"/>
          </p:cNvPicPr>
          <p:nvPr/>
        </p:nvPicPr>
        <p:blipFill>
          <a:blip r:embed="rId5"/>
          <a:stretch>
            <a:fillRect/>
          </a:stretch>
        </p:blipFill>
        <p:spPr>
          <a:xfrm>
            <a:off x="8395106" y="2460650"/>
            <a:ext cx="373075" cy="373075"/>
          </a:xfrm>
          <a:prstGeom prst="rect">
            <a:avLst/>
          </a:prstGeom>
        </p:spPr>
      </p:pic>
      <p:sp>
        <p:nvSpPr>
          <p:cNvPr id="22" name="Text 15"/>
          <p:cNvSpPr/>
          <p:nvPr/>
        </p:nvSpPr>
        <p:spPr>
          <a:xfrm>
            <a:off x="6803136" y="3291840"/>
            <a:ext cx="2240280" cy="822960"/>
          </a:xfrm>
          <a:prstGeom prst="rect">
            <a:avLst/>
          </a:prstGeom>
          <a:noFill/>
          <a:ln/>
        </p:spPr>
        <p:txBody>
          <a:bodyPr wrap="square" rtlCol="0" anchor="t"/>
          <a:lstStyle/>
          <a:p>
            <a:pPr indent="0" marL="0">
              <a:buNone/>
            </a:pPr>
            <a:r>
              <a:rPr lang="en-US" sz="1900" b="1" dirty="0">
                <a:solidFill>
                  <a:srgbClr val="1E293B"/>
                </a:solidFill>
                <a:latin typeface="Arial" pitchFamily="34" charset="0"/>
                <a:ea typeface="Arial" pitchFamily="34" charset="-122"/>
                <a:cs typeface="Arial" pitchFamily="34" charset="-120"/>
              </a:rPr>
              <a:t>스케줄링 정책</a:t>
            </a:r>
            <a:endParaRPr lang="en-US" sz="1900" dirty="0"/>
          </a:p>
        </p:txBody>
      </p:sp>
      <p:sp>
        <p:nvSpPr>
          <p:cNvPr id="23" name="Text 16"/>
          <p:cNvSpPr/>
          <p:nvPr/>
        </p:nvSpPr>
        <p:spPr>
          <a:xfrm>
            <a:off x="6803136" y="4114800"/>
            <a:ext cx="2240280" cy="1234440"/>
          </a:xfrm>
          <a:prstGeom prst="rect">
            <a:avLst/>
          </a:prstGeom>
          <a:noFill/>
          <a:ln/>
        </p:spPr>
        <p:txBody>
          <a:bodyPr wrap="square" rtlCol="0" anchor="t"/>
          <a:lstStyle/>
          <a:p>
            <a:pPr indent="0" marL="0">
              <a:lnSpc>
                <a:spcPct val="115000"/>
              </a:lnSpc>
              <a:buNone/>
            </a:pPr>
            <a:r>
              <a:rPr lang="en-US" sz="1300" dirty="0">
                <a:solidFill>
                  <a:srgbClr val="334155"/>
                </a:solidFill>
                <a:latin typeface="Arial" pitchFamily="34" charset="0"/>
                <a:ea typeface="Arial" pitchFamily="34" charset="-122"/>
                <a:cs typeface="Arial" pitchFamily="34" charset="-120"/>
              </a:rPr>
              <a:t>재계산·유휴캐싱·불균형 세 낭비를 최소화</a:t>
            </a:r>
            <a:endParaRPr lang="en-US" sz="1300" dirty="0"/>
          </a:p>
        </p:txBody>
      </p:sp>
      <p:pic>
        <p:nvPicPr>
          <p:cNvPr id="24" name="Image 5" descr="preencoded.png">    </p:cNvPr>
          <p:cNvPicPr>
            <a:picLocks noChangeAspect="1"/>
          </p:cNvPicPr>
          <p:nvPr/>
        </p:nvPicPr>
        <p:blipFill>
          <a:blip r:embed="rId6">
            <a:alphaModFix amt="80000"/>
          </a:blip>
          <a:stretch>
            <a:fillRect/>
          </a:stretch>
        </p:blipFill>
        <p:spPr>
          <a:xfrm>
            <a:off x="9244584" y="3621024"/>
            <a:ext cx="256032" cy="256032"/>
          </a:xfrm>
          <a:prstGeom prst="rect">
            <a:avLst/>
          </a:prstGeom>
        </p:spPr>
      </p:pic>
      <p:sp>
        <p:nvSpPr>
          <p:cNvPr id="25" name="Shape 17"/>
          <p:cNvSpPr/>
          <p:nvPr/>
        </p:nvSpPr>
        <p:spPr>
          <a:xfrm>
            <a:off x="9500616" y="1965960"/>
            <a:ext cx="2697480" cy="3566160"/>
          </a:xfrm>
          <a:prstGeom prst="roundRect">
            <a:avLst>
              <a:gd name="adj" fmla="val 3390"/>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26" name="Text 18"/>
          <p:cNvSpPr/>
          <p:nvPr/>
        </p:nvSpPr>
        <p:spPr>
          <a:xfrm>
            <a:off x="9756648" y="2221992"/>
            <a:ext cx="1280160" cy="548640"/>
          </a:xfrm>
          <a:prstGeom prst="rect">
            <a:avLst/>
          </a:prstGeom>
          <a:noFill/>
          <a:ln/>
        </p:spPr>
        <p:txBody>
          <a:bodyPr wrap="square" rtlCol="0" anchor="ctr"/>
          <a:lstStyle/>
          <a:p>
            <a:pPr indent="0" marL="0">
              <a:buNone/>
            </a:pPr>
            <a:r>
              <a:rPr lang="en-US" sz="3000" b="1" dirty="0">
                <a:solidFill>
                  <a:srgbClr val="F5B301"/>
                </a:solidFill>
                <a:latin typeface="Cambria" pitchFamily="34" charset="0"/>
                <a:ea typeface="Cambria" pitchFamily="34" charset="-122"/>
                <a:cs typeface="Cambria" pitchFamily="34" charset="-120"/>
              </a:rPr>
              <a:t>4.4</a:t>
            </a:r>
            <a:endParaRPr lang="en-US" sz="3000" dirty="0"/>
          </a:p>
        </p:txBody>
      </p:sp>
      <p:sp>
        <p:nvSpPr>
          <p:cNvPr id="27" name="Shape 19"/>
          <p:cNvSpPr/>
          <p:nvPr/>
        </p:nvSpPr>
        <p:spPr>
          <a:xfrm>
            <a:off x="11146536" y="2258568"/>
            <a:ext cx="777240" cy="777240"/>
          </a:xfrm>
          <a:prstGeom prst="ellipse">
            <a:avLst/>
          </a:prstGeom>
          <a:solidFill>
            <a:srgbClr val="FDECC4"/>
          </a:solidFill>
          <a:ln/>
        </p:spPr>
      </p:sp>
      <p:pic>
        <p:nvPicPr>
          <p:cNvPr id="28" name="Image 6" descr="preencoded.png">    </p:cNvPr>
          <p:cNvPicPr>
            <a:picLocks noChangeAspect="1"/>
          </p:cNvPicPr>
          <p:nvPr/>
        </p:nvPicPr>
        <p:blipFill>
          <a:blip r:embed="rId7"/>
          <a:stretch>
            <a:fillRect/>
          </a:stretch>
        </p:blipFill>
        <p:spPr>
          <a:xfrm>
            <a:off x="11348618" y="2460650"/>
            <a:ext cx="373075" cy="373075"/>
          </a:xfrm>
          <a:prstGeom prst="rect">
            <a:avLst/>
          </a:prstGeom>
        </p:spPr>
      </p:pic>
      <p:sp>
        <p:nvSpPr>
          <p:cNvPr id="29" name="Text 20"/>
          <p:cNvSpPr/>
          <p:nvPr/>
        </p:nvSpPr>
        <p:spPr>
          <a:xfrm>
            <a:off x="9756648" y="3291840"/>
            <a:ext cx="2240280" cy="822960"/>
          </a:xfrm>
          <a:prstGeom prst="rect">
            <a:avLst/>
          </a:prstGeom>
          <a:noFill/>
          <a:ln/>
        </p:spPr>
        <p:txBody>
          <a:bodyPr wrap="square" rtlCol="0" anchor="t"/>
          <a:lstStyle/>
          <a:p>
            <a:pPr indent="0" marL="0">
              <a:buNone/>
            </a:pPr>
            <a:r>
              <a:rPr lang="en-US" sz="1900" b="1" dirty="0">
                <a:solidFill>
                  <a:srgbClr val="1E293B"/>
                </a:solidFill>
                <a:latin typeface="Arial" pitchFamily="34" charset="0"/>
                <a:ea typeface="Arial" pitchFamily="34" charset="-122"/>
                <a:cs typeface="Arial" pitchFamily="34" charset="-120"/>
              </a:rPr>
              <a:t>툴 리소스 관리</a:t>
            </a:r>
            <a:endParaRPr lang="en-US" sz="1900" dirty="0"/>
          </a:p>
        </p:txBody>
      </p:sp>
      <p:sp>
        <p:nvSpPr>
          <p:cNvPr id="30" name="Text 21"/>
          <p:cNvSpPr/>
          <p:nvPr/>
        </p:nvSpPr>
        <p:spPr>
          <a:xfrm>
            <a:off x="9756648" y="4114800"/>
            <a:ext cx="2240280" cy="1234440"/>
          </a:xfrm>
          <a:prstGeom prst="rect">
            <a:avLst/>
          </a:prstGeom>
          <a:noFill/>
          <a:ln/>
        </p:spPr>
        <p:txBody>
          <a:bodyPr wrap="square" rtlCol="0" anchor="t"/>
          <a:lstStyle/>
          <a:p>
            <a:pPr indent="0" marL="0">
              <a:lnSpc>
                <a:spcPct val="115000"/>
              </a:lnSpc>
              <a:buNone/>
            </a:pPr>
            <a:r>
              <a:rPr lang="en-US" sz="1300" dirty="0">
                <a:solidFill>
                  <a:srgbClr val="334155"/>
                </a:solidFill>
                <a:latin typeface="Arial" pitchFamily="34" charset="0"/>
                <a:ea typeface="Arial" pitchFamily="34" charset="-122"/>
                <a:cs typeface="Arial" pitchFamily="34" charset="-120"/>
              </a:rPr>
              <a:t>다 쓴 환경 정리 + 환경 준비를 미리(비동기)</a:t>
            </a:r>
            <a:endParaRPr lang="en-US" sz="1300" dirty="0"/>
          </a:p>
        </p:txBody>
      </p:sp>
      <p:sp>
        <p:nvSpPr>
          <p:cNvPr id="31" name="Text 22"/>
          <p:cNvSpPr/>
          <p:nvPr/>
        </p:nvSpPr>
        <p:spPr>
          <a:xfrm>
            <a:off x="640080" y="5806440"/>
            <a:ext cx="10972800" cy="457200"/>
          </a:xfrm>
          <a:prstGeom prst="rect">
            <a:avLst/>
          </a:prstGeom>
          <a:noFill/>
          <a:ln/>
        </p:spPr>
        <p:txBody>
          <a:bodyPr wrap="square" rtlCol="0" anchor="ctr"/>
          <a:lstStyle/>
          <a:p>
            <a:pPr indent="0" marL="0">
              <a:buNone/>
            </a:pPr>
            <a:r>
              <a:rPr lang="en-US" sz="1300" i="1" dirty="0">
                <a:solidFill>
                  <a:srgbClr val="64748B"/>
                </a:solidFill>
                <a:latin typeface="Arial" pitchFamily="34" charset="0"/>
                <a:ea typeface="Arial" pitchFamily="34" charset="-122"/>
                <a:cs typeface="Arial" pitchFamily="34" charset="-120"/>
              </a:rPr>
              <a:t>아래로 갈수록 위 블록 위에 세워집니다 — 추상화가 있어야 비용을 잴 수 있고, 비용 모델이 있어야 스케줄링 목표가 정의됩니다.</a:t>
            </a:r>
            <a:endParaRPr lang="en-US" sz="1300" dirty="0"/>
          </a:p>
        </p:txBody>
      </p:sp>
      <p:sp>
        <p:nvSpPr>
          <p:cNvPr id="32" name="Text 23"/>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4.1 · PROGRAM ABSTRACTION</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워크플로우 하나를 '프로그램 P'로 표현한다</a:t>
            </a:r>
            <a:endParaRPr lang="en-US" sz="3200" dirty="0"/>
          </a:p>
        </p:txBody>
      </p:sp>
      <p:sp>
        <p:nvSpPr>
          <p:cNvPr id="4" name="Shape 2"/>
          <p:cNvSpPr/>
          <p:nvPr/>
        </p:nvSpPr>
        <p:spPr>
          <a:xfrm>
            <a:off x="640080" y="1737360"/>
            <a:ext cx="10881360" cy="868680"/>
          </a:xfrm>
          <a:prstGeom prst="roundRect">
            <a:avLst>
              <a:gd name="adj" fmla="val 8421"/>
            </a:avLst>
          </a:prstGeom>
          <a:solidFill>
            <a:srgbClr val="0E1729"/>
          </a:solidFill>
          <a:ln/>
        </p:spPr>
      </p:sp>
      <p:sp>
        <p:nvSpPr>
          <p:cNvPr id="5" name="Text 3"/>
          <p:cNvSpPr/>
          <p:nvPr/>
        </p:nvSpPr>
        <p:spPr>
          <a:xfrm>
            <a:off x="640080" y="1737360"/>
            <a:ext cx="10881360" cy="8686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P  =  ⟨ </a:t>
            </a:r>
            <a:pPr algn="ctr" indent="0" marL="0">
              <a:buNone/>
            </a:pPr>
            <a:r>
              <a:rPr lang="en-US" sz="3000" b="1" dirty="0">
                <a:solidFill>
                  <a:srgbClr val="F5B301"/>
                </a:solidFill>
                <a:latin typeface="Cambria" pitchFamily="34" charset="0"/>
                <a:ea typeface="Cambria" pitchFamily="34" charset="-122"/>
                <a:cs typeface="Cambria" pitchFamily="34" charset="-120"/>
              </a:rPr>
              <a:t>ID</a:t>
            </a:r>
            <a:pPr algn="ctr" indent="0" marL="0">
              <a:buNone/>
            </a:pPr>
            <a:r>
              <a:rPr lang="en-US" sz="3000" b="1" dirty="0">
                <a:solidFill>
                  <a:srgbClr val="FFFFFF"/>
                </a:solidFill>
                <a:latin typeface="Cambria" pitchFamily="34" charset="0"/>
                <a:ea typeface="Cambria" pitchFamily="34" charset="-122"/>
                <a:cs typeface="Cambria" pitchFamily="34" charset="-120"/>
              </a:rPr>
              <a:t>,  </a:t>
            </a:r>
            <a:pPr algn="ctr" indent="0" marL="0">
              <a:buNone/>
            </a:pPr>
            <a:r>
              <a:rPr lang="en-US" sz="3000" b="1" dirty="0">
                <a:solidFill>
                  <a:srgbClr val="2DD4BF"/>
                </a:solidFill>
                <a:latin typeface="Cambria" pitchFamily="34" charset="0"/>
                <a:ea typeface="Cambria" pitchFamily="34" charset="-122"/>
                <a:cs typeface="Cambria" pitchFamily="34" charset="-120"/>
              </a:rPr>
              <a:t>c</a:t>
            </a:r>
            <a:pPr algn="ctr" indent="0" marL="0">
              <a:buNone/>
            </a:pPr>
            <a:r>
              <a:rPr lang="en-US" sz="3000" b="1" dirty="0">
                <a:solidFill>
                  <a:srgbClr val="FFFFFF"/>
                </a:solidFill>
                <a:latin typeface="Cambria" pitchFamily="34" charset="0"/>
                <a:ea typeface="Cambria" pitchFamily="34" charset="-122"/>
                <a:cs typeface="Cambria" pitchFamily="34" charset="-120"/>
              </a:rPr>
              <a:t>,  </a:t>
            </a:r>
            <a:pPr algn="ctr" indent="0" marL="0">
              <a:buNone/>
            </a:pPr>
            <a:r>
              <a:rPr lang="en-US" sz="3000" b="1" dirty="0">
                <a:solidFill>
                  <a:srgbClr val="F5B301"/>
                </a:solidFill>
                <a:latin typeface="Cambria" pitchFamily="34" charset="0"/>
                <a:ea typeface="Cambria" pitchFamily="34" charset="-122"/>
                <a:cs typeface="Cambria" pitchFamily="34" charset="-120"/>
              </a:rPr>
              <a:t>T</a:t>
            </a:r>
            <a:pPr algn="ctr" indent="0" marL="0">
              <a:buNone/>
            </a:pPr>
            <a:r>
              <a:rPr lang="en-US" sz="3000" b="1" dirty="0">
                <a:solidFill>
                  <a:srgbClr val="FFFFFF"/>
                </a:solidFill>
                <a:latin typeface="Cambria" pitchFamily="34" charset="0"/>
                <a:ea typeface="Cambria" pitchFamily="34" charset="-122"/>
                <a:cs typeface="Cambria" pitchFamily="34" charset="-120"/>
              </a:rPr>
              <a:t>,  </a:t>
            </a:r>
            <a:pPr algn="ctr" indent="0" marL="0">
              <a:buNone/>
            </a:pPr>
            <a:r>
              <a:rPr lang="en-US" sz="3000" b="1" dirty="0">
                <a:solidFill>
                  <a:srgbClr val="2DD4BF"/>
                </a:solidFill>
                <a:latin typeface="Cambria" pitchFamily="34" charset="0"/>
                <a:ea typeface="Cambria" pitchFamily="34" charset="-122"/>
                <a:cs typeface="Cambria" pitchFamily="34" charset="-120"/>
              </a:rPr>
              <a:t>L</a:t>
            </a:r>
            <a:pPr algn="ctr" indent="0" marL="0">
              <a:buNone/>
            </a:pPr>
            <a:r>
              <a:rPr lang="en-US" sz="3000" b="1" dirty="0">
                <a:solidFill>
                  <a:srgbClr val="FFFFFF"/>
                </a:solidFill>
                <a:latin typeface="Cambria" pitchFamily="34" charset="0"/>
                <a:ea typeface="Cambria" pitchFamily="34" charset="-122"/>
                <a:cs typeface="Cambria" pitchFamily="34" charset="-120"/>
              </a:rPr>
              <a:t>,  </a:t>
            </a:r>
            <a:pPr algn="ctr" indent="0" marL="0">
              <a:buNone/>
            </a:pPr>
            <a:r>
              <a:rPr lang="en-US" sz="3000" b="1" dirty="0">
                <a:solidFill>
                  <a:srgbClr val="F5B301"/>
                </a:solidFill>
                <a:latin typeface="Cambria" pitchFamily="34" charset="0"/>
                <a:ea typeface="Cambria" pitchFamily="34" charset="-122"/>
                <a:cs typeface="Cambria" pitchFamily="34" charset="-120"/>
              </a:rPr>
              <a:t>τ</a:t>
            </a:r>
            <a:pPr algn="ctr" indent="0" marL="0">
              <a:buNone/>
            </a:pPr>
            <a:r>
              <a:rPr lang="en-US" sz="3000" b="1" dirty="0">
                <a:solidFill>
                  <a:srgbClr val="FFFFFF"/>
                </a:solidFill>
                <a:latin typeface="Cambria" pitchFamily="34" charset="0"/>
                <a:ea typeface="Cambria" pitchFamily="34" charset="-122"/>
                <a:cs typeface="Cambria" pitchFamily="34" charset="-120"/>
              </a:rPr>
              <a:t>,  </a:t>
            </a:r>
            <a:pPr algn="ctr" indent="0" marL="0">
              <a:buNone/>
            </a:pPr>
            <a:r>
              <a:rPr lang="en-US" sz="3000" b="1" dirty="0">
                <a:solidFill>
                  <a:srgbClr val="2DD4BF"/>
                </a:solidFill>
                <a:latin typeface="Cambria" pitchFamily="34" charset="0"/>
                <a:ea typeface="Cambria" pitchFamily="34" charset="-122"/>
                <a:cs typeface="Cambria" pitchFamily="34" charset="-120"/>
              </a:rPr>
              <a:t>s</a:t>
            </a:r>
            <a:pPr algn="ctr" indent="0" marL="0">
              <a:buNone/>
            </a:pPr>
            <a:r>
              <a:rPr lang="en-US" sz="3000" b="1" dirty="0">
                <a:solidFill>
                  <a:srgbClr val="FFFFFF"/>
                </a:solidFill>
                <a:latin typeface="Cambria" pitchFamily="34" charset="0"/>
                <a:ea typeface="Cambria" pitchFamily="34" charset="-122"/>
                <a:cs typeface="Cambria" pitchFamily="34" charset="-120"/>
              </a:rPr>
              <a:t> ⟩</a:t>
            </a:r>
            <a:endParaRPr lang="en-US" sz="3000" dirty="0"/>
          </a:p>
        </p:txBody>
      </p:sp>
      <p:sp>
        <p:nvSpPr>
          <p:cNvPr id="6" name="Shape 4"/>
          <p:cNvSpPr/>
          <p:nvPr/>
        </p:nvSpPr>
        <p:spPr>
          <a:xfrm>
            <a:off x="640080" y="2834640"/>
            <a:ext cx="3502152" cy="1572768"/>
          </a:xfrm>
          <a:prstGeom prst="roundRect">
            <a:avLst>
              <a:gd name="adj" fmla="val 4651"/>
            </a:avLst>
          </a:prstGeom>
          <a:solidFill>
            <a:srgbClr val="F5F7FA"/>
          </a:solidFill>
          <a:ln w="12700">
            <a:solidFill>
              <a:srgbClr val="E2E8F0"/>
            </a:solidFill>
            <a:prstDash val="solid"/>
          </a:ln>
        </p:spPr>
      </p:sp>
      <p:sp>
        <p:nvSpPr>
          <p:cNvPr id="7" name="Shape 5"/>
          <p:cNvSpPr/>
          <p:nvPr/>
        </p:nvSpPr>
        <p:spPr>
          <a:xfrm>
            <a:off x="841248" y="3054096"/>
            <a:ext cx="621792" cy="621792"/>
          </a:xfrm>
          <a:prstGeom prst="ellipse">
            <a:avLst/>
          </a:prstGeom>
          <a:solidFill>
            <a:srgbClr val="D5F0EC"/>
          </a:solidFill>
          <a:ln/>
        </p:spPr>
      </p:sp>
      <p:pic>
        <p:nvPicPr>
          <p:cNvPr id="8" name="Image 0" descr="preencoded.png">    </p:cNvPr>
          <p:cNvPicPr>
            <a:picLocks noChangeAspect="1"/>
          </p:cNvPicPr>
          <p:nvPr/>
        </p:nvPicPr>
        <p:blipFill>
          <a:blip r:embed="rId1"/>
          <a:stretch>
            <a:fillRect/>
          </a:stretch>
        </p:blipFill>
        <p:spPr>
          <a:xfrm>
            <a:off x="1002914" y="3215762"/>
            <a:ext cx="298460" cy="298460"/>
          </a:xfrm>
          <a:prstGeom prst="rect">
            <a:avLst/>
          </a:prstGeom>
        </p:spPr>
      </p:pic>
      <p:sp>
        <p:nvSpPr>
          <p:cNvPr id="9" name="Text 6"/>
          <p:cNvSpPr/>
          <p:nvPr/>
        </p:nvSpPr>
        <p:spPr>
          <a:xfrm>
            <a:off x="1572768" y="3017520"/>
            <a:ext cx="822960" cy="640080"/>
          </a:xfrm>
          <a:prstGeom prst="rect">
            <a:avLst/>
          </a:prstGeom>
          <a:noFill/>
          <a:ln/>
        </p:spPr>
        <p:txBody>
          <a:bodyPr wrap="square" rtlCol="0" anchor="ctr"/>
          <a:lstStyle/>
          <a:p>
            <a:pPr indent="0" marL="0">
              <a:buNone/>
            </a:pPr>
            <a:r>
              <a:rPr lang="en-US" sz="2600" b="1" dirty="0">
                <a:solidFill>
                  <a:srgbClr val="0D9488"/>
                </a:solidFill>
                <a:latin typeface="Cambria" pitchFamily="34" charset="0"/>
                <a:ea typeface="Cambria" pitchFamily="34" charset="-122"/>
                <a:cs typeface="Cambria" pitchFamily="34" charset="-120"/>
              </a:rPr>
              <a:t>ID</a:t>
            </a:r>
            <a:endParaRPr lang="en-US" sz="2600" dirty="0"/>
          </a:p>
        </p:txBody>
      </p:sp>
      <p:sp>
        <p:nvSpPr>
          <p:cNvPr id="10" name="Text 7"/>
          <p:cNvSpPr/>
          <p:nvPr/>
        </p:nvSpPr>
        <p:spPr>
          <a:xfrm>
            <a:off x="2240280" y="3090672"/>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고유 식별자</a:t>
            </a:r>
            <a:endParaRPr lang="en-US" sz="1450" dirty="0"/>
          </a:p>
        </p:txBody>
      </p:sp>
      <p:sp>
        <p:nvSpPr>
          <p:cNvPr id="11" name="Text 8"/>
          <p:cNvSpPr/>
          <p:nvPr/>
        </p:nvSpPr>
        <p:spPr>
          <a:xfrm>
            <a:off x="859536" y="3767328"/>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어느 워크플로우의 요청인지 구분하는 전역 ID</a:t>
            </a:r>
            <a:endParaRPr lang="en-US" sz="1200" dirty="0"/>
          </a:p>
        </p:txBody>
      </p:sp>
      <p:sp>
        <p:nvSpPr>
          <p:cNvPr id="12" name="Shape 9"/>
          <p:cNvSpPr/>
          <p:nvPr/>
        </p:nvSpPr>
        <p:spPr>
          <a:xfrm>
            <a:off x="4325112" y="2834640"/>
            <a:ext cx="3502152" cy="1572768"/>
          </a:xfrm>
          <a:prstGeom prst="roundRect">
            <a:avLst>
              <a:gd name="adj" fmla="val 4651"/>
            </a:avLst>
          </a:prstGeom>
          <a:solidFill>
            <a:srgbClr val="F5F7FA"/>
          </a:solidFill>
          <a:ln w="12700">
            <a:solidFill>
              <a:srgbClr val="E2E8F0"/>
            </a:solidFill>
            <a:prstDash val="solid"/>
          </a:ln>
        </p:spPr>
      </p:sp>
      <p:sp>
        <p:nvSpPr>
          <p:cNvPr id="13" name="Shape 10"/>
          <p:cNvSpPr/>
          <p:nvPr/>
        </p:nvSpPr>
        <p:spPr>
          <a:xfrm>
            <a:off x="4526280" y="3054096"/>
            <a:ext cx="621792" cy="621792"/>
          </a:xfrm>
          <a:prstGeom prst="ellipse">
            <a:avLst/>
          </a:prstGeom>
          <a:solidFill>
            <a:srgbClr val="FDECC4"/>
          </a:solidFill>
          <a:ln/>
        </p:spPr>
      </p:sp>
      <p:pic>
        <p:nvPicPr>
          <p:cNvPr id="14" name="Image 1" descr="preencoded.png">    </p:cNvPr>
          <p:cNvPicPr>
            <a:picLocks noChangeAspect="1"/>
          </p:cNvPicPr>
          <p:nvPr/>
        </p:nvPicPr>
        <p:blipFill>
          <a:blip r:embed="rId2"/>
          <a:stretch>
            <a:fillRect/>
          </a:stretch>
        </p:blipFill>
        <p:spPr>
          <a:xfrm>
            <a:off x="4687946" y="3215762"/>
            <a:ext cx="298460" cy="298460"/>
          </a:xfrm>
          <a:prstGeom prst="rect">
            <a:avLst/>
          </a:prstGeom>
        </p:spPr>
      </p:pic>
      <p:sp>
        <p:nvSpPr>
          <p:cNvPr id="15" name="Text 11"/>
          <p:cNvSpPr/>
          <p:nvPr/>
        </p:nvSpPr>
        <p:spPr>
          <a:xfrm>
            <a:off x="5257800" y="3017520"/>
            <a:ext cx="822960" cy="640080"/>
          </a:xfrm>
          <a:prstGeom prst="rect">
            <a:avLst/>
          </a:prstGeom>
          <a:noFill/>
          <a:ln/>
        </p:spPr>
        <p:txBody>
          <a:bodyPr wrap="square" rtlCol="0" anchor="ctr"/>
          <a:lstStyle/>
          <a:p>
            <a:pPr indent="0" marL="0">
              <a:buNone/>
            </a:pPr>
            <a:r>
              <a:rPr lang="en-US" sz="2600" b="1" dirty="0">
                <a:solidFill>
                  <a:srgbClr val="F5B301"/>
                </a:solidFill>
                <a:latin typeface="Cambria" pitchFamily="34" charset="0"/>
                <a:ea typeface="Cambria" pitchFamily="34" charset="-122"/>
                <a:cs typeface="Cambria" pitchFamily="34" charset="-120"/>
              </a:rPr>
              <a:t>c</a:t>
            </a:r>
            <a:endParaRPr lang="en-US" sz="2600" dirty="0"/>
          </a:p>
        </p:txBody>
      </p:sp>
      <p:sp>
        <p:nvSpPr>
          <p:cNvPr id="16" name="Text 12"/>
          <p:cNvSpPr/>
          <p:nvPr/>
        </p:nvSpPr>
        <p:spPr>
          <a:xfrm>
            <a:off x="5925312" y="3090672"/>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컨텍스트 토큰 수</a:t>
            </a:r>
            <a:endParaRPr lang="en-US" sz="1450" dirty="0"/>
          </a:p>
        </p:txBody>
      </p:sp>
      <p:sp>
        <p:nvSpPr>
          <p:cNvPr id="17" name="Text 13"/>
          <p:cNvSpPr/>
          <p:nvPr/>
        </p:nvSpPr>
        <p:spPr>
          <a:xfrm>
            <a:off x="4544568" y="3767328"/>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실행 중 차지하는 KV 캐시 메모리 크기</a:t>
            </a:r>
            <a:endParaRPr lang="en-US" sz="1200" dirty="0"/>
          </a:p>
        </p:txBody>
      </p:sp>
      <p:sp>
        <p:nvSpPr>
          <p:cNvPr id="18" name="Shape 14"/>
          <p:cNvSpPr/>
          <p:nvPr/>
        </p:nvSpPr>
        <p:spPr>
          <a:xfrm>
            <a:off x="8010144" y="2834640"/>
            <a:ext cx="3502152" cy="1572768"/>
          </a:xfrm>
          <a:prstGeom prst="roundRect">
            <a:avLst>
              <a:gd name="adj" fmla="val 4651"/>
            </a:avLst>
          </a:prstGeom>
          <a:solidFill>
            <a:srgbClr val="F5F7FA"/>
          </a:solidFill>
          <a:ln w="12700">
            <a:solidFill>
              <a:srgbClr val="E2E8F0"/>
            </a:solidFill>
            <a:prstDash val="solid"/>
          </a:ln>
        </p:spPr>
      </p:sp>
      <p:sp>
        <p:nvSpPr>
          <p:cNvPr id="19" name="Shape 15"/>
          <p:cNvSpPr/>
          <p:nvPr/>
        </p:nvSpPr>
        <p:spPr>
          <a:xfrm>
            <a:off x="8211312" y="3054096"/>
            <a:ext cx="621792" cy="621792"/>
          </a:xfrm>
          <a:prstGeom prst="ellipse">
            <a:avLst/>
          </a:prstGeom>
          <a:solidFill>
            <a:srgbClr val="D5F0EC"/>
          </a:solidFill>
          <a:ln/>
        </p:spPr>
      </p:sp>
      <p:pic>
        <p:nvPicPr>
          <p:cNvPr id="20" name="Image 2" descr="preencoded.png">    </p:cNvPr>
          <p:cNvPicPr>
            <a:picLocks noChangeAspect="1"/>
          </p:cNvPicPr>
          <p:nvPr/>
        </p:nvPicPr>
        <p:blipFill>
          <a:blip r:embed="rId3"/>
          <a:stretch>
            <a:fillRect/>
          </a:stretch>
        </p:blipFill>
        <p:spPr>
          <a:xfrm>
            <a:off x="8372978" y="3215762"/>
            <a:ext cx="298460" cy="298460"/>
          </a:xfrm>
          <a:prstGeom prst="rect">
            <a:avLst/>
          </a:prstGeom>
        </p:spPr>
      </p:pic>
      <p:sp>
        <p:nvSpPr>
          <p:cNvPr id="21" name="Text 16"/>
          <p:cNvSpPr/>
          <p:nvPr/>
        </p:nvSpPr>
        <p:spPr>
          <a:xfrm>
            <a:off x="8942832" y="3017520"/>
            <a:ext cx="822960" cy="640080"/>
          </a:xfrm>
          <a:prstGeom prst="rect">
            <a:avLst/>
          </a:prstGeom>
          <a:noFill/>
          <a:ln/>
        </p:spPr>
        <p:txBody>
          <a:bodyPr wrap="square" rtlCol="0" anchor="ctr"/>
          <a:lstStyle/>
          <a:p>
            <a:pPr indent="0" marL="0">
              <a:buNone/>
            </a:pPr>
            <a:r>
              <a:rPr lang="en-US" sz="2600" b="1" dirty="0">
                <a:solidFill>
                  <a:srgbClr val="0D9488"/>
                </a:solidFill>
                <a:latin typeface="Cambria" pitchFamily="34" charset="0"/>
                <a:ea typeface="Cambria" pitchFamily="34" charset="-122"/>
                <a:cs typeface="Cambria" pitchFamily="34" charset="-120"/>
              </a:rPr>
              <a:t>T</a:t>
            </a:r>
            <a:endParaRPr lang="en-US" sz="2600" dirty="0"/>
          </a:p>
        </p:txBody>
      </p:sp>
      <p:sp>
        <p:nvSpPr>
          <p:cNvPr id="22" name="Text 17"/>
          <p:cNvSpPr/>
          <p:nvPr/>
        </p:nvSpPr>
        <p:spPr>
          <a:xfrm>
            <a:off x="9610344" y="3090672"/>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툴 환경 집합</a:t>
            </a:r>
            <a:endParaRPr lang="en-US" sz="1450" dirty="0"/>
          </a:p>
        </p:txBody>
      </p:sp>
      <p:sp>
        <p:nvSpPr>
          <p:cNvPr id="23" name="Text 18"/>
          <p:cNvSpPr/>
          <p:nvPr/>
        </p:nvSpPr>
        <p:spPr>
          <a:xfrm>
            <a:off x="8229600" y="3767328"/>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이 프로그램이 쓰는 도커·DB 등 (정리 시점 판단)</a:t>
            </a:r>
            <a:endParaRPr lang="en-US" sz="1200" dirty="0"/>
          </a:p>
        </p:txBody>
      </p:sp>
      <p:sp>
        <p:nvSpPr>
          <p:cNvPr id="24" name="Shape 19"/>
          <p:cNvSpPr/>
          <p:nvPr/>
        </p:nvSpPr>
        <p:spPr>
          <a:xfrm>
            <a:off x="640080" y="4608576"/>
            <a:ext cx="3502152" cy="1572768"/>
          </a:xfrm>
          <a:prstGeom prst="roundRect">
            <a:avLst>
              <a:gd name="adj" fmla="val 4651"/>
            </a:avLst>
          </a:prstGeom>
          <a:solidFill>
            <a:srgbClr val="F5F7FA"/>
          </a:solidFill>
          <a:ln w="12700">
            <a:solidFill>
              <a:srgbClr val="E2E8F0"/>
            </a:solidFill>
            <a:prstDash val="solid"/>
          </a:ln>
        </p:spPr>
      </p:sp>
      <p:sp>
        <p:nvSpPr>
          <p:cNvPr id="25" name="Shape 20"/>
          <p:cNvSpPr/>
          <p:nvPr/>
        </p:nvSpPr>
        <p:spPr>
          <a:xfrm>
            <a:off x="841248" y="4828032"/>
            <a:ext cx="621792" cy="621792"/>
          </a:xfrm>
          <a:prstGeom prst="ellipse">
            <a:avLst/>
          </a:prstGeom>
          <a:solidFill>
            <a:srgbClr val="FDECC4"/>
          </a:solidFill>
          <a:ln/>
        </p:spPr>
      </p:sp>
      <p:pic>
        <p:nvPicPr>
          <p:cNvPr id="26" name="Image 3" descr="preencoded.png">    </p:cNvPr>
          <p:cNvPicPr>
            <a:picLocks noChangeAspect="1"/>
          </p:cNvPicPr>
          <p:nvPr/>
        </p:nvPicPr>
        <p:blipFill>
          <a:blip r:embed="rId4"/>
          <a:stretch>
            <a:fillRect/>
          </a:stretch>
        </p:blipFill>
        <p:spPr>
          <a:xfrm>
            <a:off x="1002914" y="4989698"/>
            <a:ext cx="298460" cy="298460"/>
          </a:xfrm>
          <a:prstGeom prst="rect">
            <a:avLst/>
          </a:prstGeom>
        </p:spPr>
      </p:pic>
      <p:sp>
        <p:nvSpPr>
          <p:cNvPr id="27" name="Text 21"/>
          <p:cNvSpPr/>
          <p:nvPr/>
        </p:nvSpPr>
        <p:spPr>
          <a:xfrm>
            <a:off x="1572768" y="4791456"/>
            <a:ext cx="822960" cy="640080"/>
          </a:xfrm>
          <a:prstGeom prst="rect">
            <a:avLst/>
          </a:prstGeom>
          <a:noFill/>
          <a:ln/>
        </p:spPr>
        <p:txBody>
          <a:bodyPr wrap="square" rtlCol="0" anchor="ctr"/>
          <a:lstStyle/>
          <a:p>
            <a:pPr indent="0" marL="0">
              <a:buNone/>
            </a:pPr>
            <a:r>
              <a:rPr lang="en-US" sz="2600" b="1" dirty="0">
                <a:solidFill>
                  <a:srgbClr val="F5B301"/>
                </a:solidFill>
                <a:latin typeface="Cambria" pitchFamily="34" charset="0"/>
                <a:ea typeface="Cambria" pitchFamily="34" charset="-122"/>
                <a:cs typeface="Cambria" pitchFamily="34" charset="-120"/>
              </a:rPr>
              <a:t>L</a:t>
            </a:r>
            <a:endParaRPr lang="en-US" sz="2600" dirty="0"/>
          </a:p>
        </p:txBody>
      </p:sp>
      <p:sp>
        <p:nvSpPr>
          <p:cNvPr id="28" name="Text 22"/>
          <p:cNvSpPr/>
          <p:nvPr/>
        </p:nvSpPr>
        <p:spPr>
          <a:xfrm>
            <a:off x="2240280" y="4864608"/>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노드 배치</a:t>
            </a:r>
            <a:endParaRPr lang="en-US" sz="1450" dirty="0"/>
          </a:p>
        </p:txBody>
      </p:sp>
      <p:sp>
        <p:nvSpPr>
          <p:cNvPr id="29" name="Text 23"/>
          <p:cNvSpPr/>
          <p:nvPr/>
        </p:nvSpPr>
        <p:spPr>
          <a:xfrm>
            <a:off x="859536" y="5541264"/>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어느 GPU 노드에 올라가 있는지 (공간적 지역성)</a:t>
            </a:r>
            <a:endParaRPr lang="en-US" sz="1200" dirty="0"/>
          </a:p>
        </p:txBody>
      </p:sp>
      <p:sp>
        <p:nvSpPr>
          <p:cNvPr id="30" name="Shape 24"/>
          <p:cNvSpPr/>
          <p:nvPr/>
        </p:nvSpPr>
        <p:spPr>
          <a:xfrm>
            <a:off x="4325112" y="4608576"/>
            <a:ext cx="3502152" cy="1572768"/>
          </a:xfrm>
          <a:prstGeom prst="roundRect">
            <a:avLst>
              <a:gd name="adj" fmla="val 4651"/>
            </a:avLst>
          </a:prstGeom>
          <a:solidFill>
            <a:srgbClr val="F5F7FA"/>
          </a:solidFill>
          <a:ln w="12700">
            <a:solidFill>
              <a:srgbClr val="E2E8F0"/>
            </a:solidFill>
            <a:prstDash val="solid"/>
          </a:ln>
        </p:spPr>
      </p:sp>
      <p:sp>
        <p:nvSpPr>
          <p:cNvPr id="31" name="Shape 25"/>
          <p:cNvSpPr/>
          <p:nvPr/>
        </p:nvSpPr>
        <p:spPr>
          <a:xfrm>
            <a:off x="4526280" y="4828032"/>
            <a:ext cx="621792" cy="621792"/>
          </a:xfrm>
          <a:prstGeom prst="ellipse">
            <a:avLst/>
          </a:prstGeom>
          <a:solidFill>
            <a:srgbClr val="D5F0EC"/>
          </a:solidFill>
          <a:ln/>
        </p:spPr>
      </p:sp>
      <p:pic>
        <p:nvPicPr>
          <p:cNvPr id="32" name="Image 4" descr="preencoded.png">    </p:cNvPr>
          <p:cNvPicPr>
            <a:picLocks noChangeAspect="1"/>
          </p:cNvPicPr>
          <p:nvPr/>
        </p:nvPicPr>
        <p:blipFill>
          <a:blip r:embed="rId5"/>
          <a:stretch>
            <a:fillRect/>
          </a:stretch>
        </p:blipFill>
        <p:spPr>
          <a:xfrm>
            <a:off x="4687946" y="4989698"/>
            <a:ext cx="298460" cy="298460"/>
          </a:xfrm>
          <a:prstGeom prst="rect">
            <a:avLst/>
          </a:prstGeom>
        </p:spPr>
      </p:pic>
      <p:sp>
        <p:nvSpPr>
          <p:cNvPr id="33" name="Text 26"/>
          <p:cNvSpPr/>
          <p:nvPr/>
        </p:nvSpPr>
        <p:spPr>
          <a:xfrm>
            <a:off x="5257800" y="4791456"/>
            <a:ext cx="822960" cy="640080"/>
          </a:xfrm>
          <a:prstGeom prst="rect">
            <a:avLst/>
          </a:prstGeom>
          <a:noFill/>
          <a:ln/>
        </p:spPr>
        <p:txBody>
          <a:bodyPr wrap="square" rtlCol="0" anchor="ctr"/>
          <a:lstStyle/>
          <a:p>
            <a:pPr indent="0" marL="0">
              <a:buNone/>
            </a:pPr>
            <a:r>
              <a:rPr lang="en-US" sz="2600" b="1" dirty="0">
                <a:solidFill>
                  <a:srgbClr val="0D9488"/>
                </a:solidFill>
                <a:latin typeface="Cambria" pitchFamily="34" charset="0"/>
                <a:ea typeface="Cambria" pitchFamily="34" charset="-122"/>
                <a:cs typeface="Cambria" pitchFamily="34" charset="-120"/>
              </a:rPr>
              <a:t>τ</a:t>
            </a:r>
            <a:endParaRPr lang="en-US" sz="2600" dirty="0"/>
          </a:p>
        </p:txBody>
      </p:sp>
      <p:sp>
        <p:nvSpPr>
          <p:cNvPr id="34" name="Text 27"/>
          <p:cNvSpPr/>
          <p:nvPr/>
        </p:nvSpPr>
        <p:spPr>
          <a:xfrm>
            <a:off x="5925312" y="4864608"/>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실행 단계</a:t>
            </a:r>
            <a:endParaRPr lang="en-US" sz="1450" dirty="0"/>
          </a:p>
        </p:txBody>
      </p:sp>
      <p:sp>
        <p:nvSpPr>
          <p:cNvPr id="35" name="Text 28"/>
          <p:cNvSpPr/>
          <p:nvPr/>
        </p:nvSpPr>
        <p:spPr>
          <a:xfrm>
            <a:off x="4544568" y="5541264"/>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추론(Reasoning) / 행동(Acting) 중 무엇인지</a:t>
            </a:r>
            <a:endParaRPr lang="en-US" sz="1200" dirty="0"/>
          </a:p>
        </p:txBody>
      </p:sp>
      <p:sp>
        <p:nvSpPr>
          <p:cNvPr id="36" name="Shape 29"/>
          <p:cNvSpPr/>
          <p:nvPr/>
        </p:nvSpPr>
        <p:spPr>
          <a:xfrm>
            <a:off x="8010144" y="4608576"/>
            <a:ext cx="3502152" cy="1572768"/>
          </a:xfrm>
          <a:prstGeom prst="roundRect">
            <a:avLst>
              <a:gd name="adj" fmla="val 4651"/>
            </a:avLst>
          </a:prstGeom>
          <a:solidFill>
            <a:srgbClr val="F5F7FA"/>
          </a:solidFill>
          <a:ln w="12700">
            <a:solidFill>
              <a:srgbClr val="E2E8F0"/>
            </a:solidFill>
            <a:prstDash val="solid"/>
          </a:ln>
        </p:spPr>
      </p:sp>
      <p:sp>
        <p:nvSpPr>
          <p:cNvPr id="37" name="Shape 30"/>
          <p:cNvSpPr/>
          <p:nvPr/>
        </p:nvSpPr>
        <p:spPr>
          <a:xfrm>
            <a:off x="8211312" y="4828032"/>
            <a:ext cx="621792" cy="621792"/>
          </a:xfrm>
          <a:prstGeom prst="ellipse">
            <a:avLst/>
          </a:prstGeom>
          <a:solidFill>
            <a:srgbClr val="FDECC4"/>
          </a:solidFill>
          <a:ln/>
        </p:spPr>
      </p:sp>
      <p:pic>
        <p:nvPicPr>
          <p:cNvPr id="38" name="Image 5" descr="preencoded.png">    </p:cNvPr>
          <p:cNvPicPr>
            <a:picLocks noChangeAspect="1"/>
          </p:cNvPicPr>
          <p:nvPr/>
        </p:nvPicPr>
        <p:blipFill>
          <a:blip r:embed="rId6"/>
          <a:stretch>
            <a:fillRect/>
          </a:stretch>
        </p:blipFill>
        <p:spPr>
          <a:xfrm>
            <a:off x="8372978" y="4989698"/>
            <a:ext cx="298460" cy="298460"/>
          </a:xfrm>
          <a:prstGeom prst="rect">
            <a:avLst/>
          </a:prstGeom>
        </p:spPr>
      </p:pic>
      <p:sp>
        <p:nvSpPr>
          <p:cNvPr id="39" name="Text 31"/>
          <p:cNvSpPr/>
          <p:nvPr/>
        </p:nvSpPr>
        <p:spPr>
          <a:xfrm>
            <a:off x="8942832" y="4791456"/>
            <a:ext cx="822960" cy="640080"/>
          </a:xfrm>
          <a:prstGeom prst="rect">
            <a:avLst/>
          </a:prstGeom>
          <a:noFill/>
          <a:ln/>
        </p:spPr>
        <p:txBody>
          <a:bodyPr wrap="square" rtlCol="0" anchor="ctr"/>
          <a:lstStyle/>
          <a:p>
            <a:pPr indent="0" marL="0">
              <a:buNone/>
            </a:pPr>
            <a:r>
              <a:rPr lang="en-US" sz="2600" b="1" dirty="0">
                <a:solidFill>
                  <a:srgbClr val="F5B301"/>
                </a:solidFill>
                <a:latin typeface="Cambria" pitchFamily="34" charset="0"/>
                <a:ea typeface="Cambria" pitchFamily="34" charset="-122"/>
                <a:cs typeface="Cambria" pitchFamily="34" charset="-120"/>
              </a:rPr>
              <a:t>s</a:t>
            </a:r>
            <a:endParaRPr lang="en-US" sz="2600" dirty="0"/>
          </a:p>
        </p:txBody>
      </p:sp>
      <p:sp>
        <p:nvSpPr>
          <p:cNvPr id="40" name="Text 32"/>
          <p:cNvSpPr/>
          <p:nvPr/>
        </p:nvSpPr>
        <p:spPr>
          <a:xfrm>
            <a:off x="9610344" y="4864608"/>
            <a:ext cx="1764792" cy="50292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스케줄 상태</a:t>
            </a:r>
            <a:endParaRPr lang="en-US" sz="1450" dirty="0"/>
          </a:p>
        </p:txBody>
      </p:sp>
      <p:sp>
        <p:nvSpPr>
          <p:cNvPr id="41" name="Text 33"/>
          <p:cNvSpPr/>
          <p:nvPr/>
        </p:nvSpPr>
        <p:spPr>
          <a:xfrm>
            <a:off x="8229600" y="5541264"/>
            <a:ext cx="3090672" cy="566928"/>
          </a:xfrm>
          <a:prstGeom prst="rect">
            <a:avLst/>
          </a:prstGeom>
          <a:noFill/>
          <a:ln/>
        </p:spPr>
        <p:txBody>
          <a:bodyPr wrap="square" rtlCol="0" anchor="t"/>
          <a:lstStyle/>
          <a:p>
            <a:pPr indent="0" marL="0">
              <a:lnSpc>
                <a:spcPct val="105000"/>
              </a:lnSpc>
              <a:buNone/>
            </a:pPr>
            <a:r>
              <a:rPr lang="en-US" sz="1200" dirty="0">
                <a:solidFill>
                  <a:srgbClr val="334155"/>
                </a:solidFill>
                <a:latin typeface="Arial" pitchFamily="34" charset="0"/>
                <a:ea typeface="Arial" pitchFamily="34" charset="-122"/>
                <a:cs typeface="Arial" pitchFamily="34" charset="-120"/>
              </a:rPr>
              <a:t>Active / Paused / Terminated</a:t>
            </a:r>
            <a:endParaRPr lang="en-US" sz="1200" dirty="0"/>
          </a:p>
        </p:txBody>
      </p:sp>
      <p:sp>
        <p:nvSpPr>
          <p:cNvPr id="42" name="Text 34"/>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4.1 · 통합 방식</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기존 엔진을 '감싸는' 얇은 계층 — 도입이 쉽다</a:t>
            </a:r>
            <a:endParaRPr lang="en-US" sz="3200" dirty="0"/>
          </a:p>
        </p:txBody>
      </p:sp>
      <p:sp>
        <p:nvSpPr>
          <p:cNvPr id="4" name="Shape 2"/>
          <p:cNvSpPr/>
          <p:nvPr/>
        </p:nvSpPr>
        <p:spPr>
          <a:xfrm>
            <a:off x="640080" y="1965960"/>
            <a:ext cx="5486400" cy="1051560"/>
          </a:xfrm>
          <a:prstGeom prst="roundRect">
            <a:avLst>
              <a:gd name="adj" fmla="val 6957"/>
            </a:avLst>
          </a:prstGeom>
          <a:solidFill>
            <a:srgbClr val="16233D"/>
          </a:solidFill>
          <a:ln/>
          <a:effectLst>
            <a:outerShdw sx="100000" sy="100000" kx="0" ky="0" algn="bl" rotWithShape="0" blurRad="114300" dist="38100" dir="5400000">
              <a:srgbClr val="1E293B">
                <a:alpha val="10000"/>
              </a:srgbClr>
            </a:outerShdw>
          </a:effectLst>
        </p:spPr>
      </p:sp>
      <p:sp>
        <p:nvSpPr>
          <p:cNvPr id="5" name="Text 3"/>
          <p:cNvSpPr/>
          <p:nvPr/>
        </p:nvSpPr>
        <p:spPr>
          <a:xfrm>
            <a:off x="868680" y="1965960"/>
            <a:ext cx="5029200" cy="1051560"/>
          </a:xfrm>
          <a:prstGeom prst="rect">
            <a:avLst/>
          </a:prstGeom>
          <a:noFill/>
          <a:ln/>
        </p:spPr>
        <p:txBody>
          <a:bodyPr wrap="square" rtlCol="0" anchor="ctr"/>
          <a:lstStyle/>
          <a:p>
            <a:pPr algn="ctr" indent="0" marL="0">
              <a:lnSpc>
                <a:spcPct val="105000"/>
              </a:lnSpc>
              <a:buNone/>
            </a:pPr>
            <a:r>
              <a:rPr lang="en-US" sz="1450" dirty="0">
                <a:solidFill>
                  <a:srgbClr val="FFFFFF"/>
                </a:solidFill>
                <a:latin typeface="Arial" pitchFamily="34" charset="0"/>
                <a:ea typeface="Arial" pitchFamily="34" charset="-122"/>
                <a:cs typeface="Arial" pitchFamily="34" charset="-120"/>
              </a:rPr>
              <a:t>에이전트 워크플로우 (SWE-Agent · OpenHands · ToolOrchestra …)</a:t>
            </a:r>
            <a:endParaRPr lang="en-US" sz="1450" dirty="0"/>
          </a:p>
        </p:txBody>
      </p:sp>
      <p:pic>
        <p:nvPicPr>
          <p:cNvPr id="6" name="Image 0" descr="preencoded.png">    </p:cNvPr>
          <p:cNvPicPr>
            <a:picLocks noChangeAspect="1"/>
          </p:cNvPicPr>
          <p:nvPr/>
        </p:nvPicPr>
        <p:blipFill>
          <a:blip r:embed="rId1"/>
          <a:stretch>
            <a:fillRect/>
          </a:stretch>
        </p:blipFill>
        <p:spPr>
          <a:xfrm>
            <a:off x="3218688" y="2971800"/>
            <a:ext cx="329184" cy="329184"/>
          </a:xfrm>
          <a:prstGeom prst="rect">
            <a:avLst/>
          </a:prstGeom>
        </p:spPr>
      </p:pic>
      <p:sp>
        <p:nvSpPr>
          <p:cNvPr id="7" name="Shape 4"/>
          <p:cNvSpPr/>
          <p:nvPr/>
        </p:nvSpPr>
        <p:spPr>
          <a:xfrm>
            <a:off x="640080" y="3401568"/>
            <a:ext cx="5486400" cy="1051560"/>
          </a:xfrm>
          <a:prstGeom prst="roundRect">
            <a:avLst>
              <a:gd name="adj" fmla="val 6957"/>
            </a:avLst>
          </a:prstGeom>
          <a:solidFill>
            <a:srgbClr val="F5B301"/>
          </a:solidFill>
          <a:ln/>
          <a:effectLst>
            <a:outerShdw sx="100000" sy="100000" kx="0" ky="0" algn="bl" rotWithShape="0" blurRad="114300" dist="38100" dir="5400000">
              <a:srgbClr val="1E293B">
                <a:alpha val="10000"/>
              </a:srgbClr>
            </a:outerShdw>
          </a:effectLst>
        </p:spPr>
      </p:sp>
      <p:sp>
        <p:nvSpPr>
          <p:cNvPr id="8" name="Text 5"/>
          <p:cNvSpPr/>
          <p:nvPr/>
        </p:nvSpPr>
        <p:spPr>
          <a:xfrm>
            <a:off x="868680" y="3401568"/>
            <a:ext cx="5029200" cy="1051560"/>
          </a:xfrm>
          <a:prstGeom prst="rect">
            <a:avLst/>
          </a:prstGeom>
          <a:noFill/>
          <a:ln/>
        </p:spPr>
        <p:txBody>
          <a:bodyPr wrap="square" rtlCol="0" anchor="ctr"/>
          <a:lstStyle/>
          <a:p>
            <a:pPr algn="ctr" indent="0" marL="0">
              <a:lnSpc>
                <a:spcPct val="105000"/>
              </a:lnSpc>
              <a:buNone/>
            </a:pPr>
            <a:r>
              <a:rPr lang="en-US" sz="1450" b="1" dirty="0">
                <a:solidFill>
                  <a:srgbClr val="0E1729"/>
                </a:solidFill>
                <a:latin typeface="Arial" pitchFamily="34" charset="0"/>
                <a:ea typeface="Arial" pitchFamily="34" charset="-122"/>
                <a:cs typeface="Arial" pitchFamily="34" charset="-120"/>
              </a:rPr>
              <a:t>ThunderAgent  ·  프로그램 인식 계층 (Program ID로 태깅)</a:t>
            </a:r>
            <a:endParaRPr lang="en-US" sz="1450" dirty="0"/>
          </a:p>
        </p:txBody>
      </p:sp>
      <p:pic>
        <p:nvPicPr>
          <p:cNvPr id="9" name="Image 1" descr="preencoded.png">    </p:cNvPr>
          <p:cNvPicPr>
            <a:picLocks noChangeAspect="1"/>
          </p:cNvPicPr>
          <p:nvPr/>
        </p:nvPicPr>
        <p:blipFill>
          <a:blip r:embed="rId2"/>
          <a:stretch>
            <a:fillRect/>
          </a:stretch>
        </p:blipFill>
        <p:spPr>
          <a:xfrm>
            <a:off x="3218688" y="4407408"/>
            <a:ext cx="329184" cy="329184"/>
          </a:xfrm>
          <a:prstGeom prst="rect">
            <a:avLst/>
          </a:prstGeom>
        </p:spPr>
      </p:pic>
      <p:sp>
        <p:nvSpPr>
          <p:cNvPr id="10" name="Shape 6"/>
          <p:cNvSpPr/>
          <p:nvPr/>
        </p:nvSpPr>
        <p:spPr>
          <a:xfrm>
            <a:off x="640080" y="4837176"/>
            <a:ext cx="5486400" cy="1051560"/>
          </a:xfrm>
          <a:prstGeom prst="roundRect">
            <a:avLst>
              <a:gd name="adj" fmla="val 6957"/>
            </a:avLst>
          </a:prstGeom>
          <a:solidFill>
            <a:srgbClr val="0D9488"/>
          </a:solidFill>
          <a:ln/>
          <a:effectLst>
            <a:outerShdw sx="100000" sy="100000" kx="0" ky="0" algn="bl" rotWithShape="0" blurRad="114300" dist="38100" dir="5400000">
              <a:srgbClr val="1E293B">
                <a:alpha val="10000"/>
              </a:srgbClr>
            </a:outerShdw>
          </a:effectLst>
        </p:spPr>
      </p:sp>
      <p:sp>
        <p:nvSpPr>
          <p:cNvPr id="11" name="Text 7"/>
          <p:cNvSpPr/>
          <p:nvPr/>
        </p:nvSpPr>
        <p:spPr>
          <a:xfrm>
            <a:off x="868680" y="4837176"/>
            <a:ext cx="5029200" cy="1051560"/>
          </a:xfrm>
          <a:prstGeom prst="rect">
            <a:avLst/>
          </a:prstGeom>
          <a:noFill/>
          <a:ln/>
        </p:spPr>
        <p:txBody>
          <a:bodyPr wrap="square" rtlCol="0" anchor="ctr"/>
          <a:lstStyle/>
          <a:p>
            <a:pPr algn="ctr" indent="0" marL="0">
              <a:lnSpc>
                <a:spcPct val="105000"/>
              </a:lnSpc>
              <a:buNone/>
            </a:pPr>
            <a:r>
              <a:rPr lang="en-US" sz="1450" dirty="0">
                <a:solidFill>
                  <a:srgbClr val="FFFFFF"/>
                </a:solidFill>
                <a:latin typeface="Arial" pitchFamily="34" charset="0"/>
                <a:ea typeface="Arial" pitchFamily="34" charset="-122"/>
                <a:cs typeface="Arial" pitchFamily="34" charset="-120"/>
              </a:rPr>
              <a:t>기존 LLM 엔진 (vLLM / SGLang)   +   툴 오케스트레이터 (Docker/K8s)</a:t>
            </a:r>
            <a:endParaRPr lang="en-US" sz="1450" dirty="0"/>
          </a:p>
        </p:txBody>
      </p:sp>
      <p:sp>
        <p:nvSpPr>
          <p:cNvPr id="12" name="Text 8"/>
          <p:cNvSpPr/>
          <p:nvPr/>
        </p:nvSpPr>
        <p:spPr>
          <a:xfrm>
            <a:off x="640080" y="6135624"/>
            <a:ext cx="5486400" cy="457200"/>
          </a:xfrm>
          <a:prstGeom prst="rect">
            <a:avLst/>
          </a:prstGeom>
          <a:noFill/>
          <a:ln/>
        </p:spPr>
        <p:txBody>
          <a:bodyPr wrap="square" rtlCol="0" anchor="ctr"/>
          <a:lstStyle/>
          <a:p>
            <a:pPr algn="ctr" indent="0" marL="0">
              <a:buNone/>
            </a:pPr>
            <a:r>
              <a:rPr lang="en-US" sz="1250" i="1" dirty="0">
                <a:solidFill>
                  <a:srgbClr val="64748B"/>
                </a:solidFill>
                <a:latin typeface="Arial" pitchFamily="34" charset="0"/>
                <a:ea typeface="Arial" pitchFamily="34" charset="-122"/>
                <a:cs typeface="Arial" pitchFamily="34" charset="-120"/>
              </a:rPr>
              <a:t>OpenAI 스타일 엔드포인트로 연결 → 실행 백엔드와 스케줄링이 분리됨</a:t>
            </a:r>
            <a:endParaRPr lang="en-US" sz="1250" dirty="0"/>
          </a:p>
        </p:txBody>
      </p:sp>
      <p:sp>
        <p:nvSpPr>
          <p:cNvPr id="13" name="Shape 9"/>
          <p:cNvSpPr/>
          <p:nvPr/>
        </p:nvSpPr>
        <p:spPr>
          <a:xfrm>
            <a:off x="6537960" y="1965960"/>
            <a:ext cx="4983480" cy="3977640"/>
          </a:xfrm>
          <a:prstGeom prst="roundRect">
            <a:avLst>
              <a:gd name="adj" fmla="val 2299"/>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14" name="Text 10"/>
          <p:cNvSpPr/>
          <p:nvPr/>
        </p:nvSpPr>
        <p:spPr>
          <a:xfrm>
            <a:off x="6858000" y="2194560"/>
            <a:ext cx="4343400" cy="457200"/>
          </a:xfrm>
          <a:prstGeom prst="rect">
            <a:avLst/>
          </a:prstGeom>
          <a:noFill/>
          <a:ln/>
        </p:spPr>
        <p:txBody>
          <a:bodyPr wrap="square" rtlCol="0" anchor="ctr"/>
          <a:lstStyle/>
          <a:p>
            <a:pPr indent="0" marL="0">
              <a:buNone/>
            </a:pPr>
            <a:r>
              <a:rPr lang="en-US" sz="1700" b="1" dirty="0">
                <a:solidFill>
                  <a:srgbClr val="1E293B"/>
                </a:solidFill>
                <a:latin typeface="Arial" pitchFamily="34" charset="0"/>
                <a:ea typeface="Arial" pitchFamily="34" charset="-122"/>
                <a:cs typeface="Arial" pitchFamily="34" charset="-120"/>
              </a:rPr>
              <a:t>도입에 필요한 변경은 단 3가지</a:t>
            </a:r>
            <a:endParaRPr lang="en-US" sz="1700" dirty="0"/>
          </a:p>
        </p:txBody>
      </p:sp>
      <p:sp>
        <p:nvSpPr>
          <p:cNvPr id="15" name="Shape 11"/>
          <p:cNvSpPr/>
          <p:nvPr/>
        </p:nvSpPr>
        <p:spPr>
          <a:xfrm>
            <a:off x="6858000" y="2788920"/>
            <a:ext cx="457200" cy="457200"/>
          </a:xfrm>
          <a:prstGeom prst="ellipse">
            <a:avLst/>
          </a:prstGeom>
          <a:solidFill>
            <a:srgbClr val="D9F2E6"/>
          </a:solidFill>
          <a:ln/>
        </p:spPr>
      </p:sp>
      <p:pic>
        <p:nvPicPr>
          <p:cNvPr id="16" name="Image 2" descr="preencoded.png">    </p:cNvPr>
          <p:cNvPicPr>
            <a:picLocks noChangeAspect="1"/>
          </p:cNvPicPr>
          <p:nvPr/>
        </p:nvPicPr>
        <p:blipFill>
          <a:blip r:embed="rId3"/>
          <a:stretch>
            <a:fillRect/>
          </a:stretch>
        </p:blipFill>
        <p:spPr>
          <a:xfrm>
            <a:off x="6976872" y="2907792"/>
            <a:ext cx="219456" cy="219456"/>
          </a:xfrm>
          <a:prstGeom prst="rect">
            <a:avLst/>
          </a:prstGeom>
        </p:spPr>
      </p:pic>
      <p:sp>
        <p:nvSpPr>
          <p:cNvPr id="17" name="Text 12"/>
          <p:cNvSpPr/>
          <p:nvPr/>
        </p:nvSpPr>
        <p:spPr>
          <a:xfrm>
            <a:off x="7452360" y="2752344"/>
            <a:ext cx="3749040" cy="36576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LLM 요청에 program_id 태그 붙이기</a:t>
            </a:r>
            <a:endParaRPr lang="en-US" sz="1400" dirty="0"/>
          </a:p>
        </p:txBody>
      </p:sp>
      <p:sp>
        <p:nvSpPr>
          <p:cNvPr id="18" name="Text 13"/>
          <p:cNvSpPr/>
          <p:nvPr/>
        </p:nvSpPr>
        <p:spPr>
          <a:xfrm>
            <a:off x="7452360" y="3118104"/>
            <a:ext cx="3749040" cy="45720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요청이 어느 프로그램 소속인지 표시</a:t>
            </a:r>
            <a:endParaRPr lang="en-US" sz="1200" dirty="0"/>
          </a:p>
        </p:txBody>
      </p:sp>
      <p:sp>
        <p:nvSpPr>
          <p:cNvPr id="19" name="Shape 14"/>
          <p:cNvSpPr/>
          <p:nvPr/>
        </p:nvSpPr>
        <p:spPr>
          <a:xfrm>
            <a:off x="6858000" y="3813048"/>
            <a:ext cx="457200" cy="457200"/>
          </a:xfrm>
          <a:prstGeom prst="ellipse">
            <a:avLst/>
          </a:prstGeom>
          <a:solidFill>
            <a:srgbClr val="D9F2E6"/>
          </a:solidFill>
          <a:ln/>
        </p:spPr>
      </p:sp>
      <p:pic>
        <p:nvPicPr>
          <p:cNvPr id="20" name="Image 3" descr="preencoded.png">    </p:cNvPr>
          <p:cNvPicPr>
            <a:picLocks noChangeAspect="1"/>
          </p:cNvPicPr>
          <p:nvPr/>
        </p:nvPicPr>
        <p:blipFill>
          <a:blip r:embed="rId4"/>
          <a:stretch>
            <a:fillRect/>
          </a:stretch>
        </p:blipFill>
        <p:spPr>
          <a:xfrm>
            <a:off x="6976872" y="3931920"/>
            <a:ext cx="219456" cy="219456"/>
          </a:xfrm>
          <a:prstGeom prst="rect">
            <a:avLst/>
          </a:prstGeom>
        </p:spPr>
      </p:pic>
      <p:sp>
        <p:nvSpPr>
          <p:cNvPr id="21" name="Text 15"/>
          <p:cNvSpPr/>
          <p:nvPr/>
        </p:nvSpPr>
        <p:spPr>
          <a:xfrm>
            <a:off x="7452360" y="3776472"/>
            <a:ext cx="3749040" cy="36576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툴 실행에도 program_id 전달</a:t>
            </a:r>
            <a:endParaRPr lang="en-US" sz="1400" dirty="0"/>
          </a:p>
        </p:txBody>
      </p:sp>
      <p:sp>
        <p:nvSpPr>
          <p:cNvPr id="22" name="Text 16"/>
          <p:cNvSpPr/>
          <p:nvPr/>
        </p:nvSpPr>
        <p:spPr>
          <a:xfrm>
            <a:off x="7452360" y="4142232"/>
            <a:ext cx="3749040" cy="45720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GPU와 툴 자원을 한 프로그램으로 묶음</a:t>
            </a:r>
            <a:endParaRPr lang="en-US" sz="1200" dirty="0"/>
          </a:p>
        </p:txBody>
      </p:sp>
      <p:sp>
        <p:nvSpPr>
          <p:cNvPr id="23" name="Shape 17"/>
          <p:cNvSpPr/>
          <p:nvPr/>
        </p:nvSpPr>
        <p:spPr>
          <a:xfrm>
            <a:off x="6858000" y="4837176"/>
            <a:ext cx="457200" cy="457200"/>
          </a:xfrm>
          <a:prstGeom prst="ellipse">
            <a:avLst/>
          </a:prstGeom>
          <a:solidFill>
            <a:srgbClr val="D9F2E6"/>
          </a:solidFill>
          <a:ln/>
        </p:spPr>
      </p:sp>
      <p:pic>
        <p:nvPicPr>
          <p:cNvPr id="24" name="Image 4" descr="preencoded.png">    </p:cNvPr>
          <p:cNvPicPr>
            <a:picLocks noChangeAspect="1"/>
          </p:cNvPicPr>
          <p:nvPr/>
        </p:nvPicPr>
        <p:blipFill>
          <a:blip r:embed="rId5"/>
          <a:stretch>
            <a:fillRect/>
          </a:stretch>
        </p:blipFill>
        <p:spPr>
          <a:xfrm>
            <a:off x="6976872" y="4956048"/>
            <a:ext cx="219456" cy="219456"/>
          </a:xfrm>
          <a:prstGeom prst="rect">
            <a:avLst/>
          </a:prstGeom>
        </p:spPr>
      </p:pic>
      <p:sp>
        <p:nvSpPr>
          <p:cNvPr id="25" name="Text 18"/>
          <p:cNvSpPr/>
          <p:nvPr/>
        </p:nvSpPr>
        <p:spPr>
          <a:xfrm>
            <a:off x="7452360" y="4800600"/>
            <a:ext cx="3749040" cy="36576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종료 시 release 신호 전송</a:t>
            </a:r>
            <a:endParaRPr lang="en-US" sz="1400" dirty="0"/>
          </a:p>
        </p:txBody>
      </p:sp>
      <p:sp>
        <p:nvSpPr>
          <p:cNvPr id="26" name="Text 19"/>
          <p:cNvSpPr/>
          <p:nvPr/>
        </p:nvSpPr>
        <p:spPr>
          <a:xfrm>
            <a:off x="7452360" y="5166360"/>
            <a:ext cx="3749040" cy="457200"/>
          </a:xfrm>
          <a:prstGeom prst="rect">
            <a:avLst/>
          </a:prstGeom>
          <a:noFill/>
          <a:ln/>
        </p:spPr>
        <p:txBody>
          <a:bodyPr wrap="square" rtlCol="0" anchor="ctr"/>
          <a:lstStyle/>
          <a:p>
            <a:pPr indent="0" marL="0">
              <a:buNone/>
            </a:pPr>
            <a:r>
              <a:rPr lang="en-US" sz="1200" dirty="0">
                <a:solidFill>
                  <a:srgbClr val="334155"/>
                </a:solidFill>
                <a:latin typeface="Arial" pitchFamily="34" charset="0"/>
                <a:ea typeface="Arial" pitchFamily="34" charset="-122"/>
                <a:cs typeface="Arial" pitchFamily="34" charset="-120"/>
              </a:rPr>
              <a:t>끝난 프로그램의 자원을 즉시 회수</a:t>
            </a:r>
            <a:endParaRPr lang="en-US" sz="1200" dirty="0"/>
          </a:p>
        </p:txBody>
      </p:sp>
      <p:sp>
        <p:nvSpPr>
          <p:cNvPr id="27" name="Text 2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4.2 · COST MODEL</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비용 = 메모리 × 시간 (Space–Time Product)</a:t>
            </a:r>
            <a:endParaRPr lang="en-US" sz="3200" dirty="0"/>
          </a:p>
        </p:txBody>
      </p:sp>
      <p:sp>
        <p:nvSpPr>
          <p:cNvPr id="4" name="Text 2"/>
          <p:cNvSpPr/>
          <p:nvPr/>
        </p:nvSpPr>
        <p:spPr>
          <a:xfrm>
            <a:off x="640080" y="1874520"/>
            <a:ext cx="4937760" cy="548640"/>
          </a:xfrm>
          <a:prstGeom prst="rect">
            <a:avLst/>
          </a:prstGeom>
          <a:noFill/>
          <a:ln/>
        </p:spPr>
        <p:txBody>
          <a:bodyPr wrap="square" rtlCol="0" anchor="ctr"/>
          <a:lstStyle/>
          <a:p>
            <a:pPr indent="0" marL="0">
              <a:lnSpc>
                <a:spcPct val="110000"/>
              </a:lnSpc>
              <a:buNone/>
            </a:pPr>
            <a:r>
              <a:rPr lang="en-US" sz="1600" b="1" dirty="0">
                <a:solidFill>
                  <a:srgbClr val="1E293B"/>
                </a:solidFill>
                <a:latin typeface="Arial" pitchFamily="34" charset="0"/>
                <a:ea typeface="Arial" pitchFamily="34" charset="-122"/>
                <a:cs typeface="Arial" pitchFamily="34" charset="-120"/>
              </a:rPr>
              <a:t>얼마나 많은 메모리를, 얼마나 오래 붙잡고 있었는가?</a:t>
            </a:r>
            <a:endParaRPr lang="en-US" sz="1600" dirty="0"/>
          </a:p>
        </p:txBody>
      </p:sp>
      <p:sp>
        <p:nvSpPr>
          <p:cNvPr id="5" name="Shape 3"/>
          <p:cNvSpPr/>
          <p:nvPr/>
        </p:nvSpPr>
        <p:spPr>
          <a:xfrm>
            <a:off x="640080" y="2560320"/>
            <a:ext cx="4937760" cy="1051560"/>
          </a:xfrm>
          <a:prstGeom prst="roundRect">
            <a:avLst>
              <a:gd name="adj" fmla="val 6957"/>
            </a:avLst>
          </a:prstGeom>
          <a:solidFill>
            <a:srgbClr val="0E1729"/>
          </a:solidFill>
          <a:ln/>
        </p:spPr>
      </p:sp>
      <p:sp>
        <p:nvSpPr>
          <p:cNvPr id="6" name="Text 4"/>
          <p:cNvSpPr/>
          <p:nvPr/>
        </p:nvSpPr>
        <p:spPr>
          <a:xfrm>
            <a:off x="822960" y="2560320"/>
            <a:ext cx="457200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Cost</a:t>
            </a:r>
            <a:pPr algn="ctr" indent="0" marL="0">
              <a:buNone/>
            </a:pPr>
            <a:r>
              <a:rPr lang="en-US" sz="1800" b="1" dirty="0">
                <a:solidFill>
                  <a:srgbClr val="F5B301"/>
                </a:solidFill>
                <a:latin typeface="Cambria" pitchFamily="34" charset="0"/>
                <a:ea typeface="Cambria" pitchFamily="34" charset="-122"/>
                <a:cs typeface="Cambria" pitchFamily="34" charset="-120"/>
              </a:rPr>
              <a:t>x</a:t>
            </a:r>
            <a:pPr algn="ctr" indent="0" marL="0">
              <a:buNone/>
            </a:pPr>
            <a:r>
              <a:rPr lang="en-US" sz="2600" dirty="0">
                <a:solidFill>
                  <a:srgbClr val="FFFFFF"/>
                </a:solidFill>
                <a:latin typeface="Cambria" pitchFamily="34" charset="0"/>
                <a:ea typeface="Cambria" pitchFamily="34" charset="-122"/>
                <a:cs typeface="Cambria" pitchFamily="34" charset="-120"/>
              </a:rPr>
              <a:t>  =  ∫₀</a:t>
            </a:r>
            <a:pPr algn="ctr" indent="0" marL="0">
              <a:buNone/>
            </a:pPr>
            <a:r>
              <a:rPr lang="en-US" sz="2600" dirty="0">
                <a:solidFill>
                  <a:srgbClr val="2DD4BF"/>
                </a:solidFill>
                <a:latin typeface="Cambria" pitchFamily="34" charset="0"/>
                <a:ea typeface="Cambria" pitchFamily="34" charset="-122"/>
                <a:cs typeface="Cambria" pitchFamily="34" charset="-120"/>
              </a:rPr>
              <a:t>tx</a:t>
            </a:r>
            <a:pPr algn="ctr" indent="0" marL="0">
              <a:buNone/>
            </a:pPr>
            <a:r>
              <a:rPr lang="en-US" sz="2600" dirty="0">
                <a:solidFill>
                  <a:srgbClr val="FFFFFF"/>
                </a:solidFill>
                <a:latin typeface="Cambria" pitchFamily="34" charset="0"/>
                <a:ea typeface="Cambria" pitchFamily="34" charset="-122"/>
                <a:cs typeface="Cambria" pitchFamily="34" charset="-120"/>
              </a:rPr>
              <a:t>  M</a:t>
            </a:r>
            <a:pPr algn="ctr" indent="0" marL="0">
              <a:buNone/>
            </a:pPr>
            <a:r>
              <a:rPr lang="en-US" sz="2600" dirty="0">
                <a:solidFill>
                  <a:srgbClr val="F5B301"/>
                </a:solidFill>
                <a:latin typeface="Cambria" pitchFamily="34" charset="0"/>
                <a:ea typeface="Cambria" pitchFamily="34" charset="-122"/>
                <a:cs typeface="Cambria" pitchFamily="34" charset="-120"/>
              </a:rPr>
              <a:t>x</a:t>
            </a:r>
            <a:pPr algn="ctr" indent="0" marL="0">
              <a:buNone/>
            </a:pPr>
            <a:r>
              <a:rPr lang="en-US" sz="2600" dirty="0">
                <a:solidFill>
                  <a:srgbClr val="FFFFFF"/>
                </a:solidFill>
                <a:latin typeface="Cambria" pitchFamily="34" charset="0"/>
                <a:ea typeface="Cambria" pitchFamily="34" charset="-122"/>
                <a:cs typeface="Cambria" pitchFamily="34" charset="-120"/>
              </a:rPr>
              <a:t>(t) dt</a:t>
            </a:r>
            <a:endParaRPr lang="en-US" sz="2600" dirty="0"/>
          </a:p>
        </p:txBody>
      </p:sp>
      <p:sp>
        <p:nvSpPr>
          <p:cNvPr id="7" name="Text 5"/>
          <p:cNvSpPr/>
          <p:nvPr/>
        </p:nvSpPr>
        <p:spPr>
          <a:xfrm>
            <a:off x="640080" y="3794760"/>
            <a:ext cx="4937760" cy="914400"/>
          </a:xfrm>
          <a:prstGeom prst="rect">
            <a:avLst/>
          </a:prstGeom>
          <a:noFill/>
          <a:ln/>
        </p:spPr>
        <p:txBody>
          <a:bodyPr wrap="square" rtlCol="0" anchor="t"/>
          <a:lstStyle/>
          <a:p>
            <a:pPr indent="0" marL="0">
              <a:lnSpc>
                <a:spcPct val="135000"/>
              </a:lnSpc>
              <a:buNone/>
            </a:pPr>
            <a:r>
              <a:rPr lang="en-US" sz="1350" b="1" dirty="0">
                <a:solidFill>
                  <a:srgbClr val="F5B301"/>
                </a:solidFill>
                <a:latin typeface="Arial" pitchFamily="34" charset="0"/>
                <a:ea typeface="Arial" pitchFamily="34" charset="-122"/>
                <a:cs typeface="Arial" pitchFamily="34" charset="-120"/>
              </a:rPr>
              <a:t>M(t)</a:t>
            </a:r>
            <a:pPr indent="0" marL="0">
              <a:lnSpc>
                <a:spcPct val="135000"/>
              </a:lnSpc>
              <a:buNone/>
            </a:pPr>
            <a:r>
              <a:rPr lang="en-US" sz="1350" dirty="0">
                <a:solidFill>
                  <a:srgbClr val="334155"/>
                </a:solidFill>
                <a:latin typeface="Arial" pitchFamily="34" charset="0"/>
                <a:ea typeface="Arial" pitchFamily="34" charset="-122"/>
                <a:cs typeface="Arial" pitchFamily="34" charset="-120"/>
              </a:rPr>
              <a:t> : 그 순간 쓰는 KV 캐시 토큰 수(메모리)
</a:t>
            </a:r>
            <a:pPr indent="0" marL="0">
              <a:lnSpc>
                <a:spcPct val="135000"/>
              </a:lnSpc>
              <a:buNone/>
            </a:pPr>
            <a:r>
              <a:rPr lang="en-US" sz="1350" b="1" dirty="0">
                <a:solidFill>
                  <a:srgbClr val="0D9488"/>
                </a:solidFill>
                <a:latin typeface="Arial" pitchFamily="34" charset="0"/>
                <a:ea typeface="Arial" pitchFamily="34" charset="-122"/>
                <a:cs typeface="Arial" pitchFamily="34" charset="-120"/>
              </a:rPr>
              <a:t>t</a:t>
            </a:r>
            <a:pPr indent="0" marL="0">
              <a:lnSpc>
                <a:spcPct val="135000"/>
              </a:lnSpc>
              <a:buNone/>
            </a:pPr>
            <a:r>
              <a:rPr lang="en-US" sz="1350" dirty="0">
                <a:solidFill>
                  <a:srgbClr val="334155"/>
                </a:solidFill>
                <a:latin typeface="Arial" pitchFamily="34" charset="0"/>
                <a:ea typeface="Arial" pitchFamily="34" charset="-122"/>
                <a:cs typeface="Arial" pitchFamily="34" charset="-120"/>
              </a:rPr>
              <a:t> : 그 상태가 지속된 시간</a:t>
            </a:r>
            <a:endParaRPr lang="en-US" sz="1350" dirty="0"/>
          </a:p>
        </p:txBody>
      </p:sp>
      <p:sp>
        <p:nvSpPr>
          <p:cNvPr id="8" name="Shape 6"/>
          <p:cNvSpPr/>
          <p:nvPr/>
        </p:nvSpPr>
        <p:spPr>
          <a:xfrm>
            <a:off x="640080" y="4800600"/>
            <a:ext cx="4937760" cy="1143000"/>
          </a:xfrm>
          <a:prstGeom prst="roundRect">
            <a:avLst>
              <a:gd name="adj" fmla="val 6400"/>
            </a:avLst>
          </a:prstGeom>
          <a:solidFill>
            <a:srgbClr val="FDECC4"/>
          </a:solidFill>
          <a:ln/>
        </p:spPr>
      </p:sp>
      <p:sp>
        <p:nvSpPr>
          <p:cNvPr id="9" name="Text 7"/>
          <p:cNvSpPr/>
          <p:nvPr/>
        </p:nvSpPr>
        <p:spPr>
          <a:xfrm>
            <a:off x="896112" y="4937760"/>
            <a:ext cx="4434840" cy="914400"/>
          </a:xfrm>
          <a:prstGeom prst="rect">
            <a:avLst/>
          </a:prstGeom>
          <a:noFill/>
          <a:ln/>
        </p:spPr>
        <p:txBody>
          <a:bodyPr wrap="square" rtlCol="0" anchor="ctr"/>
          <a:lstStyle/>
          <a:p>
            <a:pPr indent="0" marL="0">
              <a:lnSpc>
                <a:spcPct val="120000"/>
              </a:lnSpc>
              <a:buNone/>
            </a:pPr>
            <a:r>
              <a:rPr lang="en-US" sz="1300" b="1" dirty="0">
                <a:solidFill>
                  <a:srgbClr val="0E1729"/>
                </a:solidFill>
                <a:latin typeface="Arial" pitchFamily="34" charset="0"/>
                <a:ea typeface="Arial" pitchFamily="34" charset="-122"/>
                <a:cs typeface="Arial" pitchFamily="34" charset="-120"/>
              </a:rPr>
              <a:t>핵심 아이디어  </a:t>
            </a:r>
            <a:pPr indent="0" marL="0">
              <a:lnSpc>
                <a:spcPct val="120000"/>
              </a:lnSpc>
              <a:buNone/>
            </a:pPr>
            <a:endParaRPr lang="en-US" sz="1300" dirty="0"/>
          </a:p>
          <a:p>
            <a:pPr indent="0" marL="0">
              <a:lnSpc>
                <a:spcPct val="120000"/>
              </a:lnSpc>
              <a:buNone/>
            </a:pPr>
            <a:r>
              <a:rPr lang="en-US" sz="1300" dirty="0">
                <a:solidFill>
                  <a:srgbClr val="334155"/>
                </a:solidFill>
                <a:latin typeface="Arial" pitchFamily="34" charset="0"/>
                <a:ea typeface="Arial" pitchFamily="34" charset="-122"/>
                <a:cs typeface="Arial" pitchFamily="34" charset="-120"/>
              </a:rPr>
              <a:t>같은 메모리라도 오래 붙잡으면 비용이 커진다. 이 넓이(면적)를 줄이는 것이 목표.</a:t>
            </a:r>
            <a:endParaRPr lang="en-US" sz="1300" dirty="0"/>
          </a:p>
        </p:txBody>
      </p:sp>
      <p:sp>
        <p:nvSpPr>
          <p:cNvPr id="10" name="Shape 8"/>
          <p:cNvSpPr/>
          <p:nvPr/>
        </p:nvSpPr>
        <p:spPr>
          <a:xfrm>
            <a:off x="6035040" y="1920240"/>
            <a:ext cx="5486400" cy="4023360"/>
          </a:xfrm>
          <a:prstGeom prst="roundRect">
            <a:avLst>
              <a:gd name="adj" fmla="val 2273"/>
            </a:avLst>
          </a:prstGeom>
          <a:solidFill>
            <a:srgbClr val="F5F7FA"/>
          </a:solidFill>
          <a:ln w="12700">
            <a:solidFill>
              <a:srgbClr val="E2E8F0"/>
            </a:solidFill>
            <a:prstDash val="solid"/>
          </a:ln>
        </p:spPr>
      </p:sp>
      <p:sp>
        <p:nvSpPr>
          <p:cNvPr id="11" name="Shape 9"/>
          <p:cNvSpPr/>
          <p:nvPr/>
        </p:nvSpPr>
        <p:spPr>
          <a:xfrm>
            <a:off x="6858000" y="2468880"/>
            <a:ext cx="0" cy="2560320"/>
          </a:xfrm>
          <a:prstGeom prst="line">
            <a:avLst/>
          </a:prstGeom>
          <a:noFill/>
          <a:ln w="19050">
            <a:solidFill>
              <a:srgbClr val="64748B"/>
            </a:solidFill>
            <a:prstDash val="solid"/>
          </a:ln>
        </p:spPr>
      </p:sp>
      <p:sp>
        <p:nvSpPr>
          <p:cNvPr id="12" name="Shape 10"/>
          <p:cNvSpPr/>
          <p:nvPr/>
        </p:nvSpPr>
        <p:spPr>
          <a:xfrm>
            <a:off x="6858000" y="5120640"/>
            <a:ext cx="3931920" cy="0"/>
          </a:xfrm>
          <a:prstGeom prst="line">
            <a:avLst/>
          </a:prstGeom>
          <a:noFill/>
          <a:ln w="19050">
            <a:solidFill>
              <a:srgbClr val="64748B"/>
            </a:solidFill>
            <a:prstDash val="solid"/>
          </a:ln>
        </p:spPr>
      </p:sp>
      <p:sp>
        <p:nvSpPr>
          <p:cNvPr id="13" name="Text 11"/>
          <p:cNvSpPr/>
          <p:nvPr/>
        </p:nvSpPr>
        <p:spPr>
          <a:xfrm>
            <a:off x="6172200" y="2240280"/>
            <a:ext cx="2011680" cy="274320"/>
          </a:xfrm>
          <a:prstGeom prst="rect">
            <a:avLst/>
          </a:prstGeom>
          <a:noFill/>
          <a:ln/>
        </p:spPr>
        <p:txBody>
          <a:bodyPr wrap="square" rtlCol="0" anchor="ctr"/>
          <a:lstStyle/>
          <a:p>
            <a:pPr indent="0" marL="0">
              <a:buNone/>
            </a:pPr>
            <a:r>
              <a:rPr lang="en-US" sz="1100" b="1" dirty="0">
                <a:solidFill>
                  <a:srgbClr val="64748B"/>
                </a:solidFill>
                <a:latin typeface="Arial" pitchFamily="34" charset="0"/>
                <a:ea typeface="Arial" pitchFamily="34" charset="-122"/>
                <a:cs typeface="Arial" pitchFamily="34" charset="-120"/>
              </a:rPr>
              <a:t>메모리 M(t)</a:t>
            </a:r>
            <a:endParaRPr lang="en-US" sz="1100" dirty="0"/>
          </a:p>
        </p:txBody>
      </p:sp>
      <p:sp>
        <p:nvSpPr>
          <p:cNvPr id="14" name="Text 12"/>
          <p:cNvSpPr/>
          <p:nvPr/>
        </p:nvSpPr>
        <p:spPr>
          <a:xfrm>
            <a:off x="9784080" y="5230368"/>
            <a:ext cx="164592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시간 t →</a:t>
            </a:r>
            <a:endParaRPr lang="en-US" sz="1100" dirty="0"/>
          </a:p>
        </p:txBody>
      </p:sp>
      <p:sp>
        <p:nvSpPr>
          <p:cNvPr id="15" name="Shape 13"/>
          <p:cNvSpPr/>
          <p:nvPr/>
        </p:nvSpPr>
        <p:spPr>
          <a:xfrm>
            <a:off x="6858000" y="4206240"/>
            <a:ext cx="1297534" cy="914400"/>
          </a:xfrm>
          <a:prstGeom prst="rect">
            <a:avLst/>
          </a:prstGeom>
          <a:solidFill>
            <a:srgbClr val="0D9488">
              <a:alpha val="70000"/>
            </a:srgbClr>
          </a:solidFill>
          <a:ln/>
        </p:spPr>
      </p:sp>
      <p:sp>
        <p:nvSpPr>
          <p:cNvPr id="16" name="Shape 14"/>
          <p:cNvSpPr/>
          <p:nvPr/>
        </p:nvSpPr>
        <p:spPr>
          <a:xfrm>
            <a:off x="8155534" y="3383280"/>
            <a:ext cx="1297534" cy="1737360"/>
          </a:xfrm>
          <a:prstGeom prst="rect">
            <a:avLst/>
          </a:prstGeom>
          <a:solidFill>
            <a:srgbClr val="0D9488">
              <a:alpha val="70000"/>
            </a:srgbClr>
          </a:solidFill>
          <a:ln/>
        </p:spPr>
      </p:sp>
      <p:sp>
        <p:nvSpPr>
          <p:cNvPr id="17" name="Shape 15"/>
          <p:cNvSpPr/>
          <p:nvPr/>
        </p:nvSpPr>
        <p:spPr>
          <a:xfrm>
            <a:off x="9453067" y="2651760"/>
            <a:ext cx="1336853" cy="2468880"/>
          </a:xfrm>
          <a:prstGeom prst="rect">
            <a:avLst/>
          </a:prstGeom>
          <a:solidFill>
            <a:srgbClr val="0D9488">
              <a:alpha val="70000"/>
            </a:srgbClr>
          </a:solidFill>
          <a:ln/>
        </p:spPr>
      </p:sp>
      <p:sp>
        <p:nvSpPr>
          <p:cNvPr id="18" name="Shape 16"/>
          <p:cNvSpPr/>
          <p:nvPr/>
        </p:nvSpPr>
        <p:spPr>
          <a:xfrm>
            <a:off x="6858000" y="4206240"/>
            <a:ext cx="1297534" cy="0"/>
          </a:xfrm>
          <a:prstGeom prst="line">
            <a:avLst/>
          </a:prstGeom>
          <a:noFill/>
          <a:ln w="31750">
            <a:solidFill>
              <a:srgbClr val="0D9488"/>
            </a:solidFill>
            <a:prstDash val="solid"/>
          </a:ln>
        </p:spPr>
      </p:sp>
      <p:sp>
        <p:nvSpPr>
          <p:cNvPr id="19" name="Shape 17"/>
          <p:cNvSpPr/>
          <p:nvPr/>
        </p:nvSpPr>
        <p:spPr>
          <a:xfrm>
            <a:off x="8155534" y="3383280"/>
            <a:ext cx="1297534" cy="0"/>
          </a:xfrm>
          <a:prstGeom prst="line">
            <a:avLst/>
          </a:prstGeom>
          <a:noFill/>
          <a:ln w="31750">
            <a:solidFill>
              <a:srgbClr val="0D9488"/>
            </a:solidFill>
            <a:prstDash val="solid"/>
          </a:ln>
        </p:spPr>
      </p:sp>
      <p:sp>
        <p:nvSpPr>
          <p:cNvPr id="20" name="Shape 18"/>
          <p:cNvSpPr/>
          <p:nvPr/>
        </p:nvSpPr>
        <p:spPr>
          <a:xfrm>
            <a:off x="9453067" y="2651760"/>
            <a:ext cx="1336853" cy="0"/>
          </a:xfrm>
          <a:prstGeom prst="line">
            <a:avLst/>
          </a:prstGeom>
          <a:noFill/>
          <a:ln w="31750">
            <a:solidFill>
              <a:srgbClr val="0D9488"/>
            </a:solidFill>
            <a:prstDash val="solid"/>
          </a:ln>
        </p:spPr>
      </p:sp>
      <p:sp>
        <p:nvSpPr>
          <p:cNvPr id="21" name="Text 19"/>
          <p:cNvSpPr/>
          <p:nvPr/>
        </p:nvSpPr>
        <p:spPr>
          <a:xfrm>
            <a:off x="7132320" y="3749040"/>
            <a:ext cx="2377440" cy="457200"/>
          </a:xfrm>
          <a:prstGeom prst="rect">
            <a:avLst/>
          </a:prstGeom>
          <a:noFill/>
          <a:ln/>
        </p:spPr>
        <p:txBody>
          <a:bodyPr wrap="square" rtlCol="0" anchor="ctr"/>
          <a:lstStyle/>
          <a:p>
            <a:pPr indent="0" marL="0">
              <a:buNone/>
            </a:pPr>
            <a:r>
              <a:rPr lang="en-US" sz="1300" b="1" dirty="0">
                <a:solidFill>
                  <a:srgbClr val="0E1729"/>
                </a:solidFill>
                <a:latin typeface="Arial" pitchFamily="34" charset="0"/>
                <a:ea typeface="Arial" pitchFamily="34" charset="-122"/>
                <a:cs typeface="Arial" pitchFamily="34" charset="-120"/>
              </a:rPr>
              <a:t>면적 = 비용 (STP)</a:t>
            </a:r>
            <a:endParaRPr lang="en-US" sz="1300" dirty="0"/>
          </a:p>
        </p:txBody>
      </p:sp>
      <p:sp>
        <p:nvSpPr>
          <p:cNvPr id="22" name="Text 2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4.2 · 비용 분해</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총비용 = 효과적인 일 2 + 낭비 3</a:t>
            </a:r>
            <a:endParaRPr lang="en-US" sz="3200" dirty="0"/>
          </a:p>
        </p:txBody>
      </p:sp>
      <p:sp>
        <p:nvSpPr>
          <p:cNvPr id="4" name="Shape 2"/>
          <p:cNvSpPr/>
          <p:nvPr/>
        </p:nvSpPr>
        <p:spPr>
          <a:xfrm>
            <a:off x="640080" y="1691640"/>
            <a:ext cx="10881360" cy="658368"/>
          </a:xfrm>
          <a:prstGeom prst="roundRect">
            <a:avLst>
              <a:gd name="adj" fmla="val 9722"/>
            </a:avLst>
          </a:prstGeom>
          <a:solidFill>
            <a:srgbClr val="0E1729"/>
          </a:solidFill>
          <a:ln/>
        </p:spPr>
      </p:sp>
      <p:sp>
        <p:nvSpPr>
          <p:cNvPr id="5" name="Text 3"/>
          <p:cNvSpPr/>
          <p:nvPr/>
        </p:nvSpPr>
        <p:spPr>
          <a:xfrm>
            <a:off x="640080" y="1691640"/>
            <a:ext cx="10881360" cy="65836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Cost</a:t>
            </a:r>
            <a:pPr algn="ctr" indent="0" marL="0">
              <a:buNone/>
            </a:pPr>
            <a:r>
              <a:rPr lang="en-US" sz="1700" dirty="0">
                <a:solidFill>
                  <a:srgbClr val="F5B301"/>
                </a:solidFill>
                <a:latin typeface="Cambria" pitchFamily="34" charset="0"/>
                <a:ea typeface="Cambria" pitchFamily="34" charset="-122"/>
                <a:cs typeface="Cambria" pitchFamily="34" charset="-120"/>
              </a:rPr>
              <a:t>total</a:t>
            </a:r>
            <a:pPr algn="ctr" indent="0" marL="0">
              <a:buNone/>
            </a:pPr>
            <a:r>
              <a:rPr lang="en-US" sz="1700" dirty="0">
                <a:solidFill>
                  <a:srgbClr val="FFFFFF"/>
                </a:solidFill>
                <a:latin typeface="Cambria" pitchFamily="34" charset="0"/>
                <a:ea typeface="Cambria" pitchFamily="34" charset="-122"/>
                <a:cs typeface="Cambria" pitchFamily="34" charset="-120"/>
              </a:rPr>
              <a:t>  ≈  </a:t>
            </a:r>
            <a:pPr algn="ctr" indent="0" marL="0">
              <a:buNone/>
            </a:pPr>
            <a:r>
              <a:rPr lang="en-US" sz="1700" b="1" dirty="0">
                <a:solidFill>
                  <a:srgbClr val="059669"/>
                </a:solidFill>
                <a:latin typeface="Cambria" pitchFamily="34" charset="0"/>
                <a:ea typeface="Cambria" pitchFamily="34" charset="-122"/>
                <a:cs typeface="Cambria" pitchFamily="34" charset="-120"/>
              </a:rPr>
              <a:t>Cost</a:t>
            </a:r>
            <a:pPr algn="ctr" indent="0" marL="0">
              <a:buNone/>
            </a:pPr>
            <a:r>
              <a:rPr lang="en-US" sz="1700" dirty="0">
                <a:solidFill>
                  <a:srgbClr val="059669"/>
                </a:solidFill>
                <a:latin typeface="Cambria" pitchFamily="34" charset="0"/>
                <a:ea typeface="Cambria" pitchFamily="34" charset="-122"/>
                <a:cs typeface="Cambria" pitchFamily="34" charset="-120"/>
              </a:rPr>
              <a:t>decode</a:t>
            </a:r>
            <a:pPr algn="ctr" indent="0" marL="0">
              <a:buNone/>
            </a:pPr>
            <a:r>
              <a:rPr lang="en-US" sz="1700" dirty="0">
                <a:solidFill>
                  <a:srgbClr val="FFFFFF"/>
                </a:solidFill>
                <a:latin typeface="Cambria" pitchFamily="34" charset="0"/>
                <a:ea typeface="Cambria" pitchFamily="34" charset="-122"/>
                <a:cs typeface="Cambria" pitchFamily="34" charset="-120"/>
              </a:rPr>
              <a:t> + </a:t>
            </a:r>
            <a:pPr algn="ctr" indent="0" marL="0">
              <a:buNone/>
            </a:pPr>
            <a:r>
              <a:rPr lang="en-US" sz="1700" b="1" dirty="0">
                <a:solidFill>
                  <a:srgbClr val="059669"/>
                </a:solidFill>
                <a:latin typeface="Cambria" pitchFamily="34" charset="0"/>
                <a:ea typeface="Cambria" pitchFamily="34" charset="-122"/>
                <a:cs typeface="Cambria" pitchFamily="34" charset="-120"/>
              </a:rPr>
              <a:t>Cost</a:t>
            </a:r>
            <a:pPr algn="ctr" indent="0" marL="0">
              <a:buNone/>
            </a:pPr>
            <a:r>
              <a:rPr lang="en-US" sz="1700" dirty="0">
                <a:solidFill>
                  <a:srgbClr val="059669"/>
                </a:solidFill>
                <a:latin typeface="Cambria" pitchFamily="34" charset="0"/>
                <a:ea typeface="Cambria" pitchFamily="34" charset="-122"/>
                <a:cs typeface="Cambria" pitchFamily="34" charset="-120"/>
              </a:rPr>
              <a:t>prefill</a:t>
            </a:r>
            <a:pPr algn="ctr" indent="0" marL="0">
              <a:buNone/>
            </a:pPr>
            <a:r>
              <a:rPr lang="en-US" sz="1700" dirty="0">
                <a:solidFill>
                  <a:srgbClr val="FFFFFF"/>
                </a:solidFill>
                <a:latin typeface="Cambria" pitchFamily="34" charset="0"/>
                <a:ea typeface="Cambria" pitchFamily="34" charset="-122"/>
                <a:cs typeface="Cambria" pitchFamily="34" charset="-120"/>
              </a:rPr>
              <a:t>  +  </a:t>
            </a:r>
            <a:pPr algn="ctr" indent="0" marL="0">
              <a:buNone/>
            </a:pPr>
            <a:r>
              <a:rPr lang="en-US" sz="1700" b="1" dirty="0">
                <a:solidFill>
                  <a:srgbClr val="F87171"/>
                </a:solidFill>
                <a:latin typeface="Cambria" pitchFamily="34" charset="0"/>
                <a:ea typeface="Cambria" pitchFamily="34" charset="-122"/>
                <a:cs typeface="Cambria" pitchFamily="34" charset="-120"/>
              </a:rPr>
              <a:t>Cost</a:t>
            </a:r>
            <a:pPr algn="ctr" indent="0" marL="0">
              <a:buNone/>
            </a:pPr>
            <a:r>
              <a:rPr lang="en-US" sz="1700" dirty="0">
                <a:solidFill>
                  <a:srgbClr val="F87171"/>
                </a:solidFill>
                <a:latin typeface="Cambria" pitchFamily="34" charset="0"/>
                <a:ea typeface="Cambria" pitchFamily="34" charset="-122"/>
                <a:cs typeface="Cambria" pitchFamily="34" charset="-120"/>
              </a:rPr>
              <a:t>recompute</a:t>
            </a:r>
            <a:pPr algn="ctr" indent="0" marL="0">
              <a:buNone/>
            </a:pPr>
            <a:r>
              <a:rPr lang="en-US" sz="1700" dirty="0">
                <a:solidFill>
                  <a:srgbClr val="FFFFFF"/>
                </a:solidFill>
                <a:latin typeface="Cambria" pitchFamily="34" charset="0"/>
                <a:ea typeface="Cambria" pitchFamily="34" charset="-122"/>
                <a:cs typeface="Cambria" pitchFamily="34" charset="-120"/>
              </a:rPr>
              <a:t> + </a:t>
            </a:r>
            <a:pPr algn="ctr" indent="0" marL="0">
              <a:buNone/>
            </a:pPr>
            <a:r>
              <a:rPr lang="en-US" sz="1700" b="1" dirty="0">
                <a:solidFill>
                  <a:srgbClr val="F87171"/>
                </a:solidFill>
                <a:latin typeface="Cambria" pitchFamily="34" charset="0"/>
                <a:ea typeface="Cambria" pitchFamily="34" charset="-122"/>
                <a:cs typeface="Cambria" pitchFamily="34" charset="-120"/>
              </a:rPr>
              <a:t>Cost</a:t>
            </a:r>
            <a:pPr algn="ctr" indent="0" marL="0">
              <a:buNone/>
            </a:pPr>
            <a:r>
              <a:rPr lang="en-US" sz="1700" dirty="0">
                <a:solidFill>
                  <a:srgbClr val="F87171"/>
                </a:solidFill>
                <a:latin typeface="Cambria" pitchFamily="34" charset="0"/>
                <a:ea typeface="Cambria" pitchFamily="34" charset="-122"/>
                <a:cs typeface="Cambria" pitchFamily="34" charset="-120"/>
              </a:rPr>
              <a:t>unused</a:t>
            </a:r>
            <a:pPr algn="ctr" indent="0" marL="0">
              <a:buNone/>
            </a:pPr>
            <a:r>
              <a:rPr lang="en-US" sz="1700" dirty="0">
                <a:solidFill>
                  <a:srgbClr val="FFFFFF"/>
                </a:solidFill>
                <a:latin typeface="Cambria" pitchFamily="34" charset="0"/>
                <a:ea typeface="Cambria" pitchFamily="34" charset="-122"/>
                <a:cs typeface="Cambria" pitchFamily="34" charset="-120"/>
              </a:rPr>
              <a:t> + </a:t>
            </a:r>
            <a:pPr algn="ctr" indent="0" marL="0">
              <a:buNone/>
            </a:pPr>
            <a:r>
              <a:rPr lang="en-US" sz="1700" b="1" dirty="0">
                <a:solidFill>
                  <a:srgbClr val="F87171"/>
                </a:solidFill>
                <a:latin typeface="Cambria" pitchFamily="34" charset="0"/>
                <a:ea typeface="Cambria" pitchFamily="34" charset="-122"/>
                <a:cs typeface="Cambria" pitchFamily="34" charset="-120"/>
              </a:rPr>
              <a:t>Cost</a:t>
            </a:r>
            <a:pPr algn="ctr" indent="0" marL="0">
              <a:buNone/>
            </a:pPr>
            <a:r>
              <a:rPr lang="en-US" sz="1700" dirty="0">
                <a:solidFill>
                  <a:srgbClr val="F87171"/>
                </a:solidFill>
                <a:latin typeface="Cambria" pitchFamily="34" charset="0"/>
                <a:ea typeface="Cambria" pitchFamily="34" charset="-122"/>
                <a:cs typeface="Cambria" pitchFamily="34" charset="-120"/>
              </a:rPr>
              <a:t>caching</a:t>
            </a:r>
            <a:endParaRPr lang="en-US" sz="1700" dirty="0"/>
          </a:p>
        </p:txBody>
      </p:sp>
      <p:sp>
        <p:nvSpPr>
          <p:cNvPr id="6" name="Text 4"/>
          <p:cNvSpPr/>
          <p:nvPr/>
        </p:nvSpPr>
        <p:spPr>
          <a:xfrm>
            <a:off x="640080" y="2606040"/>
            <a:ext cx="5120640" cy="365760"/>
          </a:xfrm>
          <a:prstGeom prst="rect">
            <a:avLst/>
          </a:prstGeom>
          <a:noFill/>
          <a:ln/>
        </p:spPr>
        <p:txBody>
          <a:bodyPr wrap="square" rtlCol="0" anchor="ctr"/>
          <a:lstStyle/>
          <a:p>
            <a:pPr indent="0" marL="0">
              <a:buNone/>
            </a:pPr>
            <a:r>
              <a:rPr lang="en-US" sz="1400" b="1" dirty="0">
                <a:solidFill>
                  <a:srgbClr val="059669"/>
                </a:solidFill>
                <a:latin typeface="Arial" pitchFamily="34" charset="0"/>
                <a:ea typeface="Arial" pitchFamily="34" charset="-122"/>
                <a:cs typeface="Arial" pitchFamily="34" charset="-120"/>
              </a:rPr>
              <a:t>효과적인 일 (처리량에 기여)</a:t>
            </a:r>
            <a:endParaRPr lang="en-US" sz="1400" dirty="0"/>
          </a:p>
        </p:txBody>
      </p:sp>
      <p:sp>
        <p:nvSpPr>
          <p:cNvPr id="7" name="Shape 5"/>
          <p:cNvSpPr/>
          <p:nvPr/>
        </p:nvSpPr>
        <p:spPr>
          <a:xfrm>
            <a:off x="640080" y="3017520"/>
            <a:ext cx="5074920" cy="1234440"/>
          </a:xfrm>
          <a:prstGeom prst="roundRect">
            <a:avLst>
              <a:gd name="adj" fmla="val 6667"/>
            </a:avLst>
          </a:prstGeom>
          <a:solidFill>
            <a:srgbClr val="D9F2E6"/>
          </a:solidFill>
          <a:ln/>
        </p:spPr>
      </p:sp>
      <p:sp>
        <p:nvSpPr>
          <p:cNvPr id="8" name="Shape 6"/>
          <p:cNvSpPr/>
          <p:nvPr/>
        </p:nvSpPr>
        <p:spPr>
          <a:xfrm>
            <a:off x="868680" y="3291840"/>
            <a:ext cx="658368" cy="658368"/>
          </a:xfrm>
          <a:prstGeom prst="ellipse">
            <a:avLst/>
          </a:prstGeom>
          <a:solidFill>
            <a:srgbClr val="059669"/>
          </a:solidFill>
          <a:ln/>
        </p:spPr>
      </p:sp>
      <p:pic>
        <p:nvPicPr>
          <p:cNvPr id="9" name="Image 0" descr="preencoded.png">    </p:cNvPr>
          <p:cNvPicPr>
            <a:picLocks noChangeAspect="1"/>
          </p:cNvPicPr>
          <p:nvPr/>
        </p:nvPicPr>
        <p:blipFill>
          <a:blip r:embed="rId1"/>
          <a:stretch>
            <a:fillRect/>
          </a:stretch>
        </p:blipFill>
        <p:spPr>
          <a:xfrm>
            <a:off x="1039856" y="3463016"/>
            <a:ext cx="316017" cy="316017"/>
          </a:xfrm>
          <a:prstGeom prst="rect">
            <a:avLst/>
          </a:prstGeom>
        </p:spPr>
      </p:pic>
      <p:sp>
        <p:nvSpPr>
          <p:cNvPr id="10" name="Text 7"/>
          <p:cNvSpPr/>
          <p:nvPr/>
        </p:nvSpPr>
        <p:spPr>
          <a:xfrm>
            <a:off x="1691640" y="3218688"/>
            <a:ext cx="3840480" cy="411480"/>
          </a:xfrm>
          <a:prstGeom prst="rect">
            <a:avLst/>
          </a:prstGeom>
          <a:noFill/>
          <a:ln/>
        </p:spPr>
        <p:txBody>
          <a:bodyPr wrap="square" rtlCol="0" anchor="ctr"/>
          <a:lstStyle/>
          <a:p>
            <a:pPr indent="0" marL="0">
              <a:buNone/>
            </a:pPr>
            <a:r>
              <a:rPr lang="en-US" sz="1550" b="1" dirty="0">
                <a:solidFill>
                  <a:srgbClr val="1E293B"/>
                </a:solidFill>
                <a:latin typeface="Arial" pitchFamily="34" charset="0"/>
                <a:ea typeface="Arial" pitchFamily="34" charset="-122"/>
                <a:cs typeface="Arial" pitchFamily="34" charset="-120"/>
              </a:rPr>
              <a:t>Cost decode</a:t>
            </a:r>
            <a:endParaRPr lang="en-US" sz="1550" dirty="0"/>
          </a:p>
        </p:txBody>
      </p:sp>
      <p:sp>
        <p:nvSpPr>
          <p:cNvPr id="11" name="Text 8"/>
          <p:cNvSpPr/>
          <p:nvPr/>
        </p:nvSpPr>
        <p:spPr>
          <a:xfrm>
            <a:off x="1691640" y="3639312"/>
            <a:ext cx="3840480" cy="502920"/>
          </a:xfrm>
          <a:prstGeom prst="rect">
            <a:avLst/>
          </a:prstGeom>
          <a:noFill/>
          <a:ln/>
        </p:spPr>
        <p:txBody>
          <a:bodyPr wrap="square" rtlCol="0" anchor="ctr"/>
          <a:lstStyle/>
          <a:p>
            <a:pPr indent="0" marL="0">
              <a:lnSpc>
                <a:spcPct val="110000"/>
              </a:lnSpc>
              <a:buNone/>
            </a:pPr>
            <a:r>
              <a:rPr lang="en-US" sz="1250" dirty="0">
                <a:solidFill>
                  <a:srgbClr val="334155"/>
                </a:solidFill>
                <a:latin typeface="Arial" pitchFamily="34" charset="0"/>
                <a:ea typeface="Arial" pitchFamily="34" charset="-122"/>
                <a:cs typeface="Arial" pitchFamily="34" charset="-120"/>
              </a:rPr>
              <a:t>실제 토큰 생성(디코딩)에 쓰인 비용</a:t>
            </a:r>
            <a:endParaRPr lang="en-US" sz="1250" dirty="0"/>
          </a:p>
        </p:txBody>
      </p:sp>
      <p:sp>
        <p:nvSpPr>
          <p:cNvPr id="12" name="Shape 9"/>
          <p:cNvSpPr/>
          <p:nvPr/>
        </p:nvSpPr>
        <p:spPr>
          <a:xfrm>
            <a:off x="640080" y="4389120"/>
            <a:ext cx="5074920" cy="1234440"/>
          </a:xfrm>
          <a:prstGeom prst="roundRect">
            <a:avLst>
              <a:gd name="adj" fmla="val 6667"/>
            </a:avLst>
          </a:prstGeom>
          <a:solidFill>
            <a:srgbClr val="D9F2E6"/>
          </a:solidFill>
          <a:ln/>
        </p:spPr>
      </p:sp>
      <p:sp>
        <p:nvSpPr>
          <p:cNvPr id="13" name="Shape 10"/>
          <p:cNvSpPr/>
          <p:nvPr/>
        </p:nvSpPr>
        <p:spPr>
          <a:xfrm>
            <a:off x="868680" y="4663440"/>
            <a:ext cx="658368" cy="658368"/>
          </a:xfrm>
          <a:prstGeom prst="ellipse">
            <a:avLst/>
          </a:prstGeom>
          <a:solidFill>
            <a:srgbClr val="059669"/>
          </a:solidFill>
          <a:ln/>
        </p:spPr>
      </p:sp>
      <p:pic>
        <p:nvPicPr>
          <p:cNvPr id="14" name="Image 1" descr="preencoded.png">    </p:cNvPr>
          <p:cNvPicPr>
            <a:picLocks noChangeAspect="1"/>
          </p:cNvPicPr>
          <p:nvPr/>
        </p:nvPicPr>
        <p:blipFill>
          <a:blip r:embed="rId2"/>
          <a:stretch>
            <a:fillRect/>
          </a:stretch>
        </p:blipFill>
        <p:spPr>
          <a:xfrm>
            <a:off x="1039856" y="4834616"/>
            <a:ext cx="316017" cy="316017"/>
          </a:xfrm>
          <a:prstGeom prst="rect">
            <a:avLst/>
          </a:prstGeom>
        </p:spPr>
      </p:pic>
      <p:sp>
        <p:nvSpPr>
          <p:cNvPr id="15" name="Text 11"/>
          <p:cNvSpPr/>
          <p:nvPr/>
        </p:nvSpPr>
        <p:spPr>
          <a:xfrm>
            <a:off x="1691640" y="4590288"/>
            <a:ext cx="3840480" cy="411480"/>
          </a:xfrm>
          <a:prstGeom prst="rect">
            <a:avLst/>
          </a:prstGeom>
          <a:noFill/>
          <a:ln/>
        </p:spPr>
        <p:txBody>
          <a:bodyPr wrap="square" rtlCol="0" anchor="ctr"/>
          <a:lstStyle/>
          <a:p>
            <a:pPr indent="0" marL="0">
              <a:buNone/>
            </a:pPr>
            <a:r>
              <a:rPr lang="en-US" sz="1550" b="1" dirty="0">
                <a:solidFill>
                  <a:srgbClr val="1E293B"/>
                </a:solidFill>
                <a:latin typeface="Arial" pitchFamily="34" charset="0"/>
                <a:ea typeface="Arial" pitchFamily="34" charset="-122"/>
                <a:cs typeface="Arial" pitchFamily="34" charset="-120"/>
              </a:rPr>
              <a:t>Cost prefill</a:t>
            </a:r>
            <a:endParaRPr lang="en-US" sz="1550" dirty="0"/>
          </a:p>
        </p:txBody>
      </p:sp>
      <p:sp>
        <p:nvSpPr>
          <p:cNvPr id="16" name="Text 12"/>
          <p:cNvSpPr/>
          <p:nvPr/>
        </p:nvSpPr>
        <p:spPr>
          <a:xfrm>
            <a:off x="1691640" y="5010912"/>
            <a:ext cx="3840480" cy="502920"/>
          </a:xfrm>
          <a:prstGeom prst="rect">
            <a:avLst/>
          </a:prstGeom>
          <a:noFill/>
          <a:ln/>
        </p:spPr>
        <p:txBody>
          <a:bodyPr wrap="square" rtlCol="0" anchor="ctr"/>
          <a:lstStyle/>
          <a:p>
            <a:pPr indent="0" marL="0">
              <a:lnSpc>
                <a:spcPct val="110000"/>
              </a:lnSpc>
              <a:buNone/>
            </a:pPr>
            <a:r>
              <a:rPr lang="en-US" sz="1250" dirty="0">
                <a:solidFill>
                  <a:srgbClr val="334155"/>
                </a:solidFill>
                <a:latin typeface="Arial" pitchFamily="34" charset="0"/>
                <a:ea typeface="Arial" pitchFamily="34" charset="-122"/>
                <a:cs typeface="Arial" pitchFamily="34" charset="-120"/>
              </a:rPr>
              <a:t>입력·툴 결과를 처음 처리하는 비용</a:t>
            </a:r>
            <a:endParaRPr lang="en-US" sz="1250" dirty="0"/>
          </a:p>
        </p:txBody>
      </p:sp>
      <p:sp>
        <p:nvSpPr>
          <p:cNvPr id="17" name="Text 13"/>
          <p:cNvSpPr/>
          <p:nvPr/>
        </p:nvSpPr>
        <p:spPr>
          <a:xfrm>
            <a:off x="6309360" y="2606040"/>
            <a:ext cx="5212080" cy="36576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낭비 (스케줄러가 줄여야 할 대상)</a:t>
            </a:r>
            <a:endParaRPr lang="en-US" sz="1400" dirty="0"/>
          </a:p>
        </p:txBody>
      </p:sp>
      <p:sp>
        <p:nvSpPr>
          <p:cNvPr id="18" name="Shape 14"/>
          <p:cNvSpPr/>
          <p:nvPr/>
        </p:nvSpPr>
        <p:spPr>
          <a:xfrm>
            <a:off x="6309360" y="3017520"/>
            <a:ext cx="5212080" cy="822960"/>
          </a:xfrm>
          <a:prstGeom prst="roundRect">
            <a:avLst>
              <a:gd name="adj" fmla="val 8889"/>
            </a:avLst>
          </a:prstGeom>
          <a:solidFill>
            <a:srgbClr val="FCE1E1"/>
          </a:solidFill>
          <a:ln/>
        </p:spPr>
      </p:sp>
      <p:sp>
        <p:nvSpPr>
          <p:cNvPr id="19" name="Shape 15"/>
          <p:cNvSpPr/>
          <p:nvPr/>
        </p:nvSpPr>
        <p:spPr>
          <a:xfrm>
            <a:off x="6492240" y="3191256"/>
            <a:ext cx="475488" cy="475488"/>
          </a:xfrm>
          <a:prstGeom prst="ellipse">
            <a:avLst/>
          </a:prstGeom>
          <a:solidFill>
            <a:srgbClr val="DC2626"/>
          </a:solidFill>
          <a:ln/>
        </p:spPr>
      </p:sp>
      <p:pic>
        <p:nvPicPr>
          <p:cNvPr id="20" name="Image 2" descr="preencoded.png">    </p:cNvPr>
          <p:cNvPicPr>
            <a:picLocks noChangeAspect="1"/>
          </p:cNvPicPr>
          <p:nvPr/>
        </p:nvPicPr>
        <p:blipFill>
          <a:blip r:embed="rId3"/>
          <a:stretch>
            <a:fillRect/>
          </a:stretch>
        </p:blipFill>
        <p:spPr>
          <a:xfrm>
            <a:off x="6615867" y="3314883"/>
            <a:ext cx="228234" cy="228234"/>
          </a:xfrm>
          <a:prstGeom prst="rect">
            <a:avLst/>
          </a:prstGeom>
        </p:spPr>
      </p:pic>
      <p:sp>
        <p:nvSpPr>
          <p:cNvPr id="21" name="Text 16"/>
          <p:cNvSpPr/>
          <p:nvPr/>
        </p:nvSpPr>
        <p:spPr>
          <a:xfrm>
            <a:off x="7114032" y="3118104"/>
            <a:ext cx="4297680" cy="347472"/>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Cost recompute</a:t>
            </a:r>
            <a:endParaRPr lang="en-US" sz="1400" dirty="0"/>
          </a:p>
        </p:txBody>
      </p:sp>
      <p:sp>
        <p:nvSpPr>
          <p:cNvPr id="22" name="Text 17"/>
          <p:cNvSpPr/>
          <p:nvPr/>
        </p:nvSpPr>
        <p:spPr>
          <a:xfrm>
            <a:off x="7114032" y="3438144"/>
            <a:ext cx="4297680" cy="36576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KV 캐시가 쫓겨나 전체 히스토리를 재계산 (스래싱, §3.1)</a:t>
            </a:r>
            <a:endParaRPr lang="en-US" sz="1100" dirty="0"/>
          </a:p>
        </p:txBody>
      </p:sp>
      <p:sp>
        <p:nvSpPr>
          <p:cNvPr id="23" name="Shape 18"/>
          <p:cNvSpPr/>
          <p:nvPr/>
        </p:nvSpPr>
        <p:spPr>
          <a:xfrm>
            <a:off x="6309360" y="3950208"/>
            <a:ext cx="5212080" cy="822960"/>
          </a:xfrm>
          <a:prstGeom prst="roundRect">
            <a:avLst>
              <a:gd name="adj" fmla="val 8889"/>
            </a:avLst>
          </a:prstGeom>
          <a:solidFill>
            <a:srgbClr val="FCE1E1"/>
          </a:solidFill>
          <a:ln/>
        </p:spPr>
      </p:sp>
      <p:sp>
        <p:nvSpPr>
          <p:cNvPr id="24" name="Shape 19"/>
          <p:cNvSpPr/>
          <p:nvPr/>
        </p:nvSpPr>
        <p:spPr>
          <a:xfrm>
            <a:off x="6492240" y="4123944"/>
            <a:ext cx="475488" cy="475488"/>
          </a:xfrm>
          <a:prstGeom prst="ellipse">
            <a:avLst/>
          </a:prstGeom>
          <a:solidFill>
            <a:srgbClr val="DC2626"/>
          </a:solidFill>
          <a:ln/>
        </p:spPr>
      </p:sp>
      <p:pic>
        <p:nvPicPr>
          <p:cNvPr id="25" name="Image 3" descr="preencoded.png">    </p:cNvPr>
          <p:cNvPicPr>
            <a:picLocks noChangeAspect="1"/>
          </p:cNvPicPr>
          <p:nvPr/>
        </p:nvPicPr>
        <p:blipFill>
          <a:blip r:embed="rId4"/>
          <a:stretch>
            <a:fillRect/>
          </a:stretch>
        </p:blipFill>
        <p:spPr>
          <a:xfrm>
            <a:off x="6615867" y="4247571"/>
            <a:ext cx="228234" cy="228234"/>
          </a:xfrm>
          <a:prstGeom prst="rect">
            <a:avLst/>
          </a:prstGeom>
        </p:spPr>
      </p:pic>
      <p:sp>
        <p:nvSpPr>
          <p:cNvPr id="26" name="Text 20"/>
          <p:cNvSpPr/>
          <p:nvPr/>
        </p:nvSpPr>
        <p:spPr>
          <a:xfrm>
            <a:off x="7114032" y="4050792"/>
            <a:ext cx="4297680" cy="347472"/>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Cost unused</a:t>
            </a:r>
            <a:endParaRPr lang="en-US" sz="1400" dirty="0"/>
          </a:p>
        </p:txBody>
      </p:sp>
      <p:sp>
        <p:nvSpPr>
          <p:cNvPr id="27" name="Text 21"/>
          <p:cNvSpPr/>
          <p:nvPr/>
        </p:nvSpPr>
        <p:spPr>
          <a:xfrm>
            <a:off x="7114032" y="4370832"/>
            <a:ext cx="4297680" cy="36576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노드 간 메모리 불균형으로 놀고 있는 용량 (§3.2)</a:t>
            </a:r>
            <a:endParaRPr lang="en-US" sz="1100" dirty="0"/>
          </a:p>
        </p:txBody>
      </p:sp>
      <p:sp>
        <p:nvSpPr>
          <p:cNvPr id="28" name="Shape 22"/>
          <p:cNvSpPr/>
          <p:nvPr/>
        </p:nvSpPr>
        <p:spPr>
          <a:xfrm>
            <a:off x="6309360" y="4882896"/>
            <a:ext cx="5212080" cy="822960"/>
          </a:xfrm>
          <a:prstGeom prst="roundRect">
            <a:avLst>
              <a:gd name="adj" fmla="val 8889"/>
            </a:avLst>
          </a:prstGeom>
          <a:solidFill>
            <a:srgbClr val="FCE1E1"/>
          </a:solidFill>
          <a:ln/>
        </p:spPr>
      </p:sp>
      <p:sp>
        <p:nvSpPr>
          <p:cNvPr id="29" name="Shape 23"/>
          <p:cNvSpPr/>
          <p:nvPr/>
        </p:nvSpPr>
        <p:spPr>
          <a:xfrm>
            <a:off x="6492240" y="5056632"/>
            <a:ext cx="475488" cy="475488"/>
          </a:xfrm>
          <a:prstGeom prst="ellipse">
            <a:avLst/>
          </a:prstGeom>
          <a:solidFill>
            <a:srgbClr val="DC2626"/>
          </a:solidFill>
          <a:ln/>
        </p:spPr>
      </p:sp>
      <p:pic>
        <p:nvPicPr>
          <p:cNvPr id="30" name="Image 4" descr="preencoded.png">    </p:cNvPr>
          <p:cNvPicPr>
            <a:picLocks noChangeAspect="1"/>
          </p:cNvPicPr>
          <p:nvPr/>
        </p:nvPicPr>
        <p:blipFill>
          <a:blip r:embed="rId5"/>
          <a:stretch>
            <a:fillRect/>
          </a:stretch>
        </p:blipFill>
        <p:spPr>
          <a:xfrm>
            <a:off x="6615867" y="5180259"/>
            <a:ext cx="228234" cy="228234"/>
          </a:xfrm>
          <a:prstGeom prst="rect">
            <a:avLst/>
          </a:prstGeom>
        </p:spPr>
      </p:pic>
      <p:sp>
        <p:nvSpPr>
          <p:cNvPr id="31" name="Text 24"/>
          <p:cNvSpPr/>
          <p:nvPr/>
        </p:nvSpPr>
        <p:spPr>
          <a:xfrm>
            <a:off x="7114032" y="4983480"/>
            <a:ext cx="4297680" cy="347472"/>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Cost caching</a:t>
            </a:r>
            <a:endParaRPr lang="en-US" sz="1400" dirty="0"/>
          </a:p>
        </p:txBody>
      </p:sp>
      <p:sp>
        <p:nvSpPr>
          <p:cNvPr id="32" name="Text 25"/>
          <p:cNvSpPr/>
          <p:nvPr/>
        </p:nvSpPr>
        <p:spPr>
          <a:xfrm>
            <a:off x="7114032" y="5303520"/>
            <a:ext cx="4297680" cy="36576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툴 실행 동안 메모리만 붙잡고 있는 유휴 캐싱 (§3.3)</a:t>
            </a:r>
            <a:endParaRPr lang="en-US" sz="1100" dirty="0"/>
          </a:p>
        </p:txBody>
      </p:sp>
      <p:sp>
        <p:nvSpPr>
          <p:cNvPr id="33" name="Text 26"/>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9"/>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4.3 · SCHEDULING POLICY</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목표: 세 가지 낭비를 최소화한다</a:t>
            </a:r>
            <a:endParaRPr lang="en-US" sz="3200" dirty="0"/>
          </a:p>
        </p:txBody>
      </p:sp>
      <p:sp>
        <p:nvSpPr>
          <p:cNvPr id="4" name="Shape 2"/>
          <p:cNvSpPr/>
          <p:nvPr/>
        </p:nvSpPr>
        <p:spPr>
          <a:xfrm>
            <a:off x="640080" y="2011680"/>
            <a:ext cx="3566160" cy="3657600"/>
          </a:xfrm>
          <a:prstGeom prst="roundRect">
            <a:avLst>
              <a:gd name="adj" fmla="val 2821"/>
            </a:avLst>
          </a:prstGeom>
          <a:solidFill>
            <a:srgbClr val="16233D"/>
          </a:solidFill>
          <a:ln w="16510">
            <a:solidFill>
              <a:srgbClr val="F5B301"/>
            </a:solidFill>
            <a:prstDash val="solid"/>
          </a:ln>
        </p:spPr>
      </p:sp>
      <p:sp>
        <p:nvSpPr>
          <p:cNvPr id="5" name="Shape 3"/>
          <p:cNvSpPr/>
          <p:nvPr/>
        </p:nvSpPr>
        <p:spPr>
          <a:xfrm>
            <a:off x="960120" y="2377440"/>
            <a:ext cx="868680" cy="868680"/>
          </a:xfrm>
          <a:prstGeom prst="ellipse">
            <a:avLst/>
          </a:prstGeom>
          <a:solidFill>
            <a:srgbClr val="8A6400"/>
          </a:solidFill>
          <a:ln/>
        </p:spPr>
      </p:sp>
      <p:pic>
        <p:nvPicPr>
          <p:cNvPr id="6" name="Image 0" descr="preencoded.png">    </p:cNvPr>
          <p:cNvPicPr>
            <a:picLocks noChangeAspect="1"/>
          </p:cNvPicPr>
          <p:nvPr/>
        </p:nvPicPr>
        <p:blipFill>
          <a:blip r:embed="rId1"/>
          <a:stretch>
            <a:fillRect/>
          </a:stretch>
        </p:blipFill>
        <p:spPr>
          <a:xfrm>
            <a:off x="1185977" y="2603297"/>
            <a:ext cx="416966" cy="416966"/>
          </a:xfrm>
          <a:prstGeom prst="rect">
            <a:avLst/>
          </a:prstGeom>
        </p:spPr>
      </p:pic>
      <p:sp>
        <p:nvSpPr>
          <p:cNvPr id="7" name="Text 4"/>
          <p:cNvSpPr/>
          <p:nvPr/>
        </p:nvSpPr>
        <p:spPr>
          <a:xfrm>
            <a:off x="2057400" y="2468880"/>
            <a:ext cx="2011680" cy="32004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Cost</a:t>
            </a:r>
            <a:endParaRPr lang="en-US" sz="1300" dirty="0"/>
          </a:p>
        </p:txBody>
      </p:sp>
      <p:sp>
        <p:nvSpPr>
          <p:cNvPr id="8" name="Text 5"/>
          <p:cNvSpPr/>
          <p:nvPr/>
        </p:nvSpPr>
        <p:spPr>
          <a:xfrm>
            <a:off x="2057400" y="2743200"/>
            <a:ext cx="2011680" cy="457200"/>
          </a:xfrm>
          <a:prstGeom prst="rect">
            <a:avLst/>
          </a:prstGeom>
          <a:noFill/>
          <a:ln/>
        </p:spPr>
        <p:txBody>
          <a:bodyPr wrap="square" rtlCol="0" anchor="ctr"/>
          <a:lstStyle/>
          <a:p>
            <a:pPr indent="0" marL="0">
              <a:buNone/>
            </a:pPr>
            <a:r>
              <a:rPr lang="en-US" sz="2000" b="1" dirty="0">
                <a:solidFill>
                  <a:srgbClr val="F5B301"/>
                </a:solidFill>
                <a:latin typeface="Cambria" pitchFamily="34" charset="0"/>
                <a:ea typeface="Cambria" pitchFamily="34" charset="-122"/>
                <a:cs typeface="Cambria" pitchFamily="34" charset="-120"/>
              </a:rPr>
              <a:t>recompute</a:t>
            </a:r>
            <a:endParaRPr lang="en-US" sz="2000" dirty="0"/>
          </a:p>
        </p:txBody>
      </p:sp>
      <p:sp>
        <p:nvSpPr>
          <p:cNvPr id="9" name="Text 6"/>
          <p:cNvSpPr/>
          <p:nvPr/>
        </p:nvSpPr>
        <p:spPr>
          <a:xfrm>
            <a:off x="960120" y="3474720"/>
            <a:ext cx="301752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재계산 비용</a:t>
            </a:r>
            <a:endParaRPr lang="en-US" sz="1800" dirty="0"/>
          </a:p>
        </p:txBody>
      </p:sp>
      <p:sp>
        <p:nvSpPr>
          <p:cNvPr id="10" name="Text 7"/>
          <p:cNvSpPr/>
          <p:nvPr/>
        </p:nvSpPr>
        <p:spPr>
          <a:xfrm>
            <a:off x="960120" y="3977640"/>
            <a:ext cx="3017520" cy="685800"/>
          </a:xfrm>
          <a:prstGeom prst="rect">
            <a:avLst/>
          </a:prstGeom>
          <a:noFill/>
          <a:ln/>
        </p:spPr>
        <p:txBody>
          <a:bodyPr wrap="square" rtlCol="0" anchor="ctr"/>
          <a:lstStyle/>
          <a:p>
            <a:pPr indent="0" marL="0">
              <a:lnSpc>
                <a:spcPct val="115000"/>
              </a:lnSpc>
              <a:buNone/>
            </a:pPr>
            <a:r>
              <a:rPr lang="en-US" sz="1350" dirty="0">
                <a:solidFill>
                  <a:srgbClr val="CBD5E1"/>
                </a:solidFill>
                <a:latin typeface="Arial" pitchFamily="34" charset="0"/>
                <a:ea typeface="Arial" pitchFamily="34" charset="-122"/>
                <a:cs typeface="Arial" pitchFamily="34" charset="-120"/>
              </a:rPr>
              <a:t>스래싱을 막아 재-prefill 제거</a:t>
            </a:r>
            <a:endParaRPr lang="en-US" sz="1350" dirty="0"/>
          </a:p>
        </p:txBody>
      </p:sp>
      <p:sp>
        <p:nvSpPr>
          <p:cNvPr id="11" name="Shape 8"/>
          <p:cNvSpPr/>
          <p:nvPr/>
        </p:nvSpPr>
        <p:spPr>
          <a:xfrm>
            <a:off x="960120" y="4800600"/>
            <a:ext cx="2926080" cy="640080"/>
          </a:xfrm>
          <a:prstGeom prst="roundRect">
            <a:avLst>
              <a:gd name="adj" fmla="val 8571"/>
            </a:avLst>
          </a:prstGeom>
          <a:solidFill>
            <a:srgbClr val="0E1729"/>
          </a:solidFill>
          <a:ln/>
        </p:spPr>
      </p:sp>
      <p:sp>
        <p:nvSpPr>
          <p:cNvPr id="12" name="Text 9"/>
          <p:cNvSpPr/>
          <p:nvPr/>
        </p:nvSpPr>
        <p:spPr>
          <a:xfrm>
            <a:off x="1097280" y="4800600"/>
            <a:ext cx="2651760" cy="640080"/>
          </a:xfrm>
          <a:prstGeom prst="rect">
            <a:avLst/>
          </a:prstGeom>
          <a:noFill/>
          <a:ln/>
        </p:spPr>
        <p:txBody>
          <a:bodyPr wrap="square" rtlCol="0" anchor="ctr"/>
          <a:lstStyle/>
          <a:p>
            <a:pPr algn="ctr" indent="0" marL="0">
              <a:lnSpc>
                <a:spcPct val="110000"/>
              </a:lnSpc>
              <a:buNone/>
            </a:pPr>
            <a:r>
              <a:rPr lang="en-US" sz="1150" b="1" dirty="0">
                <a:solidFill>
                  <a:srgbClr val="F5B301"/>
                </a:solidFill>
                <a:latin typeface="Arial" pitchFamily="34" charset="0"/>
                <a:ea typeface="Arial" pitchFamily="34" charset="-122"/>
                <a:cs typeface="Arial" pitchFamily="34" charset="-120"/>
              </a:rPr>
              <a:t>4.3.1  대기 큐 + 주기 감시 + 시간감쇠</a:t>
            </a:r>
            <a:endParaRPr lang="en-US" sz="1150" dirty="0"/>
          </a:p>
        </p:txBody>
      </p:sp>
      <p:sp>
        <p:nvSpPr>
          <p:cNvPr id="13" name="Shape 10"/>
          <p:cNvSpPr/>
          <p:nvPr/>
        </p:nvSpPr>
        <p:spPr>
          <a:xfrm>
            <a:off x="4480560" y="2011680"/>
            <a:ext cx="3566160" cy="3657600"/>
          </a:xfrm>
          <a:prstGeom prst="roundRect">
            <a:avLst>
              <a:gd name="adj" fmla="val 2821"/>
            </a:avLst>
          </a:prstGeom>
          <a:solidFill>
            <a:srgbClr val="16233D"/>
          </a:solidFill>
          <a:ln w="16510">
            <a:solidFill>
              <a:srgbClr val="2DD4BF"/>
            </a:solidFill>
            <a:prstDash val="solid"/>
          </a:ln>
        </p:spPr>
      </p:sp>
      <p:sp>
        <p:nvSpPr>
          <p:cNvPr id="14" name="Shape 11"/>
          <p:cNvSpPr/>
          <p:nvPr/>
        </p:nvSpPr>
        <p:spPr>
          <a:xfrm>
            <a:off x="4800600" y="2377440"/>
            <a:ext cx="868680" cy="868680"/>
          </a:xfrm>
          <a:prstGeom prst="ellipse">
            <a:avLst/>
          </a:prstGeom>
          <a:solidFill>
            <a:srgbClr val="0D9488"/>
          </a:solidFill>
          <a:ln/>
        </p:spPr>
      </p:sp>
      <p:pic>
        <p:nvPicPr>
          <p:cNvPr id="15" name="Image 1" descr="preencoded.png">    </p:cNvPr>
          <p:cNvPicPr>
            <a:picLocks noChangeAspect="1"/>
          </p:cNvPicPr>
          <p:nvPr/>
        </p:nvPicPr>
        <p:blipFill>
          <a:blip r:embed="rId2"/>
          <a:stretch>
            <a:fillRect/>
          </a:stretch>
        </p:blipFill>
        <p:spPr>
          <a:xfrm>
            <a:off x="5026457" y="2603297"/>
            <a:ext cx="416966" cy="416966"/>
          </a:xfrm>
          <a:prstGeom prst="rect">
            <a:avLst/>
          </a:prstGeom>
        </p:spPr>
      </p:pic>
      <p:sp>
        <p:nvSpPr>
          <p:cNvPr id="16" name="Text 12"/>
          <p:cNvSpPr/>
          <p:nvPr/>
        </p:nvSpPr>
        <p:spPr>
          <a:xfrm>
            <a:off x="5897880" y="2468880"/>
            <a:ext cx="2011680" cy="32004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Cost</a:t>
            </a:r>
            <a:endParaRPr lang="en-US" sz="1300" dirty="0"/>
          </a:p>
        </p:txBody>
      </p:sp>
      <p:sp>
        <p:nvSpPr>
          <p:cNvPr id="17" name="Text 13"/>
          <p:cNvSpPr/>
          <p:nvPr/>
        </p:nvSpPr>
        <p:spPr>
          <a:xfrm>
            <a:off x="5897880" y="2743200"/>
            <a:ext cx="2011680" cy="457200"/>
          </a:xfrm>
          <a:prstGeom prst="rect">
            <a:avLst/>
          </a:prstGeom>
          <a:noFill/>
          <a:ln/>
        </p:spPr>
        <p:txBody>
          <a:bodyPr wrap="square" rtlCol="0" anchor="ctr"/>
          <a:lstStyle/>
          <a:p>
            <a:pPr indent="0" marL="0">
              <a:buNone/>
            </a:pPr>
            <a:r>
              <a:rPr lang="en-US" sz="2000" b="1" dirty="0">
                <a:solidFill>
                  <a:srgbClr val="2DD4BF"/>
                </a:solidFill>
                <a:latin typeface="Cambria" pitchFamily="34" charset="0"/>
                <a:ea typeface="Cambria" pitchFamily="34" charset="-122"/>
                <a:cs typeface="Cambria" pitchFamily="34" charset="-120"/>
              </a:rPr>
              <a:t>unused</a:t>
            </a:r>
            <a:endParaRPr lang="en-US" sz="2000" dirty="0"/>
          </a:p>
        </p:txBody>
      </p:sp>
      <p:sp>
        <p:nvSpPr>
          <p:cNvPr id="18" name="Text 14"/>
          <p:cNvSpPr/>
          <p:nvPr/>
        </p:nvSpPr>
        <p:spPr>
          <a:xfrm>
            <a:off x="4800600" y="3474720"/>
            <a:ext cx="301752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유휴 용량 비용</a:t>
            </a:r>
            <a:endParaRPr lang="en-US" sz="1800" dirty="0"/>
          </a:p>
        </p:txBody>
      </p:sp>
      <p:sp>
        <p:nvSpPr>
          <p:cNvPr id="19" name="Text 15"/>
          <p:cNvSpPr/>
          <p:nvPr/>
        </p:nvSpPr>
        <p:spPr>
          <a:xfrm>
            <a:off x="4800600" y="3977640"/>
            <a:ext cx="3017520" cy="685800"/>
          </a:xfrm>
          <a:prstGeom prst="rect">
            <a:avLst/>
          </a:prstGeom>
          <a:noFill/>
          <a:ln/>
        </p:spPr>
        <p:txBody>
          <a:bodyPr wrap="square" rtlCol="0" anchor="ctr"/>
          <a:lstStyle/>
          <a:p>
            <a:pPr indent="0" marL="0">
              <a:lnSpc>
                <a:spcPct val="115000"/>
              </a:lnSpc>
              <a:buNone/>
            </a:pPr>
            <a:r>
              <a:rPr lang="en-US" sz="1350" dirty="0">
                <a:solidFill>
                  <a:srgbClr val="CBD5E1"/>
                </a:solidFill>
                <a:latin typeface="Arial" pitchFamily="34" charset="0"/>
                <a:ea typeface="Arial" pitchFamily="34" charset="-122"/>
                <a:cs typeface="Arial" pitchFamily="34" charset="-120"/>
              </a:rPr>
              <a:t>노드 불균형 해소</a:t>
            </a:r>
            <a:endParaRPr lang="en-US" sz="1350" dirty="0"/>
          </a:p>
        </p:txBody>
      </p:sp>
      <p:sp>
        <p:nvSpPr>
          <p:cNvPr id="20" name="Shape 16"/>
          <p:cNvSpPr/>
          <p:nvPr/>
        </p:nvSpPr>
        <p:spPr>
          <a:xfrm>
            <a:off x="4800600" y="4800600"/>
            <a:ext cx="2926080" cy="640080"/>
          </a:xfrm>
          <a:prstGeom prst="roundRect">
            <a:avLst>
              <a:gd name="adj" fmla="val 8571"/>
            </a:avLst>
          </a:prstGeom>
          <a:solidFill>
            <a:srgbClr val="0E1729"/>
          </a:solidFill>
          <a:ln/>
        </p:spPr>
      </p:sp>
      <p:sp>
        <p:nvSpPr>
          <p:cNvPr id="21" name="Text 17"/>
          <p:cNvSpPr/>
          <p:nvPr/>
        </p:nvSpPr>
        <p:spPr>
          <a:xfrm>
            <a:off x="4937760" y="4800600"/>
            <a:ext cx="2651760" cy="640080"/>
          </a:xfrm>
          <a:prstGeom prst="rect">
            <a:avLst/>
          </a:prstGeom>
          <a:noFill/>
          <a:ln/>
        </p:spPr>
        <p:txBody>
          <a:bodyPr wrap="square" rtlCol="0" anchor="ctr"/>
          <a:lstStyle/>
          <a:p>
            <a:pPr algn="ctr" indent="0" marL="0">
              <a:lnSpc>
                <a:spcPct val="110000"/>
              </a:lnSpc>
              <a:buNone/>
            </a:pPr>
            <a:r>
              <a:rPr lang="en-US" sz="1150" b="1" dirty="0">
                <a:solidFill>
                  <a:srgbClr val="2DD4BF"/>
                </a:solidFill>
                <a:latin typeface="Arial" pitchFamily="34" charset="0"/>
                <a:ea typeface="Arial" pitchFamily="34" charset="-122"/>
                <a:cs typeface="Arial" pitchFamily="34" charset="-120"/>
              </a:rPr>
              <a:t>4.3.2  전역 프로그램 대기 큐</a:t>
            </a:r>
            <a:endParaRPr lang="en-US" sz="1150" dirty="0"/>
          </a:p>
        </p:txBody>
      </p:sp>
      <p:sp>
        <p:nvSpPr>
          <p:cNvPr id="22" name="Shape 18"/>
          <p:cNvSpPr/>
          <p:nvPr/>
        </p:nvSpPr>
        <p:spPr>
          <a:xfrm>
            <a:off x="8321040" y="2011680"/>
            <a:ext cx="3566160" cy="3657600"/>
          </a:xfrm>
          <a:prstGeom prst="roundRect">
            <a:avLst>
              <a:gd name="adj" fmla="val 2821"/>
            </a:avLst>
          </a:prstGeom>
          <a:solidFill>
            <a:srgbClr val="16233D"/>
          </a:solidFill>
          <a:ln w="16510">
            <a:solidFill>
              <a:srgbClr val="F5B301"/>
            </a:solidFill>
            <a:prstDash val="solid"/>
          </a:ln>
        </p:spPr>
      </p:sp>
      <p:sp>
        <p:nvSpPr>
          <p:cNvPr id="23" name="Shape 19"/>
          <p:cNvSpPr/>
          <p:nvPr/>
        </p:nvSpPr>
        <p:spPr>
          <a:xfrm>
            <a:off x="8641080" y="2377440"/>
            <a:ext cx="868680" cy="868680"/>
          </a:xfrm>
          <a:prstGeom prst="ellipse">
            <a:avLst/>
          </a:prstGeom>
          <a:solidFill>
            <a:srgbClr val="8A6400"/>
          </a:solidFill>
          <a:ln/>
        </p:spPr>
      </p:sp>
      <p:pic>
        <p:nvPicPr>
          <p:cNvPr id="24" name="Image 2" descr="preencoded.png">    </p:cNvPr>
          <p:cNvPicPr>
            <a:picLocks noChangeAspect="1"/>
          </p:cNvPicPr>
          <p:nvPr/>
        </p:nvPicPr>
        <p:blipFill>
          <a:blip r:embed="rId3"/>
          <a:stretch>
            <a:fillRect/>
          </a:stretch>
        </p:blipFill>
        <p:spPr>
          <a:xfrm>
            <a:off x="8866937" y="2603297"/>
            <a:ext cx="416966" cy="416966"/>
          </a:xfrm>
          <a:prstGeom prst="rect">
            <a:avLst/>
          </a:prstGeom>
        </p:spPr>
      </p:pic>
      <p:sp>
        <p:nvSpPr>
          <p:cNvPr id="25" name="Text 20"/>
          <p:cNvSpPr/>
          <p:nvPr/>
        </p:nvSpPr>
        <p:spPr>
          <a:xfrm>
            <a:off x="9738360" y="2468880"/>
            <a:ext cx="2011680" cy="32004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Cost</a:t>
            </a:r>
            <a:endParaRPr lang="en-US" sz="1300" dirty="0"/>
          </a:p>
        </p:txBody>
      </p:sp>
      <p:sp>
        <p:nvSpPr>
          <p:cNvPr id="26" name="Text 21"/>
          <p:cNvSpPr/>
          <p:nvPr/>
        </p:nvSpPr>
        <p:spPr>
          <a:xfrm>
            <a:off x="9738360" y="2743200"/>
            <a:ext cx="2011680" cy="457200"/>
          </a:xfrm>
          <a:prstGeom prst="rect">
            <a:avLst/>
          </a:prstGeom>
          <a:noFill/>
          <a:ln/>
        </p:spPr>
        <p:txBody>
          <a:bodyPr wrap="square" rtlCol="0" anchor="ctr"/>
          <a:lstStyle/>
          <a:p>
            <a:pPr indent="0" marL="0">
              <a:buNone/>
            </a:pPr>
            <a:r>
              <a:rPr lang="en-US" sz="2000" b="1" dirty="0">
                <a:solidFill>
                  <a:srgbClr val="F5B301"/>
                </a:solidFill>
                <a:latin typeface="Cambria" pitchFamily="34" charset="0"/>
                <a:ea typeface="Cambria" pitchFamily="34" charset="-122"/>
                <a:cs typeface="Cambria" pitchFamily="34" charset="-120"/>
              </a:rPr>
              <a:t>caching</a:t>
            </a:r>
            <a:endParaRPr lang="en-US" sz="2000" dirty="0"/>
          </a:p>
        </p:txBody>
      </p:sp>
      <p:sp>
        <p:nvSpPr>
          <p:cNvPr id="27" name="Text 22"/>
          <p:cNvSpPr/>
          <p:nvPr/>
        </p:nvSpPr>
        <p:spPr>
          <a:xfrm>
            <a:off x="8641080" y="3474720"/>
            <a:ext cx="301752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유휴 캐싱 비용</a:t>
            </a:r>
            <a:endParaRPr lang="en-US" sz="1800" dirty="0"/>
          </a:p>
        </p:txBody>
      </p:sp>
      <p:sp>
        <p:nvSpPr>
          <p:cNvPr id="28" name="Text 23"/>
          <p:cNvSpPr/>
          <p:nvPr/>
        </p:nvSpPr>
        <p:spPr>
          <a:xfrm>
            <a:off x="8641080" y="3977640"/>
            <a:ext cx="3017520" cy="685800"/>
          </a:xfrm>
          <a:prstGeom prst="rect">
            <a:avLst/>
          </a:prstGeom>
          <a:noFill/>
          <a:ln/>
        </p:spPr>
        <p:txBody>
          <a:bodyPr wrap="square" rtlCol="0" anchor="ctr"/>
          <a:lstStyle/>
          <a:p>
            <a:pPr indent="0" marL="0">
              <a:lnSpc>
                <a:spcPct val="115000"/>
              </a:lnSpc>
              <a:buNone/>
            </a:pPr>
            <a:r>
              <a:rPr lang="en-US" sz="1350" dirty="0">
                <a:solidFill>
                  <a:srgbClr val="CBD5E1"/>
                </a:solidFill>
                <a:latin typeface="Arial" pitchFamily="34" charset="0"/>
                <a:ea typeface="Arial" pitchFamily="34" charset="-122"/>
                <a:cs typeface="Arial" pitchFamily="34" charset="-120"/>
              </a:rPr>
              <a:t>툴 대기 중 잡은 메모리 회수</a:t>
            </a:r>
            <a:endParaRPr lang="en-US" sz="1350" dirty="0"/>
          </a:p>
        </p:txBody>
      </p:sp>
      <p:sp>
        <p:nvSpPr>
          <p:cNvPr id="29" name="Shape 24"/>
          <p:cNvSpPr/>
          <p:nvPr/>
        </p:nvSpPr>
        <p:spPr>
          <a:xfrm>
            <a:off x="8641080" y="4800600"/>
            <a:ext cx="2926080" cy="640080"/>
          </a:xfrm>
          <a:prstGeom prst="roundRect">
            <a:avLst>
              <a:gd name="adj" fmla="val 8571"/>
            </a:avLst>
          </a:prstGeom>
          <a:solidFill>
            <a:srgbClr val="0E1729"/>
          </a:solidFill>
          <a:ln/>
        </p:spPr>
      </p:sp>
      <p:sp>
        <p:nvSpPr>
          <p:cNvPr id="30" name="Text 25"/>
          <p:cNvSpPr/>
          <p:nvPr/>
        </p:nvSpPr>
        <p:spPr>
          <a:xfrm>
            <a:off x="8778240" y="4800600"/>
            <a:ext cx="2651760" cy="640080"/>
          </a:xfrm>
          <a:prstGeom prst="rect">
            <a:avLst/>
          </a:prstGeom>
          <a:noFill/>
          <a:ln/>
        </p:spPr>
        <p:txBody>
          <a:bodyPr wrap="square" rtlCol="0" anchor="ctr"/>
          <a:lstStyle/>
          <a:p>
            <a:pPr algn="ctr" indent="0" marL="0">
              <a:lnSpc>
                <a:spcPct val="110000"/>
              </a:lnSpc>
              <a:buNone/>
            </a:pPr>
            <a:r>
              <a:rPr lang="en-US" sz="1150" b="1" dirty="0">
                <a:solidFill>
                  <a:srgbClr val="F5B301"/>
                </a:solidFill>
                <a:latin typeface="Arial" pitchFamily="34" charset="0"/>
                <a:ea typeface="Arial" pitchFamily="34" charset="-122"/>
                <a:cs typeface="Arial" pitchFamily="34" charset="-120"/>
              </a:rPr>
              <a:t>4.3.1  Acting 우선 Pause + f(t)</a:t>
            </a:r>
            <a:endParaRPr lang="en-US" sz="1150" dirty="0"/>
          </a:p>
        </p:txBody>
      </p:sp>
      <p:sp>
        <p:nvSpPr>
          <p:cNvPr id="31" name="Text 26"/>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4.3.1 · 두 가지 기본 연산</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Restore 와 Pause — 큐와 GPU 사이의 이동</a:t>
            </a:r>
            <a:endParaRPr lang="en-US" sz="3200" dirty="0"/>
          </a:p>
        </p:txBody>
      </p:sp>
      <p:sp>
        <p:nvSpPr>
          <p:cNvPr id="4" name="Shape 2"/>
          <p:cNvSpPr/>
          <p:nvPr/>
        </p:nvSpPr>
        <p:spPr>
          <a:xfrm>
            <a:off x="4297680" y="2148840"/>
            <a:ext cx="3566160" cy="3291840"/>
          </a:xfrm>
          <a:prstGeom prst="roundRect">
            <a:avLst>
              <a:gd name="adj" fmla="val 2778"/>
            </a:avLst>
          </a:prstGeom>
          <a:solidFill>
            <a:srgbClr val="F5F7FA"/>
          </a:solidFill>
          <a:ln w="19050">
            <a:solidFill>
              <a:srgbClr val="E2E8F0"/>
            </a:solidFill>
            <a:prstDash val="solid"/>
          </a:ln>
        </p:spPr>
      </p:sp>
      <p:sp>
        <p:nvSpPr>
          <p:cNvPr id="5" name="Text 3"/>
          <p:cNvSpPr/>
          <p:nvPr/>
        </p:nvSpPr>
        <p:spPr>
          <a:xfrm>
            <a:off x="4297680" y="2286000"/>
            <a:ext cx="3566160" cy="365760"/>
          </a:xfrm>
          <a:prstGeom prst="rect">
            <a:avLst/>
          </a:prstGeom>
          <a:noFill/>
          <a:ln/>
        </p:spPr>
        <p:txBody>
          <a:bodyPr wrap="square" rtlCol="0" anchor="ctr"/>
          <a:lstStyle/>
          <a:p>
            <a:pPr algn="ctr" indent="0" marL="0">
              <a:buNone/>
            </a:pPr>
            <a:r>
              <a:rPr lang="en-US" sz="1400" b="1" dirty="0">
                <a:solidFill>
                  <a:srgbClr val="64748B"/>
                </a:solidFill>
                <a:latin typeface="Arial" pitchFamily="34" charset="0"/>
                <a:ea typeface="Arial" pitchFamily="34" charset="-122"/>
                <a:cs typeface="Arial" pitchFamily="34" charset="-120"/>
              </a:rPr>
              <a:t>전역 대기 큐 (Paused)</a:t>
            </a:r>
            <a:endParaRPr lang="en-US" sz="1400" dirty="0"/>
          </a:p>
        </p:txBody>
      </p:sp>
      <p:sp>
        <p:nvSpPr>
          <p:cNvPr id="6" name="Shape 4"/>
          <p:cNvSpPr/>
          <p:nvPr/>
        </p:nvSpPr>
        <p:spPr>
          <a:xfrm>
            <a:off x="4892040" y="2788920"/>
            <a:ext cx="2377440" cy="658368"/>
          </a:xfrm>
          <a:prstGeom prst="roundRect">
            <a:avLst>
              <a:gd name="adj" fmla="val 8333"/>
            </a:avLst>
          </a:prstGeom>
          <a:solidFill>
            <a:srgbClr val="334155"/>
          </a:solidFill>
          <a:ln/>
        </p:spPr>
      </p:sp>
      <p:sp>
        <p:nvSpPr>
          <p:cNvPr id="7" name="Text 5"/>
          <p:cNvSpPr/>
          <p:nvPr/>
        </p:nvSpPr>
        <p:spPr>
          <a:xfrm>
            <a:off x="4892040" y="2788920"/>
            <a:ext cx="2377440" cy="658368"/>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P7  ·  s=Paused, L=∅</a:t>
            </a:r>
            <a:endParaRPr lang="en-US" sz="1250" dirty="0"/>
          </a:p>
        </p:txBody>
      </p:sp>
      <p:sp>
        <p:nvSpPr>
          <p:cNvPr id="8" name="Shape 6"/>
          <p:cNvSpPr/>
          <p:nvPr/>
        </p:nvSpPr>
        <p:spPr>
          <a:xfrm>
            <a:off x="4892040" y="3611880"/>
            <a:ext cx="2377440" cy="658368"/>
          </a:xfrm>
          <a:prstGeom prst="roundRect">
            <a:avLst>
              <a:gd name="adj" fmla="val 8333"/>
            </a:avLst>
          </a:prstGeom>
          <a:solidFill>
            <a:srgbClr val="334155"/>
          </a:solidFill>
          <a:ln/>
        </p:spPr>
      </p:sp>
      <p:sp>
        <p:nvSpPr>
          <p:cNvPr id="9" name="Text 7"/>
          <p:cNvSpPr/>
          <p:nvPr/>
        </p:nvSpPr>
        <p:spPr>
          <a:xfrm>
            <a:off x="4892040" y="3611880"/>
            <a:ext cx="2377440" cy="658368"/>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P11  ·  s=Paused, L=∅</a:t>
            </a:r>
            <a:endParaRPr lang="en-US" sz="1250" dirty="0"/>
          </a:p>
        </p:txBody>
      </p:sp>
      <p:sp>
        <p:nvSpPr>
          <p:cNvPr id="10" name="Shape 8"/>
          <p:cNvSpPr/>
          <p:nvPr/>
        </p:nvSpPr>
        <p:spPr>
          <a:xfrm>
            <a:off x="4892040" y="4434840"/>
            <a:ext cx="2377440" cy="658368"/>
          </a:xfrm>
          <a:prstGeom prst="roundRect">
            <a:avLst>
              <a:gd name="adj" fmla="val 8333"/>
            </a:avLst>
          </a:prstGeom>
          <a:solidFill>
            <a:srgbClr val="334155"/>
          </a:solidFill>
          <a:ln/>
        </p:spPr>
      </p:sp>
      <p:sp>
        <p:nvSpPr>
          <p:cNvPr id="11" name="Text 9"/>
          <p:cNvSpPr/>
          <p:nvPr/>
        </p:nvSpPr>
        <p:spPr>
          <a:xfrm>
            <a:off x="4892040" y="4434840"/>
            <a:ext cx="2377440" cy="658368"/>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P3  ·  s=Paused, L=∅</a:t>
            </a:r>
            <a:endParaRPr lang="en-US" sz="1250" dirty="0"/>
          </a:p>
        </p:txBody>
      </p:sp>
      <p:sp>
        <p:nvSpPr>
          <p:cNvPr id="12" name="Shape 10"/>
          <p:cNvSpPr/>
          <p:nvPr/>
        </p:nvSpPr>
        <p:spPr>
          <a:xfrm>
            <a:off x="640080" y="2148840"/>
            <a:ext cx="3108960" cy="3291840"/>
          </a:xfrm>
          <a:prstGeom prst="roundRect">
            <a:avLst>
              <a:gd name="adj" fmla="val 2941"/>
            </a:avLst>
          </a:prstGeom>
          <a:solidFill>
            <a:srgbClr val="0E1729"/>
          </a:solidFill>
          <a:ln/>
        </p:spPr>
      </p:sp>
      <p:sp>
        <p:nvSpPr>
          <p:cNvPr id="13" name="Text 11"/>
          <p:cNvSpPr/>
          <p:nvPr/>
        </p:nvSpPr>
        <p:spPr>
          <a:xfrm>
            <a:off x="640080" y="2286000"/>
            <a:ext cx="3108960" cy="365760"/>
          </a:xfrm>
          <a:prstGeom prst="rect">
            <a:avLst/>
          </a:prstGeom>
          <a:noFill/>
          <a:ln/>
        </p:spPr>
        <p:txBody>
          <a:bodyPr wrap="square" rtlCol="0" anchor="ctr"/>
          <a:lstStyle/>
          <a:p>
            <a:pPr algn="ctr" indent="0" marL="0">
              <a:buNone/>
            </a:pPr>
            <a:r>
              <a:rPr lang="en-US" sz="1400" b="1" dirty="0">
                <a:solidFill>
                  <a:srgbClr val="F5B301"/>
                </a:solidFill>
                <a:latin typeface="Arial" pitchFamily="34" charset="0"/>
                <a:ea typeface="Arial" pitchFamily="34" charset="-122"/>
                <a:cs typeface="Arial" pitchFamily="34" charset="-120"/>
              </a:rPr>
              <a:t>GPU 백엔드 (Active)</a:t>
            </a:r>
            <a:endParaRPr lang="en-US" sz="1400" dirty="0"/>
          </a:p>
        </p:txBody>
      </p:sp>
      <p:sp>
        <p:nvSpPr>
          <p:cNvPr id="14" name="Shape 12"/>
          <p:cNvSpPr/>
          <p:nvPr/>
        </p:nvSpPr>
        <p:spPr>
          <a:xfrm>
            <a:off x="1005840" y="2834640"/>
            <a:ext cx="2377440" cy="685800"/>
          </a:xfrm>
          <a:prstGeom prst="roundRect">
            <a:avLst>
              <a:gd name="adj" fmla="val 8000"/>
            </a:avLst>
          </a:prstGeom>
          <a:solidFill>
            <a:srgbClr val="0D9488"/>
          </a:solidFill>
          <a:ln/>
        </p:spPr>
      </p:sp>
      <p:sp>
        <p:nvSpPr>
          <p:cNvPr id="15" name="Text 13"/>
          <p:cNvSpPr/>
          <p:nvPr/>
        </p:nvSpPr>
        <p:spPr>
          <a:xfrm>
            <a:off x="1005840" y="2834640"/>
            <a:ext cx="2377440" cy="6858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P1  ·  Active</a:t>
            </a:r>
            <a:endParaRPr lang="en-US" sz="1300" dirty="0"/>
          </a:p>
        </p:txBody>
      </p:sp>
      <p:sp>
        <p:nvSpPr>
          <p:cNvPr id="16" name="Shape 14"/>
          <p:cNvSpPr/>
          <p:nvPr/>
        </p:nvSpPr>
        <p:spPr>
          <a:xfrm>
            <a:off x="1005840" y="3703320"/>
            <a:ext cx="2377440" cy="685800"/>
          </a:xfrm>
          <a:prstGeom prst="roundRect">
            <a:avLst>
              <a:gd name="adj" fmla="val 8000"/>
            </a:avLst>
          </a:prstGeom>
          <a:solidFill>
            <a:srgbClr val="0D9488"/>
          </a:solidFill>
          <a:ln/>
        </p:spPr>
      </p:sp>
      <p:sp>
        <p:nvSpPr>
          <p:cNvPr id="17" name="Text 15"/>
          <p:cNvSpPr/>
          <p:nvPr/>
        </p:nvSpPr>
        <p:spPr>
          <a:xfrm>
            <a:off x="1005840" y="3703320"/>
            <a:ext cx="2377440" cy="6858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P4  ·  Active</a:t>
            </a:r>
            <a:endParaRPr lang="en-US" sz="1300" dirty="0"/>
          </a:p>
        </p:txBody>
      </p:sp>
      <p:pic>
        <p:nvPicPr>
          <p:cNvPr id="18" name="Image 0" descr="preencoded.png">    </p:cNvPr>
          <p:cNvPicPr>
            <a:picLocks noChangeAspect="1"/>
          </p:cNvPicPr>
          <p:nvPr/>
        </p:nvPicPr>
        <p:blipFill>
          <a:blip r:embed="rId1">
            <a:alphaModFix amt="70000"/>
          </a:blip>
          <a:stretch>
            <a:fillRect/>
          </a:stretch>
        </p:blipFill>
        <p:spPr>
          <a:xfrm>
            <a:off x="1965960" y="4754880"/>
            <a:ext cx="457200" cy="457200"/>
          </a:xfrm>
          <a:prstGeom prst="rect">
            <a:avLst/>
          </a:prstGeom>
        </p:spPr>
      </p:pic>
      <p:sp>
        <p:nvSpPr>
          <p:cNvPr id="19" name="Shape 16"/>
          <p:cNvSpPr/>
          <p:nvPr/>
        </p:nvSpPr>
        <p:spPr>
          <a:xfrm>
            <a:off x="3749040" y="3063240"/>
            <a:ext cx="548640" cy="0"/>
          </a:xfrm>
          <a:prstGeom prst="line">
            <a:avLst/>
          </a:prstGeom>
          <a:noFill/>
          <a:ln w="38100">
            <a:solidFill>
              <a:srgbClr val="059669"/>
            </a:solidFill>
            <a:prstDash val="solid"/>
            <a:headEnd type="none"/>
            <a:tailEnd type="triangle"/>
          </a:ln>
        </p:spPr>
      </p:sp>
      <p:sp>
        <p:nvSpPr>
          <p:cNvPr id="20" name="Text 17"/>
          <p:cNvSpPr/>
          <p:nvPr/>
        </p:nvSpPr>
        <p:spPr>
          <a:xfrm>
            <a:off x="3611880" y="2697480"/>
            <a:ext cx="868680" cy="320040"/>
          </a:xfrm>
          <a:prstGeom prst="rect">
            <a:avLst/>
          </a:prstGeom>
          <a:noFill/>
          <a:ln/>
        </p:spPr>
        <p:txBody>
          <a:bodyPr wrap="square" rtlCol="0" anchor="ctr"/>
          <a:lstStyle/>
          <a:p>
            <a:pPr algn="ctr" indent="0" marL="0">
              <a:buNone/>
            </a:pPr>
            <a:r>
              <a:rPr lang="en-US" sz="1250" b="1" dirty="0">
                <a:solidFill>
                  <a:srgbClr val="059669"/>
                </a:solidFill>
                <a:latin typeface="Arial" pitchFamily="34" charset="0"/>
                <a:ea typeface="Arial" pitchFamily="34" charset="-122"/>
                <a:cs typeface="Arial" pitchFamily="34" charset="-120"/>
              </a:rPr>
              <a:t>Restore</a:t>
            </a:r>
            <a:endParaRPr lang="en-US" sz="1250" dirty="0"/>
          </a:p>
        </p:txBody>
      </p:sp>
      <p:sp>
        <p:nvSpPr>
          <p:cNvPr id="21" name="Shape 18"/>
          <p:cNvSpPr/>
          <p:nvPr/>
        </p:nvSpPr>
        <p:spPr>
          <a:xfrm>
            <a:off x="3749040" y="4434840"/>
            <a:ext cx="548640" cy="0"/>
          </a:xfrm>
          <a:prstGeom prst="line">
            <a:avLst/>
          </a:prstGeom>
          <a:noFill/>
          <a:ln w="38100">
            <a:solidFill>
              <a:srgbClr val="DC2626"/>
            </a:solidFill>
            <a:prstDash val="solid"/>
            <a:headEnd type="triangle"/>
            <a:tailEnd type="none"/>
          </a:ln>
        </p:spPr>
      </p:sp>
      <p:sp>
        <p:nvSpPr>
          <p:cNvPr id="22" name="Text 19"/>
          <p:cNvSpPr/>
          <p:nvPr/>
        </p:nvSpPr>
        <p:spPr>
          <a:xfrm>
            <a:off x="3611880" y="4526280"/>
            <a:ext cx="868680" cy="320040"/>
          </a:xfrm>
          <a:prstGeom prst="rect">
            <a:avLst/>
          </a:prstGeom>
          <a:noFill/>
          <a:ln/>
        </p:spPr>
        <p:txBody>
          <a:bodyPr wrap="square" rtlCol="0" anchor="ctr"/>
          <a:lstStyle/>
          <a:p>
            <a:pPr algn="ctr" indent="0" marL="0">
              <a:buNone/>
            </a:pPr>
            <a:r>
              <a:rPr lang="en-US" sz="1250" b="1" dirty="0">
                <a:solidFill>
                  <a:srgbClr val="DC2626"/>
                </a:solidFill>
                <a:latin typeface="Arial" pitchFamily="34" charset="0"/>
                <a:ea typeface="Arial" pitchFamily="34" charset="-122"/>
                <a:cs typeface="Arial" pitchFamily="34" charset="-120"/>
              </a:rPr>
              <a:t>Pause</a:t>
            </a:r>
            <a:endParaRPr lang="en-US" sz="1250" dirty="0"/>
          </a:p>
        </p:txBody>
      </p:sp>
      <p:sp>
        <p:nvSpPr>
          <p:cNvPr id="23" name="Shape 20"/>
          <p:cNvSpPr/>
          <p:nvPr/>
        </p:nvSpPr>
        <p:spPr>
          <a:xfrm>
            <a:off x="8183880" y="2148840"/>
            <a:ext cx="3337560" cy="1554480"/>
          </a:xfrm>
          <a:prstGeom prst="roundRect">
            <a:avLst>
              <a:gd name="adj" fmla="val 5294"/>
            </a:avLst>
          </a:prstGeom>
          <a:solidFill>
            <a:srgbClr val="D9F2E6"/>
          </a:solidFill>
          <a:ln/>
        </p:spPr>
      </p:sp>
      <p:sp>
        <p:nvSpPr>
          <p:cNvPr id="24" name="Text 21"/>
          <p:cNvSpPr/>
          <p:nvPr/>
        </p:nvSpPr>
        <p:spPr>
          <a:xfrm>
            <a:off x="8412480" y="2286000"/>
            <a:ext cx="2880360" cy="1325880"/>
          </a:xfrm>
          <a:prstGeom prst="rect">
            <a:avLst/>
          </a:prstGeom>
          <a:noFill/>
          <a:ln/>
        </p:spPr>
        <p:txBody>
          <a:bodyPr wrap="square" rtlCol="0" anchor="ctr"/>
          <a:lstStyle/>
          <a:p>
            <a:pPr indent="0" marL="0">
              <a:lnSpc>
                <a:spcPct val="120000"/>
              </a:lnSpc>
              <a:buNone/>
            </a:pPr>
            <a:r>
              <a:rPr lang="en-US" sz="1600" b="1" dirty="0">
                <a:solidFill>
                  <a:srgbClr val="059669"/>
                </a:solidFill>
                <a:latin typeface="Arial" pitchFamily="34" charset="0"/>
                <a:ea typeface="Arial" pitchFamily="34" charset="-122"/>
                <a:cs typeface="Arial" pitchFamily="34" charset="-120"/>
              </a:rPr>
              <a:t>Restore(P)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빈 자리 있는 노드 L′에 배치</a:t>
            </a:r>
            <a:endParaRPr lang="en-US" sz="1600" dirty="0"/>
          </a:p>
          <a:p>
            <a:pPr indent="0" marL="0">
              <a:lnSpc>
                <a:spcPct val="120000"/>
              </a:lnSpc>
              <a:buNone/>
            </a:pPr>
            <a:r>
              <a:rPr lang="en-US" sz="1300" dirty="0">
                <a:solidFill>
                  <a:srgbClr val="334155"/>
                </a:solidFill>
                <a:latin typeface="Arial" pitchFamily="34" charset="0"/>
                <a:ea typeface="Arial" pitchFamily="34" charset="-122"/>
                <a:cs typeface="Arial" pitchFamily="34" charset="-120"/>
              </a:rPr>
              <a:t>→ s: Paused → Active</a:t>
            </a:r>
            <a:endParaRPr lang="en-US" sz="1600" dirty="0"/>
          </a:p>
        </p:txBody>
      </p:sp>
      <p:sp>
        <p:nvSpPr>
          <p:cNvPr id="25" name="Shape 22"/>
          <p:cNvSpPr/>
          <p:nvPr/>
        </p:nvSpPr>
        <p:spPr>
          <a:xfrm>
            <a:off x="8183880" y="3886200"/>
            <a:ext cx="3337560" cy="1554480"/>
          </a:xfrm>
          <a:prstGeom prst="roundRect">
            <a:avLst>
              <a:gd name="adj" fmla="val 5294"/>
            </a:avLst>
          </a:prstGeom>
          <a:solidFill>
            <a:srgbClr val="FCE1E1"/>
          </a:solidFill>
          <a:ln/>
        </p:spPr>
      </p:sp>
      <p:sp>
        <p:nvSpPr>
          <p:cNvPr id="26" name="Text 23"/>
          <p:cNvSpPr/>
          <p:nvPr/>
        </p:nvSpPr>
        <p:spPr>
          <a:xfrm>
            <a:off x="8412480" y="4023360"/>
            <a:ext cx="2880360" cy="1325880"/>
          </a:xfrm>
          <a:prstGeom prst="rect">
            <a:avLst/>
          </a:prstGeom>
          <a:noFill/>
          <a:ln/>
        </p:spPr>
        <p:txBody>
          <a:bodyPr wrap="square" rtlCol="0" anchor="ctr"/>
          <a:lstStyle/>
          <a:p>
            <a:pPr indent="0" marL="0">
              <a:lnSpc>
                <a:spcPct val="120000"/>
              </a:lnSpc>
              <a:buNone/>
            </a:pPr>
            <a:r>
              <a:rPr lang="en-US" sz="1600" b="1" dirty="0">
                <a:solidFill>
                  <a:srgbClr val="DC2626"/>
                </a:solidFill>
                <a:latin typeface="Arial" pitchFamily="34" charset="0"/>
                <a:ea typeface="Arial" pitchFamily="34" charset="-122"/>
                <a:cs typeface="Arial" pitchFamily="34" charset="-120"/>
              </a:rPr>
              <a:t>Pause(P)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노드에서 분리, KV 캐시 반납</a:t>
            </a:r>
            <a:endParaRPr lang="en-US" sz="1600" dirty="0"/>
          </a:p>
          <a:p>
            <a:pPr indent="0" marL="0">
              <a:lnSpc>
                <a:spcPct val="120000"/>
              </a:lnSpc>
              <a:buNone/>
            </a:pPr>
            <a:r>
              <a:rPr lang="en-US" sz="1300" dirty="0">
                <a:solidFill>
                  <a:srgbClr val="334155"/>
                </a:solidFill>
                <a:latin typeface="Arial" pitchFamily="34" charset="0"/>
                <a:ea typeface="Arial" pitchFamily="34" charset="-122"/>
                <a:cs typeface="Arial" pitchFamily="34" charset="-120"/>
              </a:rPr>
              <a:t>→ s: Active → Paused, L=∅</a:t>
            </a:r>
            <a:endParaRPr lang="en-US" sz="1600" dirty="0"/>
          </a:p>
        </p:txBody>
      </p:sp>
      <p:sp>
        <p:nvSpPr>
          <p:cNvPr id="27" name="Text 24"/>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4.3.1 · 주기적 스래싱 감지</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도착할 때만 보지 말고, Δt마다 계속 감시한다</a:t>
            </a:r>
            <a:endParaRPr lang="en-US" sz="3200" dirty="0"/>
          </a:p>
        </p:txBody>
      </p:sp>
      <p:sp>
        <p:nvSpPr>
          <p:cNvPr id="4" name="Shape 2"/>
          <p:cNvSpPr/>
          <p:nvPr/>
        </p:nvSpPr>
        <p:spPr>
          <a:xfrm>
            <a:off x="640080" y="1737360"/>
            <a:ext cx="6675120" cy="822960"/>
          </a:xfrm>
          <a:prstGeom prst="roundRect">
            <a:avLst>
              <a:gd name="adj" fmla="val 7778"/>
            </a:avLst>
          </a:prstGeom>
          <a:solidFill>
            <a:srgbClr val="0E1729"/>
          </a:solidFill>
          <a:ln/>
        </p:spPr>
      </p:sp>
      <p:sp>
        <p:nvSpPr>
          <p:cNvPr id="5" name="Text 3"/>
          <p:cNvSpPr/>
          <p:nvPr/>
        </p:nvSpPr>
        <p:spPr>
          <a:xfrm>
            <a:off x="822960" y="1737360"/>
            <a:ext cx="6492240" cy="8229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스래싱 조건:   C</a:t>
            </a:r>
            <a:pPr indent="0" marL="0">
              <a:buNone/>
            </a:pPr>
            <a:r>
              <a:rPr lang="en-US" sz="2000" dirty="0">
                <a:solidFill>
                  <a:srgbClr val="F5B301"/>
                </a:solidFill>
                <a:latin typeface="Cambria" pitchFamily="34" charset="0"/>
                <a:ea typeface="Cambria" pitchFamily="34" charset="-122"/>
                <a:cs typeface="Cambria" pitchFamily="34" charset="-120"/>
              </a:rPr>
              <a:t>total</a:t>
            </a:r>
            <a:pPr indent="0" marL="0">
              <a:buNone/>
            </a:pPr>
            <a:r>
              <a:rPr lang="en-US" sz="2000" dirty="0">
                <a:solidFill>
                  <a:srgbClr val="FFFFFF"/>
                </a:solidFill>
                <a:latin typeface="Cambria" pitchFamily="34" charset="0"/>
                <a:ea typeface="Cambria" pitchFamily="34" charset="-122"/>
                <a:cs typeface="Cambria" pitchFamily="34" charset="-120"/>
              </a:rPr>
              <a:t>  &lt;  Σ</a:t>
            </a:r>
            <a:pPr indent="0" marL="0">
              <a:buNone/>
            </a:pPr>
            <a:r>
              <a:rPr lang="en-US" sz="2000" b="1" dirty="0">
                <a:solidFill>
                  <a:srgbClr val="2DD4BF"/>
                </a:solidFill>
                <a:latin typeface="Cambria" pitchFamily="34" charset="0"/>
                <a:ea typeface="Cambria" pitchFamily="34" charset="-122"/>
                <a:cs typeface="Cambria" pitchFamily="34" charset="-120"/>
              </a:rPr>
              <a:t> c</a:t>
            </a:r>
            <a:pPr indent="0" marL="0">
              <a:buNone/>
            </a:pPr>
            <a:r>
              <a:rPr lang="en-US" sz="2000" dirty="0">
                <a:solidFill>
                  <a:srgbClr val="2DD4BF"/>
                </a:solidFill>
                <a:latin typeface="Cambria" pitchFamily="34" charset="0"/>
                <a:ea typeface="Cambria" pitchFamily="34" charset="-122"/>
                <a:cs typeface="Cambria" pitchFamily="34" charset="-120"/>
              </a:rPr>
              <a:t>p</a:t>
            </a:r>
            <a:pPr indent="0" marL="0">
              <a:buNone/>
            </a:pPr>
            <a:r>
              <a:rPr lang="en-US" sz="2000" dirty="0">
                <a:solidFill>
                  <a:srgbClr val="94A3B8"/>
                </a:solidFill>
                <a:latin typeface="Cambria" pitchFamily="34" charset="0"/>
                <a:ea typeface="Cambria" pitchFamily="34" charset="-122"/>
                <a:cs typeface="Cambria" pitchFamily="34" charset="-120"/>
              </a:rPr>
              <a:t>     (수요 &gt; 용량)</a:t>
            </a:r>
            <a:endParaRPr lang="en-US" sz="2000" dirty="0"/>
          </a:p>
        </p:txBody>
      </p:sp>
      <p:sp>
        <p:nvSpPr>
          <p:cNvPr id="6" name="Shape 4"/>
          <p:cNvSpPr/>
          <p:nvPr/>
        </p:nvSpPr>
        <p:spPr>
          <a:xfrm>
            <a:off x="7498080" y="1737360"/>
            <a:ext cx="4023360" cy="822960"/>
          </a:xfrm>
          <a:prstGeom prst="roundRect">
            <a:avLst>
              <a:gd name="adj" fmla="val 7778"/>
            </a:avLst>
          </a:prstGeom>
          <a:solidFill>
            <a:srgbClr val="FDECC4"/>
          </a:solidFill>
          <a:ln/>
        </p:spPr>
      </p:sp>
      <p:sp>
        <p:nvSpPr>
          <p:cNvPr id="7" name="Text 5"/>
          <p:cNvSpPr/>
          <p:nvPr/>
        </p:nvSpPr>
        <p:spPr>
          <a:xfrm>
            <a:off x="7680960" y="1737360"/>
            <a:ext cx="3749040" cy="822960"/>
          </a:xfrm>
          <a:prstGeom prst="rect">
            <a:avLst/>
          </a:prstGeom>
          <a:noFill/>
          <a:ln/>
        </p:spPr>
        <p:txBody>
          <a:bodyPr wrap="square" rtlCol="0" anchor="ctr"/>
          <a:lstStyle/>
          <a:p>
            <a:pPr indent="0" marL="0">
              <a:lnSpc>
                <a:spcPct val="110000"/>
              </a:lnSpc>
              <a:buNone/>
            </a:pPr>
            <a:r>
              <a:rPr lang="en-US" sz="1200" b="1" dirty="0">
                <a:solidFill>
                  <a:srgbClr val="0E1729"/>
                </a:solidFill>
                <a:latin typeface="Arial" pitchFamily="34" charset="0"/>
                <a:ea typeface="Arial" pitchFamily="34" charset="-122"/>
                <a:cs typeface="Arial" pitchFamily="34" charset="-120"/>
              </a:rPr>
              <a:t>λmax / λmin </a:t>
            </a:r>
            <a:pPr indent="0" marL="0">
              <a:lnSpc>
                <a:spcPct val="110000"/>
              </a:lnSpc>
              <a:buNone/>
            </a:pPr>
            <a:r>
              <a:rPr lang="en-US" sz="1200" dirty="0">
                <a:solidFill>
                  <a:srgbClr val="334155"/>
                </a:solidFill>
                <a:latin typeface="Arial" pitchFamily="34" charset="0"/>
                <a:ea typeface="Arial" pitchFamily="34" charset="-122"/>
                <a:cs typeface="Arial" pitchFamily="34" charset="-120"/>
              </a:rPr>
              <a:t>= 고·저 워터마크</a:t>
            </a:r>
            <a:endParaRPr lang="en-US" sz="1200" dirty="0"/>
          </a:p>
          <a:p>
            <a:pPr indent="0" marL="0">
              <a:lnSpc>
                <a:spcPct val="110000"/>
              </a:lnSpc>
              <a:buNone/>
            </a:pPr>
            <a:r>
              <a:rPr lang="en-US" sz="1200" dirty="0">
                <a:solidFill>
                  <a:srgbClr val="334155"/>
                </a:solidFill>
                <a:latin typeface="Arial" pitchFamily="34" charset="0"/>
                <a:ea typeface="Arial" pitchFamily="34" charset="-122"/>
                <a:cs typeface="Arial" pitchFamily="34" charset="-120"/>
              </a:rPr>
              <a:t>(히스테리시스로 스케줄 안정화)</a:t>
            </a:r>
            <a:endParaRPr lang="en-US" sz="1200" dirty="0"/>
          </a:p>
        </p:txBody>
      </p:sp>
      <p:sp>
        <p:nvSpPr>
          <p:cNvPr id="8" name="Shape 6"/>
          <p:cNvSpPr/>
          <p:nvPr/>
        </p:nvSpPr>
        <p:spPr>
          <a:xfrm>
            <a:off x="640080" y="2788920"/>
            <a:ext cx="525780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9" name="Shape 7"/>
          <p:cNvSpPr/>
          <p:nvPr/>
        </p:nvSpPr>
        <p:spPr>
          <a:xfrm>
            <a:off x="868680" y="3017520"/>
            <a:ext cx="640080" cy="640080"/>
          </a:xfrm>
          <a:prstGeom prst="ellipse">
            <a:avLst/>
          </a:prstGeom>
          <a:solidFill>
            <a:srgbClr val="D5F0EC"/>
          </a:solidFill>
          <a:ln/>
        </p:spPr>
      </p:sp>
      <p:pic>
        <p:nvPicPr>
          <p:cNvPr id="10" name="Image 0" descr="preencoded.png">    </p:cNvPr>
          <p:cNvPicPr>
            <a:picLocks noChangeAspect="1"/>
          </p:cNvPicPr>
          <p:nvPr/>
        </p:nvPicPr>
        <p:blipFill>
          <a:blip r:embed="rId1"/>
          <a:stretch>
            <a:fillRect/>
          </a:stretch>
        </p:blipFill>
        <p:spPr>
          <a:xfrm>
            <a:off x="1035101" y="3183941"/>
            <a:ext cx="307238" cy="307238"/>
          </a:xfrm>
          <a:prstGeom prst="rect">
            <a:avLst/>
          </a:prstGeom>
        </p:spPr>
      </p:pic>
      <p:sp>
        <p:nvSpPr>
          <p:cNvPr id="11" name="Text 8"/>
          <p:cNvSpPr/>
          <p:nvPr/>
        </p:nvSpPr>
        <p:spPr>
          <a:xfrm>
            <a:off x="1645920" y="3090672"/>
            <a:ext cx="4114800" cy="457200"/>
          </a:xfrm>
          <a:prstGeom prst="rect">
            <a:avLst/>
          </a:prstGeom>
          <a:noFill/>
          <a:ln/>
        </p:spPr>
        <p:txBody>
          <a:bodyPr wrap="square" rtlCol="0" anchor="ctr"/>
          <a:lstStyle/>
          <a:p>
            <a:pPr indent="0" marL="0">
              <a:buNone/>
            </a:pPr>
            <a:r>
              <a:rPr lang="en-US" sz="1650" b="1" dirty="0">
                <a:solidFill>
                  <a:srgbClr val="1E293B"/>
                </a:solidFill>
                <a:latin typeface="Arial" pitchFamily="34" charset="0"/>
                <a:ea typeface="Arial" pitchFamily="34" charset="-122"/>
                <a:cs typeface="Arial" pitchFamily="34" charset="-120"/>
              </a:rPr>
              <a:t>주기적 모니터 (매 Δt)</a:t>
            </a:r>
            <a:endParaRPr lang="en-US" sz="1650" dirty="0"/>
          </a:p>
        </p:txBody>
      </p:sp>
      <p:sp>
        <p:nvSpPr>
          <p:cNvPr id="12" name="Text 9"/>
          <p:cNvSpPr/>
          <p:nvPr/>
        </p:nvSpPr>
        <p:spPr>
          <a:xfrm>
            <a:off x="868680" y="3794760"/>
            <a:ext cx="4846320" cy="1920240"/>
          </a:xfrm>
          <a:prstGeom prst="rect">
            <a:avLst/>
          </a:prstGeom>
          <a:noFill/>
          <a:ln/>
        </p:spPr>
        <p:txBody>
          <a:bodyPr wrap="square" rtlCol="0" anchor="t"/>
          <a:lstStyle/>
          <a:p>
            <a:pPr indent="0" marL="0">
              <a:lnSpc>
                <a:spcPct val="125000"/>
              </a:lnSpc>
              <a:buNone/>
            </a:pPr>
            <a:r>
              <a:rPr lang="en-US" sz="1350" dirty="0">
                <a:solidFill>
                  <a:srgbClr val="334155"/>
                </a:solidFill>
                <a:latin typeface="Arial" pitchFamily="34" charset="0"/>
                <a:ea typeface="Arial" pitchFamily="34" charset="-122"/>
                <a:cs typeface="Arial" pitchFamily="34" charset="-120"/>
              </a:rPr>
              <a:t>디코딩 중 컨텍스트 c가 빠르게 자라 </a:t>
            </a:r>
            <a:pPr indent="0" marL="0">
              <a:lnSpc>
                <a:spcPct val="125000"/>
              </a:lnSpc>
              <a:buNone/>
            </a:pPr>
            <a:r>
              <a:rPr lang="en-US" sz="1350" b="1" dirty="0">
                <a:solidFill>
                  <a:srgbClr val="DC2626"/>
                </a:solidFill>
                <a:latin typeface="Arial" pitchFamily="34" charset="0"/>
                <a:ea typeface="Arial" pitchFamily="34" charset="-122"/>
                <a:cs typeface="Arial" pitchFamily="34" charset="-120"/>
              </a:rPr>
              <a:t>새 요청이 없어도 도중에 스래싱</a:t>
            </a:r>
            <a:pPr indent="0" marL="0">
              <a:lnSpc>
                <a:spcPct val="125000"/>
              </a:lnSpc>
              <a:buNone/>
            </a:pPr>
            <a:r>
              <a:rPr lang="en-US" sz="1350" dirty="0">
                <a:solidFill>
                  <a:srgbClr val="334155"/>
                </a:solidFill>
                <a:latin typeface="Arial" pitchFamily="34" charset="0"/>
                <a:ea typeface="Arial" pitchFamily="34" charset="-122"/>
                <a:cs typeface="Arial" pitchFamily="34" charset="-120"/>
              </a:rPr>
              <a:t>이 터질 수 있음.
</a:t>
            </a:r>
            <a:pPr indent="0" marL="0">
              <a:lnSpc>
                <a:spcPct val="125000"/>
              </a:lnSpc>
              <a:buNone/>
            </a:pPr>
            <a:r>
              <a:rPr lang="en-US" sz="1350" dirty="0">
                <a:solidFill>
                  <a:srgbClr val="334155"/>
                </a:solidFill>
                <a:latin typeface="Arial" pitchFamily="34" charset="0"/>
                <a:ea typeface="Arial" pitchFamily="34" charset="-122"/>
                <a:cs typeface="Arial" pitchFamily="34" charset="-120"/>
              </a:rPr>
              <a:t>→ 고정 간격 Δt로 메모리를 계속 점검해 압력을 미리 감지·완화.</a:t>
            </a:r>
            <a:endParaRPr lang="en-US" sz="1350" dirty="0"/>
          </a:p>
        </p:txBody>
      </p:sp>
      <p:sp>
        <p:nvSpPr>
          <p:cNvPr id="13" name="Shape 10"/>
          <p:cNvSpPr/>
          <p:nvPr/>
        </p:nvSpPr>
        <p:spPr>
          <a:xfrm>
            <a:off x="6172200" y="2788920"/>
            <a:ext cx="534924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14" name="Text 11"/>
          <p:cNvSpPr/>
          <p:nvPr/>
        </p:nvSpPr>
        <p:spPr>
          <a:xfrm>
            <a:off x="6400800" y="2999232"/>
            <a:ext cx="4937760" cy="411480"/>
          </a:xfrm>
          <a:prstGeom prst="rect">
            <a:avLst/>
          </a:prstGeom>
          <a:noFill/>
          <a:ln/>
        </p:spPr>
        <p:txBody>
          <a:bodyPr wrap="square" rtlCol="0" anchor="ctr"/>
          <a:lstStyle/>
          <a:p>
            <a:pPr indent="0" marL="0">
              <a:buNone/>
            </a:pPr>
            <a:r>
              <a:rPr lang="en-US" sz="1650" b="1" dirty="0">
                <a:solidFill>
                  <a:srgbClr val="1E293B"/>
                </a:solidFill>
                <a:latin typeface="Arial" pitchFamily="34" charset="0"/>
                <a:ea typeface="Arial" pitchFamily="34" charset="-122"/>
                <a:cs typeface="Arial" pitchFamily="34" charset="-120"/>
              </a:rPr>
              <a:t>Pause / Restore 발동 규칙</a:t>
            </a:r>
            <a:endParaRPr lang="en-US" sz="1650" dirty="0"/>
          </a:p>
        </p:txBody>
      </p:sp>
      <p:sp>
        <p:nvSpPr>
          <p:cNvPr id="15" name="Shape 12"/>
          <p:cNvSpPr/>
          <p:nvPr/>
        </p:nvSpPr>
        <p:spPr>
          <a:xfrm>
            <a:off x="6400800" y="3611880"/>
            <a:ext cx="502920" cy="502920"/>
          </a:xfrm>
          <a:prstGeom prst="ellipse">
            <a:avLst/>
          </a:prstGeom>
          <a:solidFill>
            <a:srgbClr val="FCE1E1"/>
          </a:solidFill>
          <a:ln/>
        </p:spPr>
      </p:sp>
      <p:pic>
        <p:nvPicPr>
          <p:cNvPr id="16" name="Image 1" descr="preencoded.png">    </p:cNvPr>
          <p:cNvPicPr>
            <a:picLocks noChangeAspect="1"/>
          </p:cNvPicPr>
          <p:nvPr/>
        </p:nvPicPr>
        <p:blipFill>
          <a:blip r:embed="rId2"/>
          <a:stretch>
            <a:fillRect/>
          </a:stretch>
        </p:blipFill>
        <p:spPr>
          <a:xfrm>
            <a:off x="6531559" y="3742639"/>
            <a:ext cx="241402" cy="241402"/>
          </a:xfrm>
          <a:prstGeom prst="rect">
            <a:avLst/>
          </a:prstGeom>
        </p:spPr>
      </p:pic>
      <p:sp>
        <p:nvSpPr>
          <p:cNvPr id="17" name="Text 13"/>
          <p:cNvSpPr/>
          <p:nvPr/>
        </p:nvSpPr>
        <p:spPr>
          <a:xfrm>
            <a:off x="7040880" y="3593592"/>
            <a:ext cx="4297680" cy="36576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메모리 초과 임박 → Pause</a:t>
            </a:r>
            <a:endParaRPr lang="en-US" sz="1450" dirty="0"/>
          </a:p>
        </p:txBody>
      </p:sp>
      <p:sp>
        <p:nvSpPr>
          <p:cNvPr id="18" name="Text 14"/>
          <p:cNvSpPr/>
          <p:nvPr/>
        </p:nvSpPr>
        <p:spPr>
          <a:xfrm>
            <a:off x="7040880" y="3959352"/>
            <a:ext cx="4343400" cy="640080"/>
          </a:xfrm>
          <a:prstGeom prst="rect">
            <a:avLst/>
          </a:prstGeom>
          <a:noFill/>
          <a:ln/>
        </p:spPr>
        <p:txBody>
          <a:bodyPr wrap="square" rtlCol="0" anchor="ctr"/>
          <a:lstStyle/>
          <a:p>
            <a:pPr indent="0" marL="0">
              <a:lnSpc>
                <a:spcPct val="110000"/>
              </a:lnSpc>
              <a:buNone/>
            </a:pPr>
            <a:r>
              <a:rPr lang="en-US" sz="1200" dirty="0">
                <a:solidFill>
                  <a:srgbClr val="334155"/>
                </a:solidFill>
                <a:latin typeface="Arial" pitchFamily="34" charset="0"/>
                <a:ea typeface="Arial" pitchFamily="34" charset="-122"/>
                <a:cs typeface="Arial" pitchFamily="34" charset="-120"/>
              </a:rPr>
              <a:t>λmax·Ctotal 아래로 내려갈 때까지 활성 프로그램 일부를 Pause</a:t>
            </a:r>
            <a:endParaRPr lang="en-US" sz="1200" dirty="0"/>
          </a:p>
        </p:txBody>
      </p:sp>
      <p:sp>
        <p:nvSpPr>
          <p:cNvPr id="19" name="Shape 15"/>
          <p:cNvSpPr/>
          <p:nvPr/>
        </p:nvSpPr>
        <p:spPr>
          <a:xfrm>
            <a:off x="6400800" y="4709160"/>
            <a:ext cx="502920" cy="502920"/>
          </a:xfrm>
          <a:prstGeom prst="ellipse">
            <a:avLst/>
          </a:prstGeom>
          <a:solidFill>
            <a:srgbClr val="D9F2E6"/>
          </a:solidFill>
          <a:ln/>
        </p:spPr>
      </p:sp>
      <p:pic>
        <p:nvPicPr>
          <p:cNvPr id="20" name="Image 2" descr="preencoded.png">    </p:cNvPr>
          <p:cNvPicPr>
            <a:picLocks noChangeAspect="1"/>
          </p:cNvPicPr>
          <p:nvPr/>
        </p:nvPicPr>
        <p:blipFill>
          <a:blip r:embed="rId3"/>
          <a:stretch>
            <a:fillRect/>
          </a:stretch>
        </p:blipFill>
        <p:spPr>
          <a:xfrm>
            <a:off x="6531559" y="4839919"/>
            <a:ext cx="241402" cy="241402"/>
          </a:xfrm>
          <a:prstGeom prst="rect">
            <a:avLst/>
          </a:prstGeom>
        </p:spPr>
      </p:pic>
      <p:sp>
        <p:nvSpPr>
          <p:cNvPr id="21" name="Text 16"/>
          <p:cNvSpPr/>
          <p:nvPr/>
        </p:nvSpPr>
        <p:spPr>
          <a:xfrm>
            <a:off x="7040880" y="4690872"/>
            <a:ext cx="4297680" cy="365760"/>
          </a:xfrm>
          <a:prstGeom prst="rect">
            <a:avLst/>
          </a:prstGeom>
          <a:noFill/>
          <a:ln/>
        </p:spPr>
        <p:txBody>
          <a:bodyPr wrap="square" rtlCol="0" anchor="ctr"/>
          <a:lstStyle/>
          <a:p>
            <a:pPr indent="0" marL="0">
              <a:buNone/>
            </a:pPr>
            <a:r>
              <a:rPr lang="en-US" sz="1450" b="1" dirty="0">
                <a:solidFill>
                  <a:srgbClr val="1E293B"/>
                </a:solidFill>
                <a:latin typeface="Arial" pitchFamily="34" charset="0"/>
                <a:ea typeface="Arial" pitchFamily="34" charset="-122"/>
                <a:cs typeface="Arial" pitchFamily="34" charset="-120"/>
              </a:rPr>
              <a:t>여유 발생 → Restore</a:t>
            </a:r>
            <a:endParaRPr lang="en-US" sz="1450" dirty="0"/>
          </a:p>
        </p:txBody>
      </p:sp>
      <p:sp>
        <p:nvSpPr>
          <p:cNvPr id="22" name="Text 17"/>
          <p:cNvSpPr/>
          <p:nvPr/>
        </p:nvSpPr>
        <p:spPr>
          <a:xfrm>
            <a:off x="7040880" y="5056632"/>
            <a:ext cx="4343400" cy="640080"/>
          </a:xfrm>
          <a:prstGeom prst="rect">
            <a:avLst/>
          </a:prstGeom>
          <a:noFill/>
          <a:ln/>
        </p:spPr>
        <p:txBody>
          <a:bodyPr wrap="square" rtlCol="0" anchor="ctr"/>
          <a:lstStyle/>
          <a:p>
            <a:pPr indent="0" marL="0">
              <a:lnSpc>
                <a:spcPct val="110000"/>
              </a:lnSpc>
              <a:buNone/>
            </a:pPr>
            <a:r>
              <a:rPr lang="en-US" sz="1200" dirty="0">
                <a:solidFill>
                  <a:srgbClr val="334155"/>
                </a:solidFill>
                <a:latin typeface="Arial" pitchFamily="34" charset="0"/>
                <a:ea typeface="Arial" pitchFamily="34" charset="-122"/>
                <a:cs typeface="Arial" pitchFamily="34" charset="-120"/>
              </a:rPr>
              <a:t>사용량 &lt; λmin·Ctotal 이면 대기 큐에서 프로그램을 다시 올림</a:t>
            </a:r>
            <a:endParaRPr lang="en-US" sz="1200" dirty="0"/>
          </a:p>
        </p:txBody>
      </p:sp>
      <p:sp>
        <p:nvSpPr>
          <p:cNvPr id="23" name="Text 18"/>
          <p:cNvSpPr/>
          <p:nvPr/>
        </p:nvSpPr>
        <p:spPr>
          <a:xfrm>
            <a:off x="6309360" y="5943600"/>
            <a:ext cx="5486400" cy="365760"/>
          </a:xfrm>
          <a:prstGeom prst="rect">
            <a:avLst/>
          </a:prstGeom>
          <a:noFill/>
          <a:ln/>
        </p:spPr>
        <p:txBody>
          <a:bodyPr wrap="square" rtlCol="0" anchor="ctr"/>
          <a:lstStyle/>
          <a:p>
            <a:pPr indent="0" marL="0">
              <a:buNone/>
            </a:pPr>
            <a:r>
              <a:rPr lang="en-US" sz="1150" i="1" dirty="0">
                <a:solidFill>
                  <a:srgbClr val="64748B"/>
                </a:solidFill>
                <a:latin typeface="Arial" pitchFamily="34" charset="0"/>
                <a:ea typeface="Arial" pitchFamily="34" charset="-122"/>
                <a:cs typeface="Arial" pitchFamily="34" charset="-120"/>
              </a:rPr>
              <a:t>↔ Continuum은 '도착 시점에만' 점검 → 실행 도중 커지는 메모리를 놓침</a:t>
            </a:r>
            <a:endParaRPr lang="en-US" sz="1150" dirty="0"/>
          </a:p>
        </p:txBody>
      </p:sp>
      <p:sp>
        <p:nvSpPr>
          <p:cNvPr id="24" name="Text 19"/>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4.3.1 · 시간 감쇠 함수 F(T)</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오래 기다리는 툴 캐시는 우선순위를 낮춘다</a:t>
            </a:r>
            <a:endParaRPr lang="en-US" sz="3200" dirty="0"/>
          </a:p>
        </p:txBody>
      </p:sp>
      <p:sp>
        <p:nvSpPr>
          <p:cNvPr id="4" name="Text 2"/>
          <p:cNvSpPr/>
          <p:nvPr/>
        </p:nvSpPr>
        <p:spPr>
          <a:xfrm>
            <a:off x="640080" y="1783080"/>
            <a:ext cx="5029200" cy="685800"/>
          </a:xfrm>
          <a:prstGeom prst="rect">
            <a:avLst/>
          </a:prstGeom>
          <a:noFill/>
          <a:ln/>
        </p:spPr>
        <p:txBody>
          <a:bodyPr wrap="square" rtlCol="0" anchor="ctr"/>
          <a:lstStyle/>
          <a:p>
            <a:pPr indent="0" marL="0">
              <a:lnSpc>
                <a:spcPct val="115000"/>
              </a:lnSpc>
              <a:buNone/>
            </a:pPr>
            <a:r>
              <a:rPr lang="en-US" sz="1450" b="1" dirty="0">
                <a:solidFill>
                  <a:srgbClr val="1E293B"/>
                </a:solidFill>
                <a:latin typeface="Arial" pitchFamily="34" charset="0"/>
                <a:ea typeface="Arial" pitchFamily="34" charset="-122"/>
                <a:cs typeface="Arial" pitchFamily="34" charset="-120"/>
              </a:rPr>
              <a:t>보장만 하면 문제: 툴이 오래 걸리는 동안 Acting 프로그램이 잡은 GPU 메모리가 놀게 됨.</a:t>
            </a:r>
            <a:endParaRPr lang="en-US" sz="1450" dirty="0"/>
          </a:p>
        </p:txBody>
      </p:sp>
      <p:sp>
        <p:nvSpPr>
          <p:cNvPr id="5" name="Shape 3"/>
          <p:cNvSpPr/>
          <p:nvPr/>
        </p:nvSpPr>
        <p:spPr>
          <a:xfrm>
            <a:off x="640080" y="2606040"/>
            <a:ext cx="5029200" cy="1051560"/>
          </a:xfrm>
          <a:prstGeom prst="roundRect">
            <a:avLst>
              <a:gd name="adj" fmla="val 6957"/>
            </a:avLst>
          </a:prstGeom>
          <a:solidFill>
            <a:srgbClr val="0E1729"/>
          </a:solidFill>
          <a:ln/>
        </p:spPr>
      </p:sp>
      <p:sp>
        <p:nvSpPr>
          <p:cNvPr id="6" name="Text 4"/>
          <p:cNvSpPr/>
          <p:nvPr/>
        </p:nvSpPr>
        <p:spPr>
          <a:xfrm>
            <a:off x="777240" y="2606040"/>
            <a:ext cx="4754880" cy="105156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pPr algn="ctr" indent="0" marL="0">
              <a:buNone/>
            </a:pPr>
            <a:r>
              <a:rPr lang="en-US" sz="2200" dirty="0">
                <a:solidFill>
                  <a:srgbClr val="F5B301"/>
                </a:solidFill>
                <a:latin typeface="Cambria" pitchFamily="34" charset="0"/>
                <a:ea typeface="Cambria" pitchFamily="34" charset="-122"/>
                <a:cs typeface="Cambria" pitchFamily="34" charset="-120"/>
              </a:rPr>
              <a:t>total</a:t>
            </a:r>
            <a:pPr algn="ctr" indent="0" marL="0">
              <a:buNone/>
            </a:pPr>
            <a:r>
              <a:rPr lang="en-US" sz="2200" dirty="0">
                <a:solidFill>
                  <a:srgbClr val="FFFFFF"/>
                </a:solidFill>
                <a:latin typeface="Cambria" pitchFamily="34" charset="0"/>
                <a:ea typeface="Cambria" pitchFamily="34" charset="-122"/>
                <a:cs typeface="Cambria" pitchFamily="34" charset="-120"/>
              </a:rPr>
              <a:t> &lt; Σ</a:t>
            </a:r>
            <a:pPr algn="ctr" indent="0" marL="0">
              <a:buNone/>
            </a:pPr>
            <a:r>
              <a:rPr lang="en-US" sz="2200" dirty="0">
                <a:solidFill>
                  <a:srgbClr val="2DD4BF"/>
                </a:solidFill>
                <a:latin typeface="Cambria" pitchFamily="34" charset="0"/>
                <a:ea typeface="Cambria" pitchFamily="34" charset="-122"/>
                <a:cs typeface="Cambria" pitchFamily="34" charset="-120"/>
              </a:rPr>
              <a:t>R</a:t>
            </a:r>
            <a:pPr algn="ctr" indent="0" marL="0">
              <a:buNone/>
            </a:pPr>
            <a:r>
              <a:rPr lang="en-US" sz="2200" dirty="0">
                <a:solidFill>
                  <a:srgbClr val="FFFFFF"/>
                </a:solidFill>
                <a:latin typeface="Cambria" pitchFamily="34" charset="0"/>
                <a:ea typeface="Cambria" pitchFamily="34" charset="-122"/>
                <a:cs typeface="Cambria" pitchFamily="34" charset="-120"/>
              </a:rPr>
              <a:t> c</a:t>
            </a:r>
            <a:pPr algn="ctr" indent="0" marL="0">
              <a:buNone/>
            </a:pPr>
            <a:r>
              <a:rPr lang="en-US" sz="2200" dirty="0">
                <a:solidFill>
                  <a:srgbClr val="94A3B8"/>
                </a:solidFill>
                <a:latin typeface="Cambria" pitchFamily="34" charset="0"/>
                <a:ea typeface="Cambria" pitchFamily="34" charset="-122"/>
                <a:cs typeface="Cambria" pitchFamily="34" charset="-120"/>
              </a:rPr>
              <a:t>p</a:t>
            </a:r>
            <a:pPr algn="ctr" indent="0" marL="0">
              <a:buNone/>
            </a:pPr>
            <a:r>
              <a:rPr lang="en-US" sz="2200" dirty="0">
                <a:solidFill>
                  <a:srgbClr val="FFFFFF"/>
                </a:solidFill>
                <a:latin typeface="Cambria" pitchFamily="34" charset="0"/>
                <a:ea typeface="Cambria" pitchFamily="34" charset="-122"/>
                <a:cs typeface="Cambria" pitchFamily="34" charset="-120"/>
              </a:rPr>
              <a:t> + Σ</a:t>
            </a:r>
            <a:pPr algn="ctr" indent="0" marL="0">
              <a:buNone/>
            </a:pPr>
            <a:r>
              <a:rPr lang="en-US" sz="2200" dirty="0">
                <a:solidFill>
                  <a:srgbClr val="F5B301"/>
                </a:solidFill>
                <a:latin typeface="Cambria" pitchFamily="34" charset="0"/>
                <a:ea typeface="Cambria" pitchFamily="34" charset="-122"/>
                <a:cs typeface="Cambria" pitchFamily="34" charset="-120"/>
              </a:rPr>
              <a:t>A</a:t>
            </a:r>
            <a:pPr algn="ctr" indent="0" marL="0">
              <a:buNone/>
            </a:pPr>
            <a:r>
              <a:rPr lang="en-US" sz="2200" dirty="0">
                <a:solidFill>
                  <a:srgbClr val="FFFFFF"/>
                </a:solidFill>
                <a:latin typeface="Cambria" pitchFamily="34" charset="0"/>
                <a:ea typeface="Cambria" pitchFamily="34" charset="-122"/>
                <a:cs typeface="Cambria" pitchFamily="34" charset="-120"/>
              </a:rPr>
              <a:t> c</a:t>
            </a:r>
            <a:pPr algn="ctr" indent="0" marL="0">
              <a:buNone/>
            </a:pPr>
            <a:r>
              <a:rPr lang="en-US" sz="2200" dirty="0">
                <a:solidFill>
                  <a:srgbClr val="94A3B8"/>
                </a:solidFill>
                <a:latin typeface="Cambria" pitchFamily="34" charset="0"/>
                <a:ea typeface="Cambria" pitchFamily="34" charset="-122"/>
                <a:cs typeface="Cambria" pitchFamily="34" charset="-120"/>
              </a:rPr>
              <a:t>q</a:t>
            </a:r>
            <a:pPr algn="ctr" indent="0" marL="0">
              <a:buNone/>
            </a:pPr>
            <a:r>
              <a:rPr lang="en-US" sz="2200" dirty="0">
                <a:solidFill>
                  <a:srgbClr val="FFFFFF"/>
                </a:solidFill>
                <a:latin typeface="Cambria" pitchFamily="34" charset="0"/>
                <a:ea typeface="Cambria" pitchFamily="34" charset="-122"/>
                <a:cs typeface="Cambria" pitchFamily="34" charset="-120"/>
              </a:rPr>
              <a:t>·f(t</a:t>
            </a:r>
            <a:pPr algn="ctr" indent="0" marL="0">
              <a:buNone/>
            </a:pPr>
            <a:r>
              <a:rPr lang="en-US" sz="2200" dirty="0">
                <a:solidFill>
                  <a:srgbClr val="94A3B8"/>
                </a:solidFill>
                <a:latin typeface="Cambria" pitchFamily="34" charset="0"/>
                <a:ea typeface="Cambria" pitchFamily="34" charset="-122"/>
                <a:cs typeface="Cambria" pitchFamily="34" charset="-120"/>
              </a:rPr>
              <a:t>q</a:t>
            </a:r>
            <a:pPr algn="ctr" indent="0" marL="0">
              <a:buNone/>
            </a:pPr>
            <a:r>
              <a:rPr lang="en-US" sz="2200" dirty="0">
                <a:solidFill>
                  <a:srgbClr val="FFFFFF"/>
                </a:solidFill>
                <a:latin typeface="Cambria" pitchFamily="34" charset="0"/>
                <a:ea typeface="Cambria" pitchFamily="34" charset="-122"/>
                <a:cs typeface="Cambria" pitchFamily="34" charset="-120"/>
              </a:rPr>
              <a:t>)</a:t>
            </a:r>
            <a:endParaRPr lang="en-US" sz="2200" dirty="0"/>
          </a:p>
        </p:txBody>
      </p:sp>
      <p:sp>
        <p:nvSpPr>
          <p:cNvPr id="7" name="Text 5"/>
          <p:cNvSpPr/>
          <p:nvPr/>
        </p:nvSpPr>
        <p:spPr>
          <a:xfrm>
            <a:off x="640080" y="3794760"/>
            <a:ext cx="5029200" cy="914400"/>
          </a:xfrm>
          <a:prstGeom prst="rect">
            <a:avLst/>
          </a:prstGeom>
          <a:noFill/>
          <a:ln/>
        </p:spPr>
        <p:txBody>
          <a:bodyPr wrap="square" rtlCol="0" anchor="t"/>
          <a:lstStyle/>
          <a:p>
            <a:pPr indent="0" marL="0">
              <a:lnSpc>
                <a:spcPct val="125000"/>
              </a:lnSpc>
              <a:buNone/>
            </a:pPr>
            <a:r>
              <a:rPr lang="en-US" sz="1350" dirty="0">
                <a:solidFill>
                  <a:srgbClr val="334155"/>
                </a:solidFill>
                <a:latin typeface="Arial" pitchFamily="34" charset="0"/>
                <a:ea typeface="Arial" pitchFamily="34" charset="-122"/>
                <a:cs typeface="Arial" pitchFamily="34" charset="-120"/>
              </a:rPr>
              <a:t>Reasoning 토큰은 그대로, </a:t>
            </a:r>
            <a:pPr indent="0" marL="0">
              <a:lnSpc>
                <a:spcPct val="125000"/>
              </a:lnSpc>
              <a:buNone/>
            </a:pPr>
            <a:r>
              <a:rPr lang="en-US" sz="1350" b="1" dirty="0">
                <a:solidFill>
                  <a:srgbClr val="F5B301"/>
                </a:solidFill>
                <a:latin typeface="Arial" pitchFamily="34" charset="0"/>
                <a:ea typeface="Arial" pitchFamily="34" charset="-122"/>
                <a:cs typeface="Arial" pitchFamily="34" charset="-120"/>
              </a:rPr>
              <a:t>Acting 토큰은 f(t)로 가중치를 점점 깎음</a:t>
            </a:r>
            <a:pPr indent="0" marL="0">
              <a:lnSpc>
                <a:spcPct val="125000"/>
              </a:lnSpc>
              <a:buNone/>
            </a:pPr>
            <a:r>
              <a:rPr lang="en-US" sz="1350" dirty="0">
                <a:solidFill>
                  <a:srgbClr val="334155"/>
                </a:solidFill>
                <a:latin typeface="Arial" pitchFamily="34" charset="0"/>
                <a:ea typeface="Arial" pitchFamily="34" charset="-122"/>
                <a:cs typeface="Arial" pitchFamily="34" charset="-120"/>
              </a:rPr>
              <a:t>.</a:t>
            </a:r>
            <a:endParaRPr lang="en-US" sz="1350" dirty="0"/>
          </a:p>
          <a:p>
            <a:pPr indent="0" marL="0">
              <a:lnSpc>
                <a:spcPct val="125000"/>
              </a:lnSpc>
              <a:buNone/>
            </a:pPr>
            <a:r>
              <a:rPr lang="en-US" sz="1350" dirty="0">
                <a:solidFill>
                  <a:srgbClr val="334155"/>
                </a:solidFill>
                <a:latin typeface="Arial" pitchFamily="34" charset="0"/>
                <a:ea typeface="Arial" pitchFamily="34" charset="-122"/>
                <a:cs typeface="Arial" pitchFamily="34" charset="-120"/>
              </a:rPr>
              <a:t>오래 놀고 있는 캐시일수록 우선 축출 → 유휴 캐싱 비용↓</a:t>
            </a:r>
            <a:endParaRPr lang="en-US" sz="1350" dirty="0"/>
          </a:p>
        </p:txBody>
      </p:sp>
      <p:sp>
        <p:nvSpPr>
          <p:cNvPr id="8" name="Shape 6"/>
          <p:cNvSpPr/>
          <p:nvPr/>
        </p:nvSpPr>
        <p:spPr>
          <a:xfrm>
            <a:off x="640080" y="4800600"/>
            <a:ext cx="5029200" cy="1143000"/>
          </a:xfrm>
          <a:prstGeom prst="roundRect">
            <a:avLst>
              <a:gd name="adj" fmla="val 6400"/>
            </a:avLst>
          </a:prstGeom>
          <a:solidFill>
            <a:srgbClr val="FDECC4"/>
          </a:solidFill>
          <a:ln/>
        </p:spPr>
      </p:sp>
      <p:sp>
        <p:nvSpPr>
          <p:cNvPr id="9" name="Text 7"/>
          <p:cNvSpPr/>
          <p:nvPr/>
        </p:nvSpPr>
        <p:spPr>
          <a:xfrm>
            <a:off x="896112" y="4892040"/>
            <a:ext cx="4526280" cy="960120"/>
          </a:xfrm>
          <a:prstGeom prst="rect">
            <a:avLst/>
          </a:prstGeom>
          <a:noFill/>
          <a:ln/>
        </p:spPr>
        <p:txBody>
          <a:bodyPr wrap="square" rtlCol="0" anchor="ctr"/>
          <a:lstStyle/>
          <a:p>
            <a:pPr indent="0" marL="0">
              <a:lnSpc>
                <a:spcPct val="120000"/>
              </a:lnSpc>
              <a:buNone/>
            </a:pPr>
            <a:r>
              <a:rPr lang="en-US" sz="1250" b="1" dirty="0">
                <a:solidFill>
                  <a:srgbClr val="0E1729"/>
                </a:solidFill>
                <a:latin typeface="Arial" pitchFamily="34" charset="0"/>
                <a:ea typeface="Arial" pitchFamily="34" charset="-122"/>
                <a:cs typeface="Arial" pitchFamily="34" charset="-120"/>
              </a:rPr>
              <a:t>이론적 결과  </a:t>
            </a:r>
            <a:pPr indent="0" marL="0">
              <a:lnSpc>
                <a:spcPct val="120000"/>
              </a:lnSpc>
              <a:buNone/>
            </a:pPr>
            <a:endParaRPr lang="en-US" sz="1250" dirty="0"/>
          </a:p>
          <a:p>
            <a:pPr indent="0" marL="0">
              <a:lnSpc>
                <a:spcPct val="120000"/>
              </a:lnSpc>
              <a:buNone/>
            </a:pPr>
            <a:r>
              <a:rPr lang="en-US" sz="1250" dirty="0">
                <a:solidFill>
                  <a:srgbClr val="334155"/>
                </a:solidFill>
                <a:latin typeface="Arial" pitchFamily="34" charset="0"/>
                <a:ea typeface="Arial" pitchFamily="34" charset="-122"/>
                <a:cs typeface="Arial" pitchFamily="34" charset="-120"/>
              </a:rPr>
              <a:t>툴 실행시간이 '무기억성(memoryless)'이면, 최적 f(t)는 지수 감쇠 f(t)=e</a:t>
            </a:r>
            <a:endParaRPr lang="en-US" sz="1250" dirty="0"/>
          </a:p>
          <a:p>
            <a:pPr indent="0" marL="0">
              <a:lnSpc>
                <a:spcPct val="120000"/>
              </a:lnSpc>
              <a:buNone/>
            </a:pPr>
            <a:r>
              <a:rPr lang="en-US" sz="900" dirty="0">
                <a:solidFill>
                  <a:srgbClr val="334155"/>
                </a:solidFill>
                <a:latin typeface="Arial" pitchFamily="34" charset="0"/>
                <a:ea typeface="Arial" pitchFamily="34" charset="-122"/>
                <a:cs typeface="Arial" pitchFamily="34" charset="-120"/>
              </a:rPr>
              <a:t>−λt</a:t>
            </a:r>
            <a:pPr indent="0" marL="0">
              <a:lnSpc>
                <a:spcPct val="120000"/>
              </a:lnSpc>
              <a:buNone/>
            </a:pPr>
            <a:r>
              <a:rPr lang="en-US" sz="1250" dirty="0">
                <a:solidFill>
                  <a:srgbClr val="334155"/>
                </a:solidFill>
                <a:latin typeface="Arial" pitchFamily="34" charset="0"/>
                <a:ea typeface="Arial" pitchFamily="34" charset="-122"/>
                <a:cs typeface="Arial" pitchFamily="34" charset="-120"/>
              </a:rPr>
              <a:t> (부록 E.1 증명)</a:t>
            </a:r>
            <a:endParaRPr lang="en-US" sz="1250" dirty="0"/>
          </a:p>
        </p:txBody>
      </p:sp>
      <p:sp>
        <p:nvSpPr>
          <p:cNvPr id="10" name="Shape 8"/>
          <p:cNvSpPr/>
          <p:nvPr/>
        </p:nvSpPr>
        <p:spPr>
          <a:xfrm>
            <a:off x="6126480" y="1828800"/>
            <a:ext cx="5394960" cy="4114800"/>
          </a:xfrm>
          <a:prstGeom prst="roundRect">
            <a:avLst>
              <a:gd name="adj" fmla="val 2222"/>
            </a:avLst>
          </a:prstGeom>
          <a:solidFill>
            <a:srgbClr val="F5F7FA"/>
          </a:solidFill>
          <a:ln w="12700">
            <a:solidFill>
              <a:srgbClr val="E2E8F0"/>
            </a:solidFill>
            <a:prstDash val="solid"/>
          </a:ln>
        </p:spPr>
      </p:sp>
      <p:sp>
        <p:nvSpPr>
          <p:cNvPr id="11" name="Text 9"/>
          <p:cNvSpPr/>
          <p:nvPr/>
        </p:nvSpPr>
        <p:spPr>
          <a:xfrm>
            <a:off x="6400800" y="2011680"/>
            <a:ext cx="4846320" cy="365760"/>
          </a:xfrm>
          <a:prstGeom prst="rect">
            <a:avLst/>
          </a:prstGeom>
          <a:noFill/>
          <a:ln/>
        </p:spPr>
        <p:txBody>
          <a:bodyPr wrap="square" rtlCol="0" anchor="ctr"/>
          <a:lstStyle/>
          <a:p>
            <a:pPr indent="0" marL="0">
              <a:buNone/>
            </a:pPr>
            <a:r>
              <a:rPr lang="en-US" sz="1350" b="1" dirty="0">
                <a:solidFill>
                  <a:srgbClr val="1E293B"/>
                </a:solidFill>
                <a:latin typeface="Arial" pitchFamily="34" charset="0"/>
                <a:ea typeface="Arial" pitchFamily="34" charset="-122"/>
                <a:cs typeface="Arial" pitchFamily="34" charset="-120"/>
              </a:rPr>
              <a:t>Acting 프로그램 캐시의 유효 가중치</a:t>
            </a:r>
            <a:endParaRPr lang="en-US" sz="1350" dirty="0"/>
          </a:p>
        </p:txBody>
      </p:sp>
      <p:graphicFrame>
        <p:nvGraphicFramePr>
          <p:cNvPr id="12" name="Chart 0" descr=""/>
          <p:cNvGraphicFramePr/>
          <p:nvPr/>
        </p:nvGraphicFramePr>
        <p:xfrm>
          <a:off x="6355080" y="242316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4.3.1 · 최단 우선 축출</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어떤 걸 내릴까? — 짧은 것부터 내린다</a:t>
            </a:r>
            <a:endParaRPr lang="en-US" sz="3200" dirty="0"/>
          </a:p>
        </p:txBody>
      </p:sp>
      <p:sp>
        <p:nvSpPr>
          <p:cNvPr id="4" name="Shape 2"/>
          <p:cNvSpPr/>
          <p:nvPr/>
        </p:nvSpPr>
        <p:spPr>
          <a:xfrm>
            <a:off x="640080" y="1783080"/>
            <a:ext cx="5074920" cy="1234440"/>
          </a:xfrm>
          <a:prstGeom prst="roundRect">
            <a:avLst>
              <a:gd name="adj" fmla="val 6667"/>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5" name="Text 3"/>
          <p:cNvSpPr/>
          <p:nvPr/>
        </p:nvSpPr>
        <p:spPr>
          <a:xfrm>
            <a:off x="896112" y="1938528"/>
            <a:ext cx="4617720" cy="960120"/>
          </a:xfrm>
          <a:prstGeom prst="rect">
            <a:avLst/>
          </a:prstGeom>
          <a:noFill/>
          <a:ln/>
        </p:spPr>
        <p:txBody>
          <a:bodyPr wrap="square" rtlCol="0" anchor="ctr"/>
          <a:lstStyle/>
          <a:p>
            <a:pPr indent="0" marL="0">
              <a:lnSpc>
                <a:spcPct val="125000"/>
              </a:lnSpc>
              <a:buNone/>
            </a:pPr>
            <a:r>
              <a:rPr lang="en-US" sz="1500" b="1" dirty="0">
                <a:solidFill>
                  <a:srgbClr val="0D9488"/>
                </a:solidFill>
                <a:latin typeface="Cambria" pitchFamily="34" charset="0"/>
                <a:ea typeface="Cambria" pitchFamily="34" charset="-122"/>
                <a:cs typeface="Cambria" pitchFamily="34" charset="-120"/>
              </a:rPr>
              <a:t>Lemma 4.1  </a:t>
            </a:r>
            <a:pPr indent="0" marL="0">
              <a:lnSpc>
                <a:spcPct val="125000"/>
              </a:lnSpc>
              <a:buNone/>
            </a:pPr>
            <a:r>
              <a:rPr lang="en-US" sz="1400" b="1" dirty="0">
                <a:solidFill>
                  <a:srgbClr val="1E293B"/>
                </a:solidFill>
                <a:latin typeface="Cambria" pitchFamily="34" charset="0"/>
                <a:ea typeface="Cambria" pitchFamily="34" charset="-122"/>
                <a:cs typeface="Cambria" pitchFamily="34" charset="-120"/>
              </a:rPr>
              <a:t>재계산 비용은 컨텍스트 길이의 제곱에 비례</a:t>
            </a:r>
            <a:pPr indent="0" marL="0">
              <a:lnSpc>
                <a:spcPct val="125000"/>
              </a:lnSpc>
              <a:buNone/>
            </a:pPr>
            <a:endParaRPr lang="en-US" sz="1500" dirty="0"/>
          </a:p>
          <a:p>
            <a:pPr indent="0" marL="0">
              <a:lnSpc>
                <a:spcPct val="125000"/>
              </a:lnSpc>
              <a:buNone/>
            </a:pPr>
            <a:r>
              <a:rPr lang="en-US" sz="1400" dirty="0">
                <a:solidFill>
                  <a:srgbClr val="334155"/>
                </a:solidFill>
                <a:latin typeface="Cambria" pitchFamily="34" charset="0"/>
                <a:ea typeface="Cambria" pitchFamily="34" charset="-122"/>
                <a:cs typeface="Cambria" pitchFamily="34" charset="-120"/>
              </a:rPr>
              <a:t>Cost</a:t>
            </a:r>
            <a:endParaRPr lang="en-US" sz="1500" dirty="0"/>
          </a:p>
          <a:p>
            <a:pPr indent="0" marL="0">
              <a:lnSpc>
                <a:spcPct val="125000"/>
              </a:lnSpc>
              <a:buNone/>
            </a:pPr>
            <a:r>
              <a:rPr lang="en-US" sz="900" dirty="0">
                <a:solidFill>
                  <a:srgbClr val="334155"/>
                </a:solidFill>
                <a:latin typeface="Cambria" pitchFamily="34" charset="0"/>
                <a:ea typeface="Cambria" pitchFamily="34" charset="-122"/>
                <a:cs typeface="Cambria" pitchFamily="34" charset="-120"/>
              </a:rPr>
              <a:t>recompute</a:t>
            </a:r>
            <a:pPr indent="0" marL="0">
              <a:lnSpc>
                <a:spcPct val="125000"/>
              </a:lnSpc>
              <a:buNone/>
            </a:pPr>
            <a:r>
              <a:rPr lang="en-US" sz="1400" dirty="0">
                <a:solidFill>
                  <a:srgbClr val="334155"/>
                </a:solidFill>
                <a:latin typeface="Cambria" pitchFamily="34" charset="0"/>
                <a:ea typeface="Cambria" pitchFamily="34" charset="-122"/>
                <a:cs typeface="Cambria" pitchFamily="34" charset="-120"/>
              </a:rPr>
              <a:t> ∝ c</a:t>
            </a:r>
            <a:pPr indent="0" marL="0">
              <a:lnSpc>
                <a:spcPct val="125000"/>
              </a:lnSpc>
              <a:buNone/>
            </a:pPr>
            <a:r>
              <a:rPr lang="en-US" sz="900" dirty="0">
                <a:solidFill>
                  <a:srgbClr val="334155"/>
                </a:solidFill>
                <a:latin typeface="Cambria" pitchFamily="34" charset="0"/>
                <a:ea typeface="Cambria" pitchFamily="34" charset="-122"/>
                <a:cs typeface="Cambria" pitchFamily="34" charset="-120"/>
              </a:rPr>
              <a:t>i</a:t>
            </a:r>
            <a:pPr indent="0" marL="0">
              <a:lnSpc>
                <a:spcPct val="125000"/>
              </a:lnSpc>
              <a:buNone/>
            </a:pPr>
            <a:r>
              <a:rPr lang="en-US" sz="1250" dirty="0">
                <a:solidFill>
                  <a:srgbClr val="334155"/>
                </a:solidFill>
                <a:latin typeface="Cambria" pitchFamily="34" charset="0"/>
                <a:ea typeface="Cambria" pitchFamily="34" charset="-122"/>
                <a:cs typeface="Cambria" pitchFamily="34" charset="-120"/>
              </a:rPr>
              <a:t>²   (청크 prefill이 선형 누적 → 적분하면 제곱)</a:t>
            </a:r>
            <a:endParaRPr lang="en-US" sz="1500" dirty="0"/>
          </a:p>
        </p:txBody>
      </p:sp>
      <p:sp>
        <p:nvSpPr>
          <p:cNvPr id="6" name="Shape 4"/>
          <p:cNvSpPr/>
          <p:nvPr/>
        </p:nvSpPr>
        <p:spPr>
          <a:xfrm>
            <a:off x="640080" y="3200400"/>
            <a:ext cx="5074920" cy="1188720"/>
          </a:xfrm>
          <a:prstGeom prst="roundRect">
            <a:avLst>
              <a:gd name="adj" fmla="val 6923"/>
            </a:avLst>
          </a:prstGeom>
          <a:solidFill>
            <a:srgbClr val="0E1729"/>
          </a:solidFill>
          <a:ln/>
        </p:spPr>
      </p:sp>
      <p:sp>
        <p:nvSpPr>
          <p:cNvPr id="7" name="Text 5"/>
          <p:cNvSpPr/>
          <p:nvPr/>
        </p:nvSpPr>
        <p:spPr>
          <a:xfrm>
            <a:off x="822960" y="3200400"/>
            <a:ext cx="4709160" cy="1188720"/>
          </a:xfrm>
          <a:prstGeom prst="rect">
            <a:avLst/>
          </a:prstGeom>
          <a:noFill/>
          <a:ln/>
        </p:spPr>
        <p:txBody>
          <a:bodyPr wrap="square" rtlCol="0" anchor="ctr"/>
          <a:lstStyle/>
          <a:p>
            <a:pPr algn="ctr" indent="0" marL="0">
              <a:buNone/>
            </a:pPr>
            <a:r>
              <a:rPr lang="en-US" sz="1500" b="1" dirty="0">
                <a:solidFill>
                  <a:srgbClr val="F5B301"/>
                </a:solidFill>
                <a:latin typeface="Cambria" pitchFamily="34" charset="0"/>
                <a:ea typeface="Cambria" pitchFamily="34" charset="-122"/>
                <a:cs typeface="Cambria" pitchFamily="34" charset="-120"/>
              </a:rPr>
              <a:t>min</a:t>
            </a:r>
            <a:pPr algn="ctr" indent="0" marL="0">
              <a:buNone/>
            </a:pPr>
            <a:r>
              <a:rPr lang="en-US" sz="2000" dirty="0">
                <a:solidFill>
                  <a:srgbClr val="FFFFFF"/>
                </a:solidFill>
                <a:latin typeface="Cambria" pitchFamily="34" charset="0"/>
                <a:ea typeface="Cambria" pitchFamily="34" charset="-122"/>
                <a:cs typeface="Cambria" pitchFamily="34" charset="-120"/>
              </a:rPr>
              <a:t> Σ</a:t>
            </a:r>
            <a:pPr algn="ctr" indent="0" marL="0">
              <a:buNone/>
            </a:pPr>
            <a:r>
              <a:rPr lang="en-US" sz="1100" dirty="0">
                <a:solidFill>
                  <a:srgbClr val="94A3B8"/>
                </a:solidFill>
                <a:latin typeface="Cambria" pitchFamily="34" charset="0"/>
                <a:ea typeface="Cambria" pitchFamily="34" charset="-122"/>
                <a:cs typeface="Cambria" pitchFamily="34" charset="-120"/>
              </a:rPr>
              <a:t>i∈S</a:t>
            </a:r>
            <a:pPr algn="ctr" indent="0" marL="0">
              <a:buNone/>
            </a:pPr>
            <a:r>
              <a:rPr lang="en-US" sz="2000" dirty="0">
                <a:solidFill>
                  <a:srgbClr val="FFFFFF"/>
                </a:solidFill>
                <a:latin typeface="Cambria" pitchFamily="34" charset="0"/>
                <a:ea typeface="Cambria" pitchFamily="34" charset="-122"/>
                <a:cs typeface="Cambria" pitchFamily="34" charset="-120"/>
              </a:rPr>
              <a:t> c</a:t>
            </a:r>
            <a:pPr algn="ctr" indent="0" marL="0">
              <a:buNone/>
            </a:pPr>
            <a:r>
              <a:rPr lang="en-US" sz="1100" dirty="0">
                <a:solidFill>
                  <a:srgbClr val="94A3B8"/>
                </a:solidFill>
                <a:latin typeface="Cambria" pitchFamily="34" charset="0"/>
                <a:ea typeface="Cambria" pitchFamily="34" charset="-122"/>
                <a:cs typeface="Cambria" pitchFamily="34" charset="-120"/>
              </a:rPr>
              <a:t>i</a:t>
            </a:r>
            <a:pPr algn="ctr" indent="0" marL="0">
              <a:buNone/>
            </a:pPr>
            <a:r>
              <a:rPr lang="en-US" sz="1800" dirty="0">
                <a:solidFill>
                  <a:srgbClr val="FFFFFF"/>
                </a:solidFill>
                <a:latin typeface="Cambria" pitchFamily="34" charset="0"/>
                <a:ea typeface="Cambria" pitchFamily="34" charset="-122"/>
                <a:cs typeface="Cambria" pitchFamily="34" charset="-120"/>
              </a:rPr>
              <a:t>²      s.t.  Σ c</a:t>
            </a:r>
            <a:pPr algn="ctr" indent="0" marL="0">
              <a:buNone/>
            </a:pPr>
            <a:r>
              <a:rPr lang="en-US" sz="1100" dirty="0">
                <a:solidFill>
                  <a:srgbClr val="94A3B8"/>
                </a:solidFill>
                <a:latin typeface="Cambria" pitchFamily="34" charset="0"/>
                <a:ea typeface="Cambria" pitchFamily="34" charset="-122"/>
                <a:cs typeface="Cambria" pitchFamily="34" charset="-120"/>
              </a:rPr>
              <a:t>i</a:t>
            </a:r>
            <a:pPr algn="ctr" indent="0" marL="0">
              <a:buNone/>
            </a:pPr>
            <a:r>
              <a:rPr lang="en-US" sz="1800" dirty="0">
                <a:solidFill>
                  <a:srgbClr val="FFFFFF"/>
                </a:solidFill>
                <a:latin typeface="Cambria" pitchFamily="34" charset="0"/>
                <a:ea typeface="Cambria" pitchFamily="34" charset="-122"/>
                <a:cs typeface="Cambria" pitchFamily="34" charset="-120"/>
              </a:rPr>
              <a:t> ≥ ΔC</a:t>
            </a:r>
            <a:endParaRPr lang="en-US" sz="1500" dirty="0"/>
          </a:p>
        </p:txBody>
      </p:sp>
      <p:sp>
        <p:nvSpPr>
          <p:cNvPr id="8" name="Text 6"/>
          <p:cNvSpPr/>
          <p:nvPr/>
        </p:nvSpPr>
        <p:spPr>
          <a:xfrm>
            <a:off x="640080" y="4572000"/>
            <a:ext cx="5074920" cy="1280160"/>
          </a:xfrm>
          <a:prstGeom prst="rect">
            <a:avLst/>
          </a:prstGeom>
          <a:noFill/>
          <a:ln/>
        </p:spPr>
        <p:txBody>
          <a:bodyPr wrap="square" rtlCol="0" anchor="t"/>
          <a:lstStyle/>
          <a:p>
            <a:pPr indent="0" marL="0">
              <a:lnSpc>
                <a:spcPct val="125000"/>
              </a:lnSpc>
              <a:buNone/>
            </a:pPr>
            <a:r>
              <a:rPr lang="en-US" sz="1350" dirty="0">
                <a:solidFill>
                  <a:srgbClr val="334155"/>
                </a:solidFill>
                <a:latin typeface="Arial" pitchFamily="34" charset="0"/>
                <a:ea typeface="Arial" pitchFamily="34" charset="-122"/>
                <a:cs typeface="Arial" pitchFamily="34" charset="-120"/>
              </a:rPr>
              <a:t>제곱 비용은 볼록·초가법적 → </a:t>
            </a:r>
            <a:pPr indent="0" marL="0">
              <a:lnSpc>
                <a:spcPct val="125000"/>
              </a:lnSpc>
              <a:buNone/>
            </a:pPr>
            <a:r>
              <a:rPr lang="en-US" sz="1350" b="1" dirty="0">
                <a:solidFill>
                  <a:srgbClr val="0D9488"/>
                </a:solidFill>
                <a:latin typeface="Arial" pitchFamily="34" charset="0"/>
                <a:ea typeface="Arial" pitchFamily="34" charset="-122"/>
                <a:cs typeface="Arial" pitchFamily="34" charset="-120"/>
              </a:rPr>
              <a:t>작은 것 여러 개가 큰 것 하나보다 항상 싸다</a:t>
            </a:r>
            <a:pPr indent="0" marL="0">
              <a:lnSpc>
                <a:spcPct val="125000"/>
              </a:lnSpc>
              <a:buNone/>
            </a:pPr>
            <a:r>
              <a:rPr lang="en-US" sz="1350" dirty="0">
                <a:solidFill>
                  <a:srgbClr val="334155"/>
                </a:solidFill>
                <a:latin typeface="Arial" pitchFamily="34" charset="0"/>
                <a:ea typeface="Arial" pitchFamily="34" charset="-122"/>
                <a:cs typeface="Arial" pitchFamily="34" charset="-120"/>
              </a:rPr>
              <a:t>.</a:t>
            </a:r>
            <a:endParaRPr lang="en-US" sz="1350" dirty="0"/>
          </a:p>
          <a:p>
            <a:pPr indent="0" marL="0">
              <a:lnSpc>
                <a:spcPct val="125000"/>
              </a:lnSpc>
              <a:buNone/>
            </a:pPr>
            <a:r>
              <a:rPr lang="en-US" sz="1350" dirty="0">
                <a:solidFill>
                  <a:srgbClr val="334155"/>
                </a:solidFill>
                <a:latin typeface="Arial" pitchFamily="34" charset="0"/>
                <a:ea typeface="Arial" pitchFamily="34" charset="-122"/>
                <a:cs typeface="Arial" pitchFamily="34" charset="-120"/>
              </a:rPr>
              <a:t>따라서 컨텍스트가 가장 짧은 프로그램부터 그리디하게 Pause·축출.</a:t>
            </a:r>
            <a:endParaRPr lang="en-US" sz="1350" dirty="0"/>
          </a:p>
        </p:txBody>
      </p:sp>
      <p:sp>
        <p:nvSpPr>
          <p:cNvPr id="9" name="Text 7"/>
          <p:cNvSpPr/>
          <p:nvPr/>
        </p:nvSpPr>
        <p:spPr>
          <a:xfrm>
            <a:off x="5989320" y="1783080"/>
            <a:ext cx="5532120" cy="365760"/>
          </a:xfrm>
          <a:prstGeom prst="rect">
            <a:avLst/>
          </a:prstGeom>
          <a:noFill/>
          <a:ln/>
        </p:spPr>
        <p:txBody>
          <a:bodyPr wrap="square" rtlCol="0" anchor="ctr"/>
          <a:lstStyle/>
          <a:p>
            <a:pPr indent="0" marL="0">
              <a:buNone/>
            </a:pPr>
            <a:r>
              <a:rPr lang="en-US" sz="1500" b="1" dirty="0">
                <a:solidFill>
                  <a:srgbClr val="1E293B"/>
                </a:solidFill>
                <a:latin typeface="Arial" pitchFamily="34" charset="0"/>
                <a:ea typeface="Arial" pitchFamily="34" charset="-122"/>
                <a:cs typeface="Arial" pitchFamily="34" charset="-120"/>
              </a:rPr>
              <a:t>실제 점수 (상태 τ 를 길이보다 우선)</a:t>
            </a:r>
            <a:endParaRPr lang="en-US" sz="1500" dirty="0"/>
          </a:p>
        </p:txBody>
      </p:sp>
      <p:sp>
        <p:nvSpPr>
          <p:cNvPr id="10" name="Shape 8"/>
          <p:cNvSpPr/>
          <p:nvPr/>
        </p:nvSpPr>
        <p:spPr>
          <a:xfrm>
            <a:off x="5989320" y="2240280"/>
            <a:ext cx="5532120" cy="1691640"/>
          </a:xfrm>
          <a:prstGeom prst="roundRect">
            <a:avLst>
              <a:gd name="adj" fmla="val 5405"/>
            </a:avLst>
          </a:prstGeom>
          <a:solidFill>
            <a:srgbClr val="D9F2E6"/>
          </a:solidFill>
          <a:ln/>
        </p:spPr>
      </p:sp>
      <p:sp>
        <p:nvSpPr>
          <p:cNvPr id="11" name="Shape 9"/>
          <p:cNvSpPr/>
          <p:nvPr/>
        </p:nvSpPr>
        <p:spPr>
          <a:xfrm>
            <a:off x="6263640" y="2468880"/>
            <a:ext cx="640080" cy="640080"/>
          </a:xfrm>
          <a:prstGeom prst="ellipse">
            <a:avLst/>
          </a:prstGeom>
          <a:solidFill>
            <a:srgbClr val="059669"/>
          </a:solidFill>
          <a:ln/>
        </p:spPr>
      </p:sp>
      <p:pic>
        <p:nvPicPr>
          <p:cNvPr id="12" name="Image 0" descr="preencoded.png">    </p:cNvPr>
          <p:cNvPicPr>
            <a:picLocks noChangeAspect="1"/>
          </p:cNvPicPr>
          <p:nvPr/>
        </p:nvPicPr>
        <p:blipFill>
          <a:blip r:embed="rId1"/>
          <a:stretch>
            <a:fillRect/>
          </a:stretch>
        </p:blipFill>
        <p:spPr>
          <a:xfrm>
            <a:off x="6430061" y="2635301"/>
            <a:ext cx="307238" cy="307238"/>
          </a:xfrm>
          <a:prstGeom prst="rect">
            <a:avLst/>
          </a:prstGeom>
        </p:spPr>
      </p:pic>
      <p:sp>
        <p:nvSpPr>
          <p:cNvPr id="13" name="Text 10"/>
          <p:cNvSpPr/>
          <p:nvPr/>
        </p:nvSpPr>
        <p:spPr>
          <a:xfrm>
            <a:off x="7040880" y="2487168"/>
            <a:ext cx="4251960" cy="640080"/>
          </a:xfrm>
          <a:prstGeom prst="rect">
            <a:avLst/>
          </a:prstGeom>
          <a:noFill/>
          <a:ln/>
        </p:spPr>
        <p:txBody>
          <a:bodyPr wrap="square" rtlCol="0" anchor="ctr"/>
          <a:lstStyle/>
          <a:p>
            <a:pPr indent="0" marL="0">
              <a:buNone/>
            </a:pPr>
            <a:r>
              <a:rPr lang="en-US" sz="1900" b="1" dirty="0">
                <a:solidFill>
                  <a:srgbClr val="059669"/>
                </a:solidFill>
                <a:latin typeface="Cambria" pitchFamily="34" charset="0"/>
                <a:ea typeface="Cambria" pitchFamily="34" charset="-122"/>
                <a:cs typeface="Cambria" pitchFamily="34" charset="-120"/>
              </a:rPr>
              <a:t>S</a:t>
            </a:r>
            <a:pPr indent="0" marL="0">
              <a:buNone/>
            </a:pPr>
            <a:r>
              <a:rPr lang="en-US" sz="1100" dirty="0">
                <a:solidFill>
                  <a:srgbClr val="059669"/>
                </a:solidFill>
              </a:rPr>
              <a:t>restore</a:t>
            </a:r>
            <a:pPr indent="0" marL="0">
              <a:buNone/>
            </a:pPr>
            <a:r>
              <a:rPr lang="en-US" sz="1900" b="1" dirty="0">
                <a:solidFill>
                  <a:srgbClr val="1E293B"/>
                </a:solidFill>
                <a:latin typeface="Cambria" pitchFamily="34" charset="0"/>
                <a:ea typeface="Cambria" pitchFamily="34" charset="-122"/>
                <a:cs typeface="Cambria" pitchFamily="34" charset="-120"/>
              </a:rPr>
              <a:t>(P) = 1/c</a:t>
            </a:r>
            <a:pPr indent="0" marL="0">
              <a:buNone/>
            </a:pPr>
            <a:r>
              <a:rPr lang="en-US" sz="1100" dirty="0">
                <a:solidFill>
                  <a:srgbClr val="64748B"/>
                </a:solidFill>
              </a:rPr>
              <a:t>P</a:t>
            </a:r>
            <a:pPr indent="0" marL="0">
              <a:buNone/>
            </a:pPr>
            <a:r>
              <a:rPr lang="en-US" sz="1900" b="1" dirty="0">
                <a:solidFill>
                  <a:srgbClr val="1E293B"/>
                </a:solidFill>
                <a:latin typeface="Cambria" pitchFamily="34" charset="0"/>
                <a:ea typeface="Cambria" pitchFamily="34" charset="-122"/>
                <a:cs typeface="Cambria" pitchFamily="34" charset="-120"/>
              </a:rPr>
              <a:t> + I(τ=R)</a:t>
            </a:r>
            <a:endParaRPr lang="en-US" sz="1900" dirty="0"/>
          </a:p>
        </p:txBody>
      </p:sp>
      <p:sp>
        <p:nvSpPr>
          <p:cNvPr id="14" name="Text 11"/>
          <p:cNvSpPr/>
          <p:nvPr/>
        </p:nvSpPr>
        <p:spPr>
          <a:xfrm>
            <a:off x="6309360" y="3200400"/>
            <a:ext cx="4937760" cy="640080"/>
          </a:xfrm>
          <a:prstGeom prst="rect">
            <a:avLst/>
          </a:prstGeom>
          <a:noFill/>
          <a:ln/>
        </p:spPr>
        <p:txBody>
          <a:bodyPr wrap="square" rtlCol="0" anchor="t"/>
          <a:lstStyle/>
          <a:p>
            <a:pPr indent="0" marL="0">
              <a:lnSpc>
                <a:spcPct val="115000"/>
              </a:lnSpc>
              <a:buNone/>
            </a:pPr>
            <a:r>
              <a:rPr lang="en-US" sz="1250" dirty="0">
                <a:solidFill>
                  <a:srgbClr val="334155"/>
                </a:solidFill>
                <a:latin typeface="Arial" pitchFamily="34" charset="0"/>
                <a:ea typeface="Arial" pitchFamily="34" charset="-122"/>
                <a:cs typeface="Arial" pitchFamily="34" charset="-120"/>
              </a:rPr>
              <a:t>Reasoning(생각 중) 프로그램을 먼저 복귀 → decode·prefill(효과적 일) 극대화</a:t>
            </a:r>
            <a:endParaRPr lang="en-US" sz="1250" dirty="0"/>
          </a:p>
        </p:txBody>
      </p:sp>
      <p:sp>
        <p:nvSpPr>
          <p:cNvPr id="15" name="Shape 12"/>
          <p:cNvSpPr/>
          <p:nvPr/>
        </p:nvSpPr>
        <p:spPr>
          <a:xfrm>
            <a:off x="5989320" y="4114800"/>
            <a:ext cx="5532120" cy="1691640"/>
          </a:xfrm>
          <a:prstGeom prst="roundRect">
            <a:avLst>
              <a:gd name="adj" fmla="val 5405"/>
            </a:avLst>
          </a:prstGeom>
          <a:solidFill>
            <a:srgbClr val="FCE1E1"/>
          </a:solidFill>
          <a:ln/>
        </p:spPr>
      </p:sp>
      <p:sp>
        <p:nvSpPr>
          <p:cNvPr id="16" name="Shape 13"/>
          <p:cNvSpPr/>
          <p:nvPr/>
        </p:nvSpPr>
        <p:spPr>
          <a:xfrm>
            <a:off x="6263640" y="4343400"/>
            <a:ext cx="640080" cy="640080"/>
          </a:xfrm>
          <a:prstGeom prst="ellipse">
            <a:avLst/>
          </a:prstGeom>
          <a:solidFill>
            <a:srgbClr val="DC2626"/>
          </a:solidFill>
          <a:ln/>
        </p:spPr>
      </p:sp>
      <p:pic>
        <p:nvPicPr>
          <p:cNvPr id="17" name="Image 1" descr="preencoded.png">    </p:cNvPr>
          <p:cNvPicPr>
            <a:picLocks noChangeAspect="1"/>
          </p:cNvPicPr>
          <p:nvPr/>
        </p:nvPicPr>
        <p:blipFill>
          <a:blip r:embed="rId2"/>
          <a:stretch>
            <a:fillRect/>
          </a:stretch>
        </p:blipFill>
        <p:spPr>
          <a:xfrm>
            <a:off x="6430061" y="4509821"/>
            <a:ext cx="307238" cy="307238"/>
          </a:xfrm>
          <a:prstGeom prst="rect">
            <a:avLst/>
          </a:prstGeom>
        </p:spPr>
      </p:pic>
      <p:sp>
        <p:nvSpPr>
          <p:cNvPr id="18" name="Text 14"/>
          <p:cNvSpPr/>
          <p:nvPr/>
        </p:nvSpPr>
        <p:spPr>
          <a:xfrm>
            <a:off x="7040880" y="4361688"/>
            <a:ext cx="4251960" cy="640080"/>
          </a:xfrm>
          <a:prstGeom prst="rect">
            <a:avLst/>
          </a:prstGeom>
          <a:noFill/>
          <a:ln/>
        </p:spPr>
        <p:txBody>
          <a:bodyPr wrap="square" rtlCol="0" anchor="ctr"/>
          <a:lstStyle/>
          <a:p>
            <a:pPr indent="0" marL="0">
              <a:buNone/>
            </a:pPr>
            <a:r>
              <a:rPr lang="en-US" sz="1900" b="1" dirty="0">
                <a:solidFill>
                  <a:srgbClr val="DC2626"/>
                </a:solidFill>
                <a:latin typeface="Cambria" pitchFamily="34" charset="0"/>
                <a:ea typeface="Cambria" pitchFamily="34" charset="-122"/>
                <a:cs typeface="Cambria" pitchFamily="34" charset="-120"/>
              </a:rPr>
              <a:t>S</a:t>
            </a:r>
            <a:pPr indent="0" marL="0">
              <a:buNone/>
            </a:pPr>
            <a:r>
              <a:rPr lang="en-US" sz="1100" dirty="0">
                <a:solidFill>
                  <a:srgbClr val="DC2626"/>
                </a:solidFill>
              </a:rPr>
              <a:t>pause</a:t>
            </a:r>
            <a:pPr indent="0" marL="0">
              <a:buNone/>
            </a:pPr>
            <a:r>
              <a:rPr lang="en-US" sz="1900" b="1" dirty="0">
                <a:solidFill>
                  <a:srgbClr val="1E293B"/>
                </a:solidFill>
                <a:latin typeface="Cambria" pitchFamily="34" charset="0"/>
                <a:ea typeface="Cambria" pitchFamily="34" charset="-122"/>
                <a:cs typeface="Cambria" pitchFamily="34" charset="-120"/>
              </a:rPr>
              <a:t>(P) = 1/c</a:t>
            </a:r>
            <a:pPr indent="0" marL="0">
              <a:buNone/>
            </a:pPr>
            <a:r>
              <a:rPr lang="en-US" sz="1100" dirty="0">
                <a:solidFill>
                  <a:srgbClr val="64748B"/>
                </a:solidFill>
              </a:rPr>
              <a:t>P</a:t>
            </a:r>
            <a:pPr indent="0" marL="0">
              <a:buNone/>
            </a:pPr>
            <a:r>
              <a:rPr lang="en-US" sz="1900" b="1" dirty="0">
                <a:solidFill>
                  <a:srgbClr val="1E293B"/>
                </a:solidFill>
                <a:latin typeface="Cambria" pitchFamily="34" charset="0"/>
                <a:ea typeface="Cambria" pitchFamily="34" charset="-122"/>
                <a:cs typeface="Cambria" pitchFamily="34" charset="-120"/>
              </a:rPr>
              <a:t> + I(τ=A)</a:t>
            </a:r>
            <a:endParaRPr lang="en-US" sz="1900" dirty="0"/>
          </a:p>
        </p:txBody>
      </p:sp>
      <p:sp>
        <p:nvSpPr>
          <p:cNvPr id="19" name="Text 15"/>
          <p:cNvSpPr/>
          <p:nvPr/>
        </p:nvSpPr>
        <p:spPr>
          <a:xfrm>
            <a:off x="6309360" y="5074920"/>
            <a:ext cx="4937760" cy="640080"/>
          </a:xfrm>
          <a:prstGeom prst="rect">
            <a:avLst/>
          </a:prstGeom>
          <a:noFill/>
          <a:ln/>
        </p:spPr>
        <p:txBody>
          <a:bodyPr wrap="square" rtlCol="0" anchor="t"/>
          <a:lstStyle/>
          <a:p>
            <a:pPr indent="0" marL="0">
              <a:lnSpc>
                <a:spcPct val="115000"/>
              </a:lnSpc>
              <a:buNone/>
            </a:pPr>
            <a:r>
              <a:rPr lang="en-US" sz="1250" dirty="0">
                <a:solidFill>
                  <a:srgbClr val="334155"/>
                </a:solidFill>
                <a:latin typeface="Arial" pitchFamily="34" charset="0"/>
                <a:ea typeface="Arial" pitchFamily="34" charset="-122"/>
                <a:cs typeface="Arial" pitchFamily="34" charset="-120"/>
              </a:rPr>
              <a:t>Acting(툴 대기) 프로그램을 먼저 Pause → 붙잡은 캐시 회수, 유휴 캐싱 비용↓</a:t>
            </a:r>
            <a:endParaRPr lang="en-US" sz="1250" dirty="0"/>
          </a:p>
        </p:txBody>
      </p:sp>
      <p:sp>
        <p:nvSpPr>
          <p:cNvPr id="20" name="Text 16"/>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0D9488"/>
                </a:solidFill>
                <a:latin typeface="Arial" pitchFamily="34" charset="0"/>
                <a:ea typeface="Arial" pitchFamily="34" charset="-122"/>
                <a:cs typeface="Arial" pitchFamily="34" charset="-120"/>
              </a:rPr>
              <a:t>4.3.2 · 전역 프로그램 대기 큐</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노드마다 따로 대기 → 하나의 전역 큐로 통합</a:t>
            </a:r>
            <a:endParaRPr lang="en-US" sz="3200" dirty="0"/>
          </a:p>
        </p:txBody>
      </p:sp>
      <p:sp>
        <p:nvSpPr>
          <p:cNvPr id="4" name="Text 2"/>
          <p:cNvSpPr/>
          <p:nvPr/>
        </p:nvSpPr>
        <p:spPr>
          <a:xfrm>
            <a:off x="640080" y="1737360"/>
            <a:ext cx="5120640" cy="36576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기존: 노드에 고정 (KV 지역성 우선)</a:t>
            </a:r>
            <a:endParaRPr lang="en-US" sz="1400" dirty="0"/>
          </a:p>
        </p:txBody>
      </p:sp>
      <p:sp>
        <p:nvSpPr>
          <p:cNvPr id="5" name="Shape 3"/>
          <p:cNvSpPr/>
          <p:nvPr/>
        </p:nvSpPr>
        <p:spPr>
          <a:xfrm>
            <a:off x="640080" y="2148840"/>
            <a:ext cx="2377440" cy="3566160"/>
          </a:xfrm>
          <a:prstGeom prst="roundRect">
            <a:avLst>
              <a:gd name="adj" fmla="val 3846"/>
            </a:avLst>
          </a:prstGeom>
          <a:solidFill>
            <a:srgbClr val="FCE1E1"/>
          </a:solidFill>
          <a:ln/>
        </p:spPr>
      </p:sp>
      <p:sp>
        <p:nvSpPr>
          <p:cNvPr id="6" name="Text 4"/>
          <p:cNvSpPr/>
          <p:nvPr/>
        </p:nvSpPr>
        <p:spPr>
          <a:xfrm>
            <a:off x="640080" y="2286000"/>
            <a:ext cx="2377440" cy="320040"/>
          </a:xfrm>
          <a:prstGeom prst="rect">
            <a:avLst/>
          </a:prstGeom>
          <a:noFill/>
          <a:ln/>
        </p:spPr>
        <p:txBody>
          <a:bodyPr wrap="square"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Node 0</a:t>
            </a:r>
            <a:endParaRPr lang="en-US" sz="1300" dirty="0"/>
          </a:p>
        </p:txBody>
      </p:sp>
      <p:sp>
        <p:nvSpPr>
          <p:cNvPr id="7" name="Shape 5"/>
          <p:cNvSpPr/>
          <p:nvPr/>
        </p:nvSpPr>
        <p:spPr>
          <a:xfrm>
            <a:off x="868680" y="2697480"/>
            <a:ext cx="1920240" cy="2788920"/>
          </a:xfrm>
          <a:prstGeom prst="rect">
            <a:avLst/>
          </a:prstGeom>
          <a:solidFill>
            <a:srgbClr val="DC2626">
              <a:alpha val="75000"/>
            </a:srgbClr>
          </a:solidFill>
          <a:ln w="12700">
            <a:solidFill>
              <a:srgbClr val="DC2626"/>
            </a:solidFill>
            <a:prstDash val="solid"/>
          </a:ln>
        </p:spPr>
      </p:sp>
      <p:sp>
        <p:nvSpPr>
          <p:cNvPr id="8" name="Text 6"/>
          <p:cNvSpPr/>
          <p:nvPr/>
        </p:nvSpPr>
        <p:spPr>
          <a:xfrm>
            <a:off x="868680" y="3566160"/>
            <a:ext cx="1920240" cy="9144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과부하</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꽉 참</a:t>
            </a:r>
            <a:endParaRPr lang="en-US" sz="1300" dirty="0"/>
          </a:p>
        </p:txBody>
      </p:sp>
      <p:sp>
        <p:nvSpPr>
          <p:cNvPr id="9" name="Shape 7"/>
          <p:cNvSpPr/>
          <p:nvPr/>
        </p:nvSpPr>
        <p:spPr>
          <a:xfrm>
            <a:off x="3246120" y="2148840"/>
            <a:ext cx="2377440" cy="3566160"/>
          </a:xfrm>
          <a:prstGeom prst="roundRect">
            <a:avLst>
              <a:gd name="adj" fmla="val 3846"/>
            </a:avLst>
          </a:prstGeom>
          <a:solidFill>
            <a:srgbClr val="E8F0EE"/>
          </a:solidFill>
          <a:ln/>
        </p:spPr>
      </p:sp>
      <p:sp>
        <p:nvSpPr>
          <p:cNvPr id="10" name="Text 8"/>
          <p:cNvSpPr/>
          <p:nvPr/>
        </p:nvSpPr>
        <p:spPr>
          <a:xfrm>
            <a:off x="3246120" y="2286000"/>
            <a:ext cx="2377440" cy="320040"/>
          </a:xfrm>
          <a:prstGeom prst="rect">
            <a:avLst/>
          </a:prstGeom>
          <a:noFill/>
          <a:ln/>
        </p:spPr>
        <p:txBody>
          <a:bodyPr wrap="square"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Node 1</a:t>
            </a:r>
            <a:endParaRPr lang="en-US" sz="1300" dirty="0"/>
          </a:p>
        </p:txBody>
      </p:sp>
      <p:sp>
        <p:nvSpPr>
          <p:cNvPr id="11" name="Shape 9"/>
          <p:cNvSpPr/>
          <p:nvPr/>
        </p:nvSpPr>
        <p:spPr>
          <a:xfrm>
            <a:off x="3474720" y="4709160"/>
            <a:ext cx="1920240" cy="777240"/>
          </a:xfrm>
          <a:prstGeom prst="rect">
            <a:avLst/>
          </a:prstGeom>
          <a:solidFill>
            <a:srgbClr val="0D9488">
              <a:alpha val="60000"/>
            </a:srgbClr>
          </a:solidFill>
          <a:ln w="12700">
            <a:solidFill>
              <a:srgbClr val="0D9488"/>
            </a:solidFill>
            <a:prstDash val="solid"/>
          </a:ln>
        </p:spPr>
      </p:sp>
      <p:sp>
        <p:nvSpPr>
          <p:cNvPr id="12" name="Text 10"/>
          <p:cNvSpPr/>
          <p:nvPr/>
        </p:nvSpPr>
        <p:spPr>
          <a:xfrm>
            <a:off x="3474720" y="3566160"/>
            <a:ext cx="1920240" cy="914400"/>
          </a:xfrm>
          <a:prstGeom prst="rect">
            <a:avLst/>
          </a:prstGeom>
          <a:noFill/>
          <a:ln/>
        </p:spPr>
        <p:txBody>
          <a:bodyPr wrap="square" rtlCol="0" anchor="ctr"/>
          <a:lstStyle/>
          <a:p>
            <a:pPr algn="ctr" indent="0" marL="0">
              <a:buNone/>
            </a:pPr>
            <a:r>
              <a:rPr lang="en-US" sz="1250" b="1" dirty="0">
                <a:solidFill>
                  <a:srgbClr val="0D9488"/>
                </a:solidFill>
                <a:latin typeface="Arial" pitchFamily="34" charset="0"/>
                <a:ea typeface="Arial" pitchFamily="34" charset="-122"/>
                <a:cs typeface="Arial" pitchFamily="34" charset="-120"/>
              </a:rPr>
              <a:t>놀고 있음</a:t>
            </a:r>
            <a:endParaRPr lang="en-US" sz="1250" dirty="0"/>
          </a:p>
          <a:p>
            <a:pPr algn="ctr" indent="0" marL="0">
              <a:buNone/>
            </a:pPr>
            <a:r>
              <a:rPr lang="en-US" sz="1250" b="1" dirty="0">
                <a:solidFill>
                  <a:srgbClr val="0D9488"/>
                </a:solidFill>
                <a:latin typeface="Arial" pitchFamily="34" charset="0"/>
                <a:ea typeface="Arial" pitchFamily="34" charset="-122"/>
                <a:cs typeface="Arial" pitchFamily="34" charset="-120"/>
              </a:rPr>
              <a:t>(Cost unused)</a:t>
            </a:r>
            <a:endParaRPr lang="en-US" sz="1250" dirty="0"/>
          </a:p>
        </p:txBody>
      </p:sp>
      <p:pic>
        <p:nvPicPr>
          <p:cNvPr id="13" name="Image 0" descr="preencoded.png">    </p:cNvPr>
          <p:cNvPicPr>
            <a:picLocks noChangeAspect="1"/>
          </p:cNvPicPr>
          <p:nvPr/>
        </p:nvPicPr>
        <p:blipFill>
          <a:blip r:embed="rId1"/>
          <a:stretch>
            <a:fillRect/>
          </a:stretch>
        </p:blipFill>
        <p:spPr>
          <a:xfrm>
            <a:off x="5806440" y="3611880"/>
            <a:ext cx="548640" cy="548640"/>
          </a:xfrm>
          <a:prstGeom prst="rect">
            <a:avLst/>
          </a:prstGeom>
        </p:spPr>
      </p:pic>
      <p:sp>
        <p:nvSpPr>
          <p:cNvPr id="14" name="Text 11"/>
          <p:cNvSpPr/>
          <p:nvPr/>
        </p:nvSpPr>
        <p:spPr>
          <a:xfrm>
            <a:off x="6355080" y="1737360"/>
            <a:ext cx="5120640" cy="365760"/>
          </a:xfrm>
          <a:prstGeom prst="rect">
            <a:avLst/>
          </a:prstGeom>
          <a:noFill/>
          <a:ln/>
        </p:spPr>
        <p:txBody>
          <a:bodyPr wrap="square" rtlCol="0" anchor="ctr"/>
          <a:lstStyle/>
          <a:p>
            <a:pPr indent="0" marL="0">
              <a:buNone/>
            </a:pPr>
            <a:r>
              <a:rPr lang="en-US" sz="1400" b="1" dirty="0">
                <a:solidFill>
                  <a:srgbClr val="059669"/>
                </a:solidFill>
                <a:latin typeface="Arial" pitchFamily="34" charset="0"/>
                <a:ea typeface="Arial" pitchFamily="34" charset="-122"/>
                <a:cs typeface="Arial" pitchFamily="34" charset="-120"/>
              </a:rPr>
              <a:t>ThunderAgent: 전역 큐 공유</a:t>
            </a:r>
            <a:endParaRPr lang="en-US" sz="1400" dirty="0"/>
          </a:p>
        </p:txBody>
      </p:sp>
      <p:sp>
        <p:nvSpPr>
          <p:cNvPr id="15" name="Shape 12"/>
          <p:cNvSpPr/>
          <p:nvPr/>
        </p:nvSpPr>
        <p:spPr>
          <a:xfrm>
            <a:off x="6355080" y="2148840"/>
            <a:ext cx="5166360" cy="1005840"/>
          </a:xfrm>
          <a:prstGeom prst="roundRect">
            <a:avLst>
              <a:gd name="adj" fmla="val 8182"/>
            </a:avLst>
          </a:prstGeom>
          <a:solidFill>
            <a:srgbClr val="0E1729"/>
          </a:solidFill>
          <a:ln/>
        </p:spPr>
      </p:sp>
      <p:sp>
        <p:nvSpPr>
          <p:cNvPr id="16" name="Text 13"/>
          <p:cNvSpPr/>
          <p:nvPr/>
        </p:nvSpPr>
        <p:spPr>
          <a:xfrm>
            <a:off x="6355080" y="2240280"/>
            <a:ext cx="5166360" cy="320040"/>
          </a:xfrm>
          <a:prstGeom prst="rect">
            <a:avLst/>
          </a:prstGeom>
          <a:noFill/>
          <a:ln/>
        </p:spPr>
        <p:txBody>
          <a:bodyPr wrap="square" rtlCol="0" anchor="ctr"/>
          <a:lstStyle/>
          <a:p>
            <a:pPr algn="ctr" indent="0" marL="0">
              <a:buNone/>
            </a:pPr>
            <a:r>
              <a:rPr lang="en-US" sz="1250" b="1" dirty="0">
                <a:solidFill>
                  <a:srgbClr val="F5B301"/>
                </a:solidFill>
                <a:latin typeface="Arial" pitchFamily="34" charset="0"/>
                <a:ea typeface="Arial" pitchFamily="34" charset="-122"/>
                <a:cs typeface="Arial" pitchFamily="34" charset="-120"/>
              </a:rPr>
              <a:t>전역 대기 큐 (Paused 프로그램)</a:t>
            </a:r>
            <a:endParaRPr lang="en-US" sz="1250" dirty="0"/>
          </a:p>
        </p:txBody>
      </p:sp>
      <p:sp>
        <p:nvSpPr>
          <p:cNvPr id="17" name="Shape 14"/>
          <p:cNvSpPr/>
          <p:nvPr/>
        </p:nvSpPr>
        <p:spPr>
          <a:xfrm>
            <a:off x="6629400" y="2606040"/>
            <a:ext cx="1371600" cy="457200"/>
          </a:xfrm>
          <a:prstGeom prst="roundRect">
            <a:avLst>
              <a:gd name="adj" fmla="val 10000"/>
            </a:avLst>
          </a:prstGeom>
          <a:solidFill>
            <a:srgbClr val="334155"/>
          </a:solidFill>
          <a:ln/>
        </p:spPr>
      </p:sp>
      <p:sp>
        <p:nvSpPr>
          <p:cNvPr id="18" name="Text 15"/>
          <p:cNvSpPr/>
          <p:nvPr/>
        </p:nvSpPr>
        <p:spPr>
          <a:xfrm>
            <a:off x="6629400" y="2606040"/>
            <a:ext cx="13716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P6</a:t>
            </a:r>
            <a:endParaRPr lang="en-US" sz="1200" dirty="0"/>
          </a:p>
        </p:txBody>
      </p:sp>
      <p:sp>
        <p:nvSpPr>
          <p:cNvPr id="19" name="Shape 16"/>
          <p:cNvSpPr/>
          <p:nvPr/>
        </p:nvSpPr>
        <p:spPr>
          <a:xfrm>
            <a:off x="8229600" y="2606040"/>
            <a:ext cx="1371600" cy="457200"/>
          </a:xfrm>
          <a:prstGeom prst="roundRect">
            <a:avLst>
              <a:gd name="adj" fmla="val 10000"/>
            </a:avLst>
          </a:prstGeom>
          <a:solidFill>
            <a:srgbClr val="334155"/>
          </a:solidFill>
          <a:ln/>
        </p:spPr>
      </p:sp>
      <p:sp>
        <p:nvSpPr>
          <p:cNvPr id="20" name="Text 17"/>
          <p:cNvSpPr/>
          <p:nvPr/>
        </p:nvSpPr>
        <p:spPr>
          <a:xfrm>
            <a:off x="8229600" y="2606040"/>
            <a:ext cx="13716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P9</a:t>
            </a:r>
            <a:endParaRPr lang="en-US" sz="1200" dirty="0"/>
          </a:p>
        </p:txBody>
      </p:sp>
      <p:sp>
        <p:nvSpPr>
          <p:cNvPr id="21" name="Shape 18"/>
          <p:cNvSpPr/>
          <p:nvPr/>
        </p:nvSpPr>
        <p:spPr>
          <a:xfrm>
            <a:off x="9829800" y="2606040"/>
            <a:ext cx="1371600" cy="457200"/>
          </a:xfrm>
          <a:prstGeom prst="roundRect">
            <a:avLst>
              <a:gd name="adj" fmla="val 10000"/>
            </a:avLst>
          </a:prstGeom>
          <a:solidFill>
            <a:srgbClr val="334155"/>
          </a:solidFill>
          <a:ln/>
        </p:spPr>
      </p:sp>
      <p:sp>
        <p:nvSpPr>
          <p:cNvPr id="22" name="Text 19"/>
          <p:cNvSpPr/>
          <p:nvPr/>
        </p:nvSpPr>
        <p:spPr>
          <a:xfrm>
            <a:off x="9829800" y="2606040"/>
            <a:ext cx="13716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P11</a:t>
            </a:r>
            <a:endParaRPr lang="en-US" sz="1200" dirty="0"/>
          </a:p>
        </p:txBody>
      </p:sp>
      <p:sp>
        <p:nvSpPr>
          <p:cNvPr id="23" name="Shape 20"/>
          <p:cNvSpPr/>
          <p:nvPr/>
        </p:nvSpPr>
        <p:spPr>
          <a:xfrm>
            <a:off x="6355080" y="3977640"/>
            <a:ext cx="2468880" cy="1737360"/>
          </a:xfrm>
          <a:prstGeom prst="roundRect">
            <a:avLst>
              <a:gd name="adj" fmla="val 5263"/>
            </a:avLst>
          </a:prstGeom>
          <a:solidFill>
            <a:srgbClr val="E8F0EE"/>
          </a:solidFill>
          <a:ln/>
        </p:spPr>
      </p:sp>
      <p:sp>
        <p:nvSpPr>
          <p:cNvPr id="24" name="Text 21"/>
          <p:cNvSpPr/>
          <p:nvPr/>
        </p:nvSpPr>
        <p:spPr>
          <a:xfrm>
            <a:off x="6355080" y="4069080"/>
            <a:ext cx="2468880" cy="320040"/>
          </a:xfrm>
          <a:prstGeom prst="rect">
            <a:avLst/>
          </a:prstGeom>
          <a:noFill/>
          <a:ln/>
        </p:spPr>
        <p:txBody>
          <a:bodyPr wrap="square"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Node 0</a:t>
            </a:r>
            <a:endParaRPr lang="en-US" sz="1300" dirty="0"/>
          </a:p>
        </p:txBody>
      </p:sp>
      <p:sp>
        <p:nvSpPr>
          <p:cNvPr id="25" name="Shape 22"/>
          <p:cNvSpPr/>
          <p:nvPr/>
        </p:nvSpPr>
        <p:spPr>
          <a:xfrm>
            <a:off x="6583680" y="4526280"/>
            <a:ext cx="2011680" cy="1051560"/>
          </a:xfrm>
          <a:prstGeom prst="rect">
            <a:avLst/>
          </a:prstGeom>
          <a:solidFill>
            <a:srgbClr val="0D9488">
              <a:alpha val="75000"/>
            </a:srgbClr>
          </a:solidFill>
          <a:ln w="12700">
            <a:solidFill>
              <a:srgbClr val="0D9488"/>
            </a:solidFill>
            <a:prstDash val="solid"/>
          </a:ln>
        </p:spPr>
      </p:sp>
      <p:sp>
        <p:nvSpPr>
          <p:cNvPr id="26" name="Text 23"/>
          <p:cNvSpPr/>
          <p:nvPr/>
        </p:nvSpPr>
        <p:spPr>
          <a:xfrm>
            <a:off x="6583680" y="4526280"/>
            <a:ext cx="2011680" cy="10515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균형</a:t>
            </a:r>
            <a:endParaRPr lang="en-US" sz="1300" dirty="0"/>
          </a:p>
        </p:txBody>
      </p:sp>
      <p:sp>
        <p:nvSpPr>
          <p:cNvPr id="27" name="Shape 24"/>
          <p:cNvSpPr/>
          <p:nvPr/>
        </p:nvSpPr>
        <p:spPr>
          <a:xfrm>
            <a:off x="7589520" y="3063240"/>
            <a:ext cx="0" cy="914400"/>
          </a:xfrm>
          <a:prstGeom prst="line">
            <a:avLst/>
          </a:prstGeom>
          <a:noFill/>
          <a:ln w="31750">
            <a:solidFill>
              <a:srgbClr val="059669"/>
            </a:solidFill>
            <a:prstDash val="solid"/>
            <a:tailEnd type="triangle"/>
          </a:ln>
        </p:spPr>
      </p:sp>
      <p:sp>
        <p:nvSpPr>
          <p:cNvPr id="28" name="Shape 25"/>
          <p:cNvSpPr/>
          <p:nvPr/>
        </p:nvSpPr>
        <p:spPr>
          <a:xfrm>
            <a:off x="9052560" y="3977640"/>
            <a:ext cx="2468880" cy="1737360"/>
          </a:xfrm>
          <a:prstGeom prst="roundRect">
            <a:avLst>
              <a:gd name="adj" fmla="val 5263"/>
            </a:avLst>
          </a:prstGeom>
          <a:solidFill>
            <a:srgbClr val="E8F0EE"/>
          </a:solidFill>
          <a:ln/>
        </p:spPr>
      </p:sp>
      <p:sp>
        <p:nvSpPr>
          <p:cNvPr id="29" name="Text 26"/>
          <p:cNvSpPr/>
          <p:nvPr/>
        </p:nvSpPr>
        <p:spPr>
          <a:xfrm>
            <a:off x="9052560" y="4069080"/>
            <a:ext cx="2468880" cy="320040"/>
          </a:xfrm>
          <a:prstGeom prst="rect">
            <a:avLst/>
          </a:prstGeom>
          <a:noFill/>
          <a:ln/>
        </p:spPr>
        <p:txBody>
          <a:bodyPr wrap="square"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Node 1</a:t>
            </a:r>
            <a:endParaRPr lang="en-US" sz="1300" dirty="0"/>
          </a:p>
        </p:txBody>
      </p:sp>
      <p:sp>
        <p:nvSpPr>
          <p:cNvPr id="30" name="Shape 27"/>
          <p:cNvSpPr/>
          <p:nvPr/>
        </p:nvSpPr>
        <p:spPr>
          <a:xfrm>
            <a:off x="9281160" y="4526280"/>
            <a:ext cx="2011680" cy="1051560"/>
          </a:xfrm>
          <a:prstGeom prst="rect">
            <a:avLst/>
          </a:prstGeom>
          <a:solidFill>
            <a:srgbClr val="0D9488">
              <a:alpha val="75000"/>
            </a:srgbClr>
          </a:solidFill>
          <a:ln w="12700">
            <a:solidFill>
              <a:srgbClr val="0D9488"/>
            </a:solidFill>
            <a:prstDash val="solid"/>
          </a:ln>
        </p:spPr>
      </p:sp>
      <p:sp>
        <p:nvSpPr>
          <p:cNvPr id="31" name="Text 28"/>
          <p:cNvSpPr/>
          <p:nvPr/>
        </p:nvSpPr>
        <p:spPr>
          <a:xfrm>
            <a:off x="9281160" y="4526280"/>
            <a:ext cx="2011680" cy="10515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균형</a:t>
            </a:r>
            <a:endParaRPr lang="en-US" sz="1300" dirty="0"/>
          </a:p>
        </p:txBody>
      </p:sp>
      <p:sp>
        <p:nvSpPr>
          <p:cNvPr id="32" name="Shape 29"/>
          <p:cNvSpPr/>
          <p:nvPr/>
        </p:nvSpPr>
        <p:spPr>
          <a:xfrm>
            <a:off x="10287000" y="3063240"/>
            <a:ext cx="0" cy="914400"/>
          </a:xfrm>
          <a:prstGeom prst="line">
            <a:avLst/>
          </a:prstGeom>
          <a:noFill/>
          <a:ln w="31750">
            <a:solidFill>
              <a:srgbClr val="059669"/>
            </a:solidFill>
            <a:prstDash val="solid"/>
            <a:tailEnd type="triangle"/>
          </a:ln>
        </p:spPr>
      </p:sp>
      <p:sp>
        <p:nvSpPr>
          <p:cNvPr id="33" name="Text 3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12</a:t>
            </a:r>
            <a:endParaRPr lang="en-US" sz="1000" dirty="0"/>
          </a:p>
        </p:txBody>
      </p:sp>
      <p:sp>
        <p:nvSpPr>
          <p:cNvPr id="34" name="Text 31"/>
          <p:cNvSpPr/>
          <p:nvPr/>
        </p:nvSpPr>
        <p:spPr>
          <a:xfrm>
            <a:off x="6355080" y="5806440"/>
            <a:ext cx="5166360" cy="502920"/>
          </a:xfrm>
          <a:prstGeom prst="rect">
            <a:avLst/>
          </a:prstGeom>
          <a:noFill/>
          <a:ln/>
        </p:spPr>
        <p:txBody>
          <a:bodyPr wrap="square" rtlCol="0" anchor="ctr"/>
          <a:lstStyle/>
          <a:p>
            <a:pPr indent="0" marL="0">
              <a:lnSpc>
                <a:spcPct val="110000"/>
              </a:lnSpc>
              <a:buNone/>
            </a:pPr>
            <a:r>
              <a:rPr lang="en-US" sz="1100" i="1" dirty="0">
                <a:solidFill>
                  <a:srgbClr val="64748B"/>
                </a:solidFill>
                <a:latin typeface="Arial" pitchFamily="34" charset="0"/>
                <a:ea typeface="Arial" pitchFamily="34" charset="-122"/>
                <a:cs typeface="Arial" pitchFamily="34" charset="-120"/>
              </a:rPr>
              <a:t>Pause되면 캐시는 이미 축출됨 → 재계산 비용이 노드와 무관 → 여유 있는 아무 노드로 복귀 가능</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4.4 · TOOL RESOURCE MANAGEMENT</a:t>
            </a:r>
            <a:endParaRPr lang="en-US" sz="1300" dirty="0"/>
          </a:p>
        </p:txBody>
      </p:sp>
      <p:sp>
        <p:nvSpPr>
          <p:cNvPr id="3" name="Text 1"/>
          <p:cNvSpPr/>
          <p:nvPr/>
        </p:nvSpPr>
        <p:spPr>
          <a:xfrm>
            <a:off x="640080" y="841248"/>
            <a:ext cx="10972800" cy="777240"/>
          </a:xfrm>
          <a:prstGeom prst="rect">
            <a:avLst/>
          </a:prstGeom>
          <a:noFill/>
          <a:ln/>
        </p:spPr>
        <p:txBody>
          <a:bodyPr wrap="square"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GPU 밖의 자원도 프로그램 생명주기에 묶는다</a:t>
            </a:r>
            <a:endParaRPr lang="en-US" sz="3200" dirty="0"/>
          </a:p>
        </p:txBody>
      </p:sp>
      <p:sp>
        <p:nvSpPr>
          <p:cNvPr id="4" name="Shape 2"/>
          <p:cNvSpPr/>
          <p:nvPr/>
        </p:nvSpPr>
        <p:spPr>
          <a:xfrm>
            <a:off x="640080" y="1965960"/>
            <a:ext cx="5349240" cy="3977640"/>
          </a:xfrm>
          <a:prstGeom prst="roundRect">
            <a:avLst>
              <a:gd name="adj" fmla="val 2299"/>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5" name="Shape 3"/>
          <p:cNvSpPr/>
          <p:nvPr/>
        </p:nvSpPr>
        <p:spPr>
          <a:xfrm>
            <a:off x="960120" y="2286000"/>
            <a:ext cx="777240" cy="777240"/>
          </a:xfrm>
          <a:prstGeom prst="ellipse">
            <a:avLst/>
          </a:prstGeom>
          <a:solidFill>
            <a:srgbClr val="D5F0EC"/>
          </a:solidFill>
          <a:ln/>
        </p:spPr>
      </p:sp>
      <p:pic>
        <p:nvPicPr>
          <p:cNvPr id="6" name="Image 0" descr="preencoded.png">    </p:cNvPr>
          <p:cNvPicPr>
            <a:picLocks noChangeAspect="1"/>
          </p:cNvPicPr>
          <p:nvPr/>
        </p:nvPicPr>
        <p:blipFill>
          <a:blip r:embed="rId1"/>
          <a:stretch>
            <a:fillRect/>
          </a:stretch>
        </p:blipFill>
        <p:spPr>
          <a:xfrm>
            <a:off x="1162202" y="2488082"/>
            <a:ext cx="373075" cy="373075"/>
          </a:xfrm>
          <a:prstGeom prst="rect">
            <a:avLst/>
          </a:prstGeom>
        </p:spPr>
      </p:pic>
      <p:sp>
        <p:nvSpPr>
          <p:cNvPr id="7" name="Text 4"/>
          <p:cNvSpPr/>
          <p:nvPr/>
        </p:nvSpPr>
        <p:spPr>
          <a:xfrm>
            <a:off x="1874520" y="2350008"/>
            <a:ext cx="3886200" cy="640080"/>
          </a:xfrm>
          <a:prstGeom prst="rect">
            <a:avLst/>
          </a:prstGeom>
          <a:noFill/>
          <a:ln/>
        </p:spPr>
        <p:txBody>
          <a:bodyPr wrap="square" rtlCol="0" anchor="ctr"/>
          <a:lstStyle/>
          <a:p>
            <a:pPr indent="0" marL="0">
              <a:buNone/>
            </a:pPr>
            <a:r>
              <a:rPr lang="en-US" sz="1800" b="1" dirty="0">
                <a:solidFill>
                  <a:srgbClr val="1E293B"/>
                </a:solidFill>
                <a:latin typeface="Arial" pitchFamily="34" charset="0"/>
                <a:ea typeface="Arial" pitchFamily="34" charset="-122"/>
                <a:cs typeface="Arial" pitchFamily="34" charset="-120"/>
              </a:rPr>
              <a:t>훅 기반 가비지 컬렉션</a:t>
            </a:r>
            <a:endParaRPr lang="en-US" sz="1800" dirty="0"/>
          </a:p>
        </p:txBody>
      </p:sp>
      <p:sp>
        <p:nvSpPr>
          <p:cNvPr id="8" name="Text 5"/>
          <p:cNvSpPr/>
          <p:nvPr/>
        </p:nvSpPr>
        <p:spPr>
          <a:xfrm>
            <a:off x="960120" y="3200400"/>
            <a:ext cx="4709160" cy="2606040"/>
          </a:xfrm>
          <a:prstGeom prst="rect">
            <a:avLst/>
          </a:prstGeom>
          <a:noFill/>
          <a:ln/>
        </p:spPr>
        <p:txBody>
          <a:bodyPr wrap="square" rtlCol="0" anchor="t"/>
          <a:lstStyle/>
          <a:p>
            <a:pPr indent="0" marL="0">
              <a:lnSpc>
                <a:spcPct val="120000"/>
              </a:lnSpc>
              <a:buNone/>
            </a:pPr>
            <a:r>
              <a:rPr lang="en-US" sz="1300" b="1" dirty="0">
                <a:solidFill>
                  <a:srgbClr val="DC2626"/>
                </a:solidFill>
                <a:latin typeface="Arial" pitchFamily="34" charset="0"/>
                <a:ea typeface="Arial" pitchFamily="34" charset="-122"/>
                <a:cs typeface="Arial" pitchFamily="34" charset="-120"/>
              </a:rPr>
              <a:t>문제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끝난 워크플로우의 도커 이미지·포트가 회수되지 않아 디스크가 선형으로 차오름 → 시스템 다운.
</a:t>
            </a:r>
            <a:pPr indent="0" marL="0">
              <a:lnSpc>
                <a:spcPct val="120000"/>
              </a:lnSpc>
              <a:buNone/>
            </a:pPr>
            <a:r>
              <a:rPr lang="en-US" sz="1300" b="1" dirty="0">
                <a:solidFill>
                  <a:srgbClr val="059669"/>
                </a:solidFill>
                <a:latin typeface="Arial" pitchFamily="34" charset="0"/>
                <a:ea typeface="Arial" pitchFamily="34" charset="-122"/>
                <a:cs typeface="Arial" pitchFamily="34" charset="-120"/>
              </a:rPr>
              <a:t>해법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프로그램 상태 s = Terminated 신호에 훅을 걸어, 샌드박스·소켓·연산 슬롯을 즉시 정리.
</a:t>
            </a:r>
            <a:pPr indent="0" marL="0">
              <a:lnSpc>
                <a:spcPct val="120000"/>
              </a:lnSpc>
              <a:buNone/>
            </a:pPr>
            <a:r>
              <a:rPr lang="en-US" sz="1300" b="1" dirty="0">
                <a:solidFill>
                  <a:srgbClr val="0D9488"/>
                </a:solidFill>
                <a:latin typeface="Arial" pitchFamily="34" charset="0"/>
                <a:ea typeface="Arial" pitchFamily="34" charset="-122"/>
                <a:cs typeface="Arial" pitchFamily="34" charset="-120"/>
              </a:rPr>
              <a:t>효과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디스크 사용량이 거의 일정하게 유지 (최대 4.2× 절감).</a:t>
            </a:r>
            <a:endParaRPr lang="en-US" sz="1300" dirty="0"/>
          </a:p>
        </p:txBody>
      </p:sp>
      <p:sp>
        <p:nvSpPr>
          <p:cNvPr id="9" name="Shape 6"/>
          <p:cNvSpPr/>
          <p:nvPr/>
        </p:nvSpPr>
        <p:spPr>
          <a:xfrm>
            <a:off x="6172200" y="1965960"/>
            <a:ext cx="5349240" cy="3977640"/>
          </a:xfrm>
          <a:prstGeom prst="roundRect">
            <a:avLst>
              <a:gd name="adj" fmla="val 2299"/>
            </a:avLst>
          </a:prstGeom>
          <a:solidFill>
            <a:srgbClr val="FFFFFF"/>
          </a:solidFill>
          <a:ln w="12700">
            <a:solidFill>
              <a:srgbClr val="E2E8F0"/>
            </a:solidFill>
            <a:prstDash val="solid"/>
          </a:ln>
          <a:effectLst>
            <a:outerShdw sx="100000" sy="100000" kx="0" ky="0" algn="bl" rotWithShape="0" blurRad="114300" dist="38100" dir="5400000">
              <a:srgbClr val="1E293B">
                <a:alpha val="14000"/>
              </a:srgbClr>
            </a:outerShdw>
          </a:effectLst>
        </p:spPr>
      </p:sp>
      <p:sp>
        <p:nvSpPr>
          <p:cNvPr id="10" name="Shape 7"/>
          <p:cNvSpPr/>
          <p:nvPr/>
        </p:nvSpPr>
        <p:spPr>
          <a:xfrm>
            <a:off x="6492240" y="2286000"/>
            <a:ext cx="777240" cy="777240"/>
          </a:xfrm>
          <a:prstGeom prst="ellipse">
            <a:avLst/>
          </a:prstGeom>
          <a:solidFill>
            <a:srgbClr val="FDECC4"/>
          </a:solidFill>
          <a:ln/>
        </p:spPr>
      </p:sp>
      <p:pic>
        <p:nvPicPr>
          <p:cNvPr id="11" name="Image 1" descr="preencoded.png">    </p:cNvPr>
          <p:cNvPicPr>
            <a:picLocks noChangeAspect="1"/>
          </p:cNvPicPr>
          <p:nvPr/>
        </p:nvPicPr>
        <p:blipFill>
          <a:blip r:embed="rId2"/>
          <a:stretch>
            <a:fillRect/>
          </a:stretch>
        </p:blipFill>
        <p:spPr>
          <a:xfrm>
            <a:off x="6694322" y="2488082"/>
            <a:ext cx="373075" cy="373075"/>
          </a:xfrm>
          <a:prstGeom prst="rect">
            <a:avLst/>
          </a:prstGeom>
        </p:spPr>
      </p:pic>
      <p:sp>
        <p:nvSpPr>
          <p:cNvPr id="12" name="Text 8"/>
          <p:cNvSpPr/>
          <p:nvPr/>
        </p:nvSpPr>
        <p:spPr>
          <a:xfrm>
            <a:off x="7406640" y="2350008"/>
            <a:ext cx="3886200" cy="640080"/>
          </a:xfrm>
          <a:prstGeom prst="rect">
            <a:avLst/>
          </a:prstGeom>
          <a:noFill/>
          <a:ln/>
        </p:spPr>
        <p:txBody>
          <a:bodyPr wrap="square" rtlCol="0" anchor="ctr"/>
          <a:lstStyle/>
          <a:p>
            <a:pPr indent="0" marL="0">
              <a:buNone/>
            </a:pPr>
            <a:r>
              <a:rPr lang="en-US" sz="1800" b="1" dirty="0">
                <a:solidFill>
                  <a:srgbClr val="1E293B"/>
                </a:solidFill>
                <a:latin typeface="Arial" pitchFamily="34" charset="0"/>
                <a:ea typeface="Arial" pitchFamily="34" charset="-122"/>
                <a:cs typeface="Arial" pitchFamily="34" charset="-120"/>
              </a:rPr>
              <a:t>비동기 환경 준비</a:t>
            </a:r>
            <a:endParaRPr lang="en-US" sz="1800" dirty="0"/>
          </a:p>
        </p:txBody>
      </p:sp>
      <p:sp>
        <p:nvSpPr>
          <p:cNvPr id="13" name="Text 9"/>
          <p:cNvSpPr/>
          <p:nvPr/>
        </p:nvSpPr>
        <p:spPr>
          <a:xfrm>
            <a:off x="6492240" y="3200400"/>
            <a:ext cx="4709160" cy="2606040"/>
          </a:xfrm>
          <a:prstGeom prst="rect">
            <a:avLst/>
          </a:prstGeom>
          <a:noFill/>
          <a:ln/>
        </p:spPr>
        <p:txBody>
          <a:bodyPr wrap="square" rtlCol="0" anchor="t"/>
          <a:lstStyle/>
          <a:p>
            <a:pPr indent="0" marL="0">
              <a:lnSpc>
                <a:spcPct val="120000"/>
              </a:lnSpc>
              <a:buNone/>
            </a:pPr>
            <a:r>
              <a:rPr lang="en-US" sz="1300" b="1" dirty="0">
                <a:solidFill>
                  <a:srgbClr val="DC2626"/>
                </a:solidFill>
                <a:latin typeface="Arial" pitchFamily="34" charset="0"/>
                <a:ea typeface="Arial" pitchFamily="34" charset="-122"/>
                <a:cs typeface="Arial" pitchFamily="34" charset="-120"/>
              </a:rPr>
              <a:t>문제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도커 pull·의존성 설치·레포 빌드에 오래 걸림. 준비를 기다리면 전체 지연이 늘어남.
</a:t>
            </a:r>
            <a:pPr indent="0" marL="0">
              <a:lnSpc>
                <a:spcPct val="120000"/>
              </a:lnSpc>
              <a:buNone/>
            </a:pPr>
            <a:r>
              <a:rPr lang="en-US" sz="1300" b="1" dirty="0">
                <a:solidFill>
                  <a:srgbClr val="059669"/>
                </a:solidFill>
                <a:latin typeface="Arial" pitchFamily="34" charset="0"/>
                <a:ea typeface="Arial" pitchFamily="34" charset="-122"/>
                <a:cs typeface="Arial" pitchFamily="34" charset="-120"/>
              </a:rPr>
              <a:t>해법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전역 큐를 감시해, 복귀 임박한 고우선(높은 Srestore) 프로그램의 환경을 GPU 메모리 할당 전에 미리 준비.
</a:t>
            </a:r>
            <a:pPr indent="0" marL="0">
              <a:lnSpc>
                <a:spcPct val="120000"/>
              </a:lnSpc>
              <a:buNone/>
            </a:pPr>
            <a:r>
              <a:rPr lang="en-US" sz="1300" b="1" dirty="0">
                <a:solidFill>
                  <a:srgbClr val="0D9488"/>
                </a:solidFill>
                <a:latin typeface="Arial" pitchFamily="34" charset="0"/>
                <a:ea typeface="Arial" pitchFamily="34" charset="-122"/>
                <a:cs typeface="Arial" pitchFamily="34" charset="-120"/>
              </a:rPr>
              <a:t>효과  </a:t>
            </a:r>
            <a:pPr indent="0" marL="0">
              <a:lnSpc>
                <a:spcPct val="120000"/>
              </a:lnSpc>
              <a:buNone/>
            </a:pPr>
            <a:r>
              <a:rPr lang="en-US" sz="1300" dirty="0">
                <a:solidFill>
                  <a:srgbClr val="334155"/>
                </a:solidFill>
                <a:latin typeface="Arial" pitchFamily="34" charset="0"/>
                <a:ea typeface="Arial" pitchFamily="34" charset="-122"/>
                <a:cs typeface="Arial" pitchFamily="34" charset="-120"/>
              </a:rPr>
              <a:t>초기화 지연을 추론과 겹쳐 숨김 → 툴-집약 워크로드의 end-to-end 지연 감소.</a:t>
            </a:r>
            <a:endParaRPr lang="en-US" sz="1300" dirty="0"/>
          </a:p>
        </p:txBody>
      </p:sp>
      <p:sp>
        <p:nvSpPr>
          <p:cNvPr id="14" name="Text 1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10332720" y="457200"/>
            <a:ext cx="1371600" cy="1371600"/>
          </a:xfrm>
          <a:prstGeom prst="rect">
            <a:avLst/>
          </a:prstGeom>
        </p:spPr>
      </p:pic>
      <p:sp>
        <p:nvSpPr>
          <p:cNvPr id="3" name="Text 0"/>
          <p:cNvSpPr/>
          <p:nvPr/>
        </p:nvSpPr>
        <p:spPr>
          <a:xfrm>
            <a:off x="640080" y="502920"/>
            <a:ext cx="7315200" cy="320040"/>
          </a:xfrm>
          <a:prstGeom prst="rect">
            <a:avLst/>
          </a:prstGeom>
          <a:noFill/>
          <a:ln/>
        </p:spPr>
        <p:txBody>
          <a:bodyPr wrap="square" rtlCol="0" anchor="ctr"/>
          <a:lstStyle/>
          <a:p>
            <a:pPr indent="0" marL="0">
              <a:buNone/>
            </a:pPr>
            <a:r>
              <a:rPr lang="en-US" sz="1300" b="1" spc="300" kern="0" dirty="0">
                <a:solidFill>
                  <a:srgbClr val="F5B301"/>
                </a:solidFill>
                <a:latin typeface="Arial" pitchFamily="34" charset="0"/>
                <a:ea typeface="Arial" pitchFamily="34" charset="-122"/>
                <a:cs typeface="Arial" pitchFamily="34" charset="-120"/>
              </a:rPr>
              <a:t>정리</a:t>
            </a:r>
            <a:endParaRPr lang="en-US" sz="1300" dirty="0"/>
          </a:p>
        </p:txBody>
      </p:sp>
      <p:sp>
        <p:nvSpPr>
          <p:cNvPr id="4" name="Text 1"/>
          <p:cNvSpPr/>
          <p:nvPr/>
        </p:nvSpPr>
        <p:spPr>
          <a:xfrm>
            <a:off x="640080" y="841248"/>
            <a:ext cx="10058400" cy="777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4장 한 장 요약</a:t>
            </a:r>
            <a:endParaRPr lang="en-US" sz="3400" dirty="0"/>
          </a:p>
        </p:txBody>
      </p:sp>
      <p:sp>
        <p:nvSpPr>
          <p:cNvPr id="5" name="Shape 2"/>
          <p:cNvSpPr/>
          <p:nvPr/>
        </p:nvSpPr>
        <p:spPr>
          <a:xfrm>
            <a:off x="640080" y="2057400"/>
            <a:ext cx="10881360" cy="804672"/>
          </a:xfrm>
          <a:prstGeom prst="roundRect">
            <a:avLst>
              <a:gd name="adj" fmla="val 9091"/>
            </a:avLst>
          </a:prstGeom>
          <a:solidFill>
            <a:srgbClr val="16233D"/>
          </a:solidFill>
          <a:ln/>
        </p:spPr>
      </p:sp>
      <p:sp>
        <p:nvSpPr>
          <p:cNvPr id="6" name="Shape 3"/>
          <p:cNvSpPr/>
          <p:nvPr/>
        </p:nvSpPr>
        <p:spPr>
          <a:xfrm>
            <a:off x="868680" y="2176272"/>
            <a:ext cx="566928" cy="566928"/>
          </a:xfrm>
          <a:prstGeom prst="ellipse">
            <a:avLst/>
          </a:prstGeom>
          <a:solidFill>
            <a:srgbClr val="0D9488"/>
          </a:solidFill>
          <a:ln/>
        </p:spPr>
      </p:sp>
      <p:pic>
        <p:nvPicPr>
          <p:cNvPr id="7" name="Image 1" descr="preencoded.png">    </p:cNvPr>
          <p:cNvPicPr>
            <a:picLocks noChangeAspect="1"/>
          </p:cNvPicPr>
          <p:nvPr/>
        </p:nvPicPr>
        <p:blipFill>
          <a:blip r:embed="rId2"/>
          <a:stretch>
            <a:fillRect/>
          </a:stretch>
        </p:blipFill>
        <p:spPr>
          <a:xfrm>
            <a:off x="1016081" y="2323673"/>
            <a:ext cx="272125" cy="272125"/>
          </a:xfrm>
          <a:prstGeom prst="rect">
            <a:avLst/>
          </a:prstGeom>
        </p:spPr>
      </p:pic>
      <p:sp>
        <p:nvSpPr>
          <p:cNvPr id="8" name="Text 4"/>
          <p:cNvSpPr/>
          <p:nvPr/>
        </p:nvSpPr>
        <p:spPr>
          <a:xfrm>
            <a:off x="1600200" y="2057400"/>
            <a:ext cx="2377440" cy="804672"/>
          </a:xfrm>
          <a:prstGeom prst="rect">
            <a:avLst/>
          </a:prstGeom>
          <a:noFill/>
          <a:ln/>
        </p:spPr>
        <p:txBody>
          <a:bodyPr wrap="square" rtlCol="0" anchor="ctr"/>
          <a:lstStyle/>
          <a:p>
            <a:pPr indent="0" marL="0">
              <a:buNone/>
            </a:pPr>
            <a:r>
              <a:rPr lang="en-US" sz="1600" b="1" dirty="0">
                <a:solidFill>
                  <a:srgbClr val="F5B301"/>
                </a:solidFill>
                <a:latin typeface="Arial" pitchFamily="34" charset="0"/>
                <a:ea typeface="Arial" pitchFamily="34" charset="-122"/>
                <a:cs typeface="Arial" pitchFamily="34" charset="-120"/>
              </a:rPr>
              <a:t>4.1 추상화</a:t>
            </a:r>
            <a:endParaRPr lang="en-US" sz="1600" dirty="0"/>
          </a:p>
        </p:txBody>
      </p:sp>
      <p:sp>
        <p:nvSpPr>
          <p:cNvPr id="9" name="Text 5"/>
          <p:cNvSpPr/>
          <p:nvPr/>
        </p:nvSpPr>
        <p:spPr>
          <a:xfrm>
            <a:off x="4023360" y="2057400"/>
            <a:ext cx="7315200" cy="804672"/>
          </a:xfrm>
          <a:prstGeom prst="rect">
            <a:avLst/>
          </a:prstGeom>
          <a:noFill/>
          <a:ln/>
        </p:spPr>
        <p:txBody>
          <a:bodyPr wrap="square" rtlCol="0" anchor="ctr"/>
          <a:lstStyle/>
          <a:p>
            <a:pPr indent="0" marL="0">
              <a:lnSpc>
                <a:spcPct val="110000"/>
              </a:lnSpc>
              <a:buNone/>
            </a:pPr>
            <a:r>
              <a:rPr lang="en-US" sz="1350" dirty="0">
                <a:solidFill>
                  <a:srgbClr val="E2E8F0"/>
                </a:solidFill>
                <a:latin typeface="Arial" pitchFamily="34" charset="0"/>
                <a:ea typeface="Arial" pitchFamily="34" charset="-122"/>
                <a:cs typeface="Arial" pitchFamily="34" charset="-120"/>
              </a:rPr>
              <a:t>워크플로우 = 프로그램 P⟨ID,c,T,L,τ,s⟩. 상태를 시스템에 노출.</a:t>
            </a:r>
            <a:endParaRPr lang="en-US" sz="1350" dirty="0"/>
          </a:p>
        </p:txBody>
      </p:sp>
      <p:sp>
        <p:nvSpPr>
          <p:cNvPr id="10" name="Shape 6"/>
          <p:cNvSpPr/>
          <p:nvPr/>
        </p:nvSpPr>
        <p:spPr>
          <a:xfrm>
            <a:off x="640080" y="2990088"/>
            <a:ext cx="10881360" cy="804672"/>
          </a:xfrm>
          <a:prstGeom prst="roundRect">
            <a:avLst>
              <a:gd name="adj" fmla="val 9091"/>
            </a:avLst>
          </a:prstGeom>
          <a:solidFill>
            <a:srgbClr val="16233D"/>
          </a:solidFill>
          <a:ln/>
        </p:spPr>
      </p:sp>
      <p:sp>
        <p:nvSpPr>
          <p:cNvPr id="11" name="Shape 7"/>
          <p:cNvSpPr/>
          <p:nvPr/>
        </p:nvSpPr>
        <p:spPr>
          <a:xfrm>
            <a:off x="868680" y="3108960"/>
            <a:ext cx="566928" cy="566928"/>
          </a:xfrm>
          <a:prstGeom prst="ellipse">
            <a:avLst/>
          </a:prstGeom>
          <a:solidFill>
            <a:srgbClr val="8A6400"/>
          </a:solidFill>
          <a:ln/>
        </p:spPr>
      </p:sp>
      <p:pic>
        <p:nvPicPr>
          <p:cNvPr id="12" name="Image 2" descr="preencoded.png">    </p:cNvPr>
          <p:cNvPicPr>
            <a:picLocks noChangeAspect="1"/>
          </p:cNvPicPr>
          <p:nvPr/>
        </p:nvPicPr>
        <p:blipFill>
          <a:blip r:embed="rId3"/>
          <a:stretch>
            <a:fillRect/>
          </a:stretch>
        </p:blipFill>
        <p:spPr>
          <a:xfrm>
            <a:off x="1016081" y="3256361"/>
            <a:ext cx="272125" cy="272125"/>
          </a:xfrm>
          <a:prstGeom prst="rect">
            <a:avLst/>
          </a:prstGeom>
        </p:spPr>
      </p:pic>
      <p:sp>
        <p:nvSpPr>
          <p:cNvPr id="13" name="Text 8"/>
          <p:cNvSpPr/>
          <p:nvPr/>
        </p:nvSpPr>
        <p:spPr>
          <a:xfrm>
            <a:off x="1600200" y="2990088"/>
            <a:ext cx="2377440" cy="804672"/>
          </a:xfrm>
          <a:prstGeom prst="rect">
            <a:avLst/>
          </a:prstGeom>
          <a:noFill/>
          <a:ln/>
        </p:spPr>
        <p:txBody>
          <a:bodyPr wrap="square" rtlCol="0" anchor="ctr"/>
          <a:lstStyle/>
          <a:p>
            <a:pPr indent="0" marL="0">
              <a:buNone/>
            </a:pPr>
            <a:r>
              <a:rPr lang="en-US" sz="1600" b="1" dirty="0">
                <a:solidFill>
                  <a:srgbClr val="F5B301"/>
                </a:solidFill>
                <a:latin typeface="Arial" pitchFamily="34" charset="0"/>
                <a:ea typeface="Arial" pitchFamily="34" charset="-122"/>
                <a:cs typeface="Arial" pitchFamily="34" charset="-120"/>
              </a:rPr>
              <a:t>4.2 비용 모델</a:t>
            </a:r>
            <a:endParaRPr lang="en-US" sz="1600" dirty="0"/>
          </a:p>
        </p:txBody>
      </p:sp>
      <p:sp>
        <p:nvSpPr>
          <p:cNvPr id="14" name="Text 9"/>
          <p:cNvSpPr/>
          <p:nvPr/>
        </p:nvSpPr>
        <p:spPr>
          <a:xfrm>
            <a:off x="4023360" y="2990088"/>
            <a:ext cx="7315200" cy="804672"/>
          </a:xfrm>
          <a:prstGeom prst="rect">
            <a:avLst/>
          </a:prstGeom>
          <a:noFill/>
          <a:ln/>
        </p:spPr>
        <p:txBody>
          <a:bodyPr wrap="square" rtlCol="0" anchor="ctr"/>
          <a:lstStyle/>
          <a:p>
            <a:pPr indent="0" marL="0">
              <a:lnSpc>
                <a:spcPct val="110000"/>
              </a:lnSpc>
              <a:buNone/>
            </a:pPr>
            <a:r>
              <a:rPr lang="en-US" sz="1350" dirty="0">
                <a:solidFill>
                  <a:srgbClr val="E2E8F0"/>
                </a:solidFill>
                <a:latin typeface="Arial" pitchFamily="34" charset="0"/>
                <a:ea typeface="Arial" pitchFamily="34" charset="-122"/>
                <a:cs typeface="Arial" pitchFamily="34" charset="-120"/>
              </a:rPr>
              <a:t>STP(메모리×시간)로 낭비 3종(recompute·unused·caching)을 정의.</a:t>
            </a:r>
            <a:endParaRPr lang="en-US" sz="1350" dirty="0"/>
          </a:p>
        </p:txBody>
      </p:sp>
      <p:sp>
        <p:nvSpPr>
          <p:cNvPr id="15" name="Shape 10"/>
          <p:cNvSpPr/>
          <p:nvPr/>
        </p:nvSpPr>
        <p:spPr>
          <a:xfrm>
            <a:off x="640080" y="3922776"/>
            <a:ext cx="10881360" cy="804672"/>
          </a:xfrm>
          <a:prstGeom prst="roundRect">
            <a:avLst>
              <a:gd name="adj" fmla="val 9091"/>
            </a:avLst>
          </a:prstGeom>
          <a:solidFill>
            <a:srgbClr val="16233D"/>
          </a:solidFill>
          <a:ln/>
        </p:spPr>
      </p:sp>
      <p:sp>
        <p:nvSpPr>
          <p:cNvPr id="16" name="Shape 11"/>
          <p:cNvSpPr/>
          <p:nvPr/>
        </p:nvSpPr>
        <p:spPr>
          <a:xfrm>
            <a:off x="868680" y="4041648"/>
            <a:ext cx="566928" cy="566928"/>
          </a:xfrm>
          <a:prstGeom prst="ellipse">
            <a:avLst/>
          </a:prstGeom>
          <a:solidFill>
            <a:srgbClr val="0D9488"/>
          </a:solidFill>
          <a:ln/>
        </p:spPr>
      </p:sp>
      <p:pic>
        <p:nvPicPr>
          <p:cNvPr id="17" name="Image 3" descr="preencoded.png">    </p:cNvPr>
          <p:cNvPicPr>
            <a:picLocks noChangeAspect="1"/>
          </p:cNvPicPr>
          <p:nvPr/>
        </p:nvPicPr>
        <p:blipFill>
          <a:blip r:embed="rId4"/>
          <a:stretch>
            <a:fillRect/>
          </a:stretch>
        </p:blipFill>
        <p:spPr>
          <a:xfrm>
            <a:off x="1016081" y="4189049"/>
            <a:ext cx="272125" cy="272125"/>
          </a:xfrm>
          <a:prstGeom prst="rect">
            <a:avLst/>
          </a:prstGeom>
        </p:spPr>
      </p:pic>
      <p:sp>
        <p:nvSpPr>
          <p:cNvPr id="18" name="Text 12"/>
          <p:cNvSpPr/>
          <p:nvPr/>
        </p:nvSpPr>
        <p:spPr>
          <a:xfrm>
            <a:off x="1600200" y="3922776"/>
            <a:ext cx="2377440" cy="804672"/>
          </a:xfrm>
          <a:prstGeom prst="rect">
            <a:avLst/>
          </a:prstGeom>
          <a:noFill/>
          <a:ln/>
        </p:spPr>
        <p:txBody>
          <a:bodyPr wrap="square" rtlCol="0" anchor="ctr"/>
          <a:lstStyle/>
          <a:p>
            <a:pPr indent="0" marL="0">
              <a:buNone/>
            </a:pPr>
            <a:r>
              <a:rPr lang="en-US" sz="1600" b="1" dirty="0">
                <a:solidFill>
                  <a:srgbClr val="F5B301"/>
                </a:solidFill>
                <a:latin typeface="Arial" pitchFamily="34" charset="0"/>
                <a:ea typeface="Arial" pitchFamily="34" charset="-122"/>
                <a:cs typeface="Arial" pitchFamily="34" charset="-120"/>
              </a:rPr>
              <a:t>4.3 스케줄링</a:t>
            </a:r>
            <a:endParaRPr lang="en-US" sz="1600" dirty="0"/>
          </a:p>
        </p:txBody>
      </p:sp>
      <p:sp>
        <p:nvSpPr>
          <p:cNvPr id="19" name="Text 13"/>
          <p:cNvSpPr/>
          <p:nvPr/>
        </p:nvSpPr>
        <p:spPr>
          <a:xfrm>
            <a:off x="4023360" y="3922776"/>
            <a:ext cx="7315200" cy="804672"/>
          </a:xfrm>
          <a:prstGeom prst="rect">
            <a:avLst/>
          </a:prstGeom>
          <a:noFill/>
          <a:ln/>
        </p:spPr>
        <p:txBody>
          <a:bodyPr wrap="square" rtlCol="0" anchor="ctr"/>
          <a:lstStyle/>
          <a:p>
            <a:pPr indent="0" marL="0">
              <a:lnSpc>
                <a:spcPct val="110000"/>
              </a:lnSpc>
              <a:buNone/>
            </a:pPr>
            <a:r>
              <a:rPr lang="en-US" sz="1350" dirty="0">
                <a:solidFill>
                  <a:srgbClr val="E2E8F0"/>
                </a:solidFill>
                <a:latin typeface="Arial" pitchFamily="34" charset="0"/>
                <a:ea typeface="Arial" pitchFamily="34" charset="-122"/>
                <a:cs typeface="Arial" pitchFamily="34" charset="-120"/>
              </a:rPr>
              <a:t>주기 감시 + f(t)로 스래싱·유휴캐싱↓, 전역 큐로 노드 불균형↓.</a:t>
            </a:r>
            <a:endParaRPr lang="en-US" sz="1350" dirty="0"/>
          </a:p>
        </p:txBody>
      </p:sp>
      <p:sp>
        <p:nvSpPr>
          <p:cNvPr id="20" name="Shape 14"/>
          <p:cNvSpPr/>
          <p:nvPr/>
        </p:nvSpPr>
        <p:spPr>
          <a:xfrm>
            <a:off x="640080" y="4855464"/>
            <a:ext cx="10881360" cy="804672"/>
          </a:xfrm>
          <a:prstGeom prst="roundRect">
            <a:avLst>
              <a:gd name="adj" fmla="val 9091"/>
            </a:avLst>
          </a:prstGeom>
          <a:solidFill>
            <a:srgbClr val="16233D"/>
          </a:solidFill>
          <a:ln/>
        </p:spPr>
      </p:sp>
      <p:sp>
        <p:nvSpPr>
          <p:cNvPr id="21" name="Shape 15"/>
          <p:cNvSpPr/>
          <p:nvPr/>
        </p:nvSpPr>
        <p:spPr>
          <a:xfrm>
            <a:off x="868680" y="4974336"/>
            <a:ext cx="566928" cy="566928"/>
          </a:xfrm>
          <a:prstGeom prst="ellipse">
            <a:avLst/>
          </a:prstGeom>
          <a:solidFill>
            <a:srgbClr val="8A6400"/>
          </a:solidFill>
          <a:ln/>
        </p:spPr>
      </p:sp>
      <p:pic>
        <p:nvPicPr>
          <p:cNvPr id="22" name="Image 4" descr="preencoded.png">    </p:cNvPr>
          <p:cNvPicPr>
            <a:picLocks noChangeAspect="1"/>
          </p:cNvPicPr>
          <p:nvPr/>
        </p:nvPicPr>
        <p:blipFill>
          <a:blip r:embed="rId5"/>
          <a:stretch>
            <a:fillRect/>
          </a:stretch>
        </p:blipFill>
        <p:spPr>
          <a:xfrm>
            <a:off x="1016081" y="5121737"/>
            <a:ext cx="272125" cy="272125"/>
          </a:xfrm>
          <a:prstGeom prst="rect">
            <a:avLst/>
          </a:prstGeom>
        </p:spPr>
      </p:pic>
      <p:sp>
        <p:nvSpPr>
          <p:cNvPr id="23" name="Text 16"/>
          <p:cNvSpPr/>
          <p:nvPr/>
        </p:nvSpPr>
        <p:spPr>
          <a:xfrm>
            <a:off x="1600200" y="4855464"/>
            <a:ext cx="2377440" cy="804672"/>
          </a:xfrm>
          <a:prstGeom prst="rect">
            <a:avLst/>
          </a:prstGeom>
          <a:noFill/>
          <a:ln/>
        </p:spPr>
        <p:txBody>
          <a:bodyPr wrap="square" rtlCol="0" anchor="ctr"/>
          <a:lstStyle/>
          <a:p>
            <a:pPr indent="0" marL="0">
              <a:buNone/>
            </a:pPr>
            <a:r>
              <a:rPr lang="en-US" sz="1600" b="1" dirty="0">
                <a:solidFill>
                  <a:srgbClr val="F5B301"/>
                </a:solidFill>
                <a:latin typeface="Arial" pitchFamily="34" charset="0"/>
                <a:ea typeface="Arial" pitchFamily="34" charset="-122"/>
                <a:cs typeface="Arial" pitchFamily="34" charset="-120"/>
              </a:rPr>
              <a:t>4.4 툴 관리</a:t>
            </a:r>
            <a:endParaRPr lang="en-US" sz="1600" dirty="0"/>
          </a:p>
        </p:txBody>
      </p:sp>
      <p:sp>
        <p:nvSpPr>
          <p:cNvPr id="24" name="Text 17"/>
          <p:cNvSpPr/>
          <p:nvPr/>
        </p:nvSpPr>
        <p:spPr>
          <a:xfrm>
            <a:off x="4023360" y="4855464"/>
            <a:ext cx="7315200" cy="804672"/>
          </a:xfrm>
          <a:prstGeom prst="rect">
            <a:avLst/>
          </a:prstGeom>
          <a:noFill/>
          <a:ln/>
        </p:spPr>
        <p:txBody>
          <a:bodyPr wrap="square" rtlCol="0" anchor="ctr"/>
          <a:lstStyle/>
          <a:p>
            <a:pPr indent="0" marL="0">
              <a:lnSpc>
                <a:spcPct val="110000"/>
              </a:lnSpc>
              <a:buNone/>
            </a:pPr>
            <a:r>
              <a:rPr lang="en-US" sz="1350" dirty="0">
                <a:solidFill>
                  <a:srgbClr val="E2E8F0"/>
                </a:solidFill>
                <a:latin typeface="Arial" pitchFamily="34" charset="0"/>
                <a:ea typeface="Arial" pitchFamily="34" charset="-122"/>
                <a:cs typeface="Arial" pitchFamily="34" charset="-120"/>
              </a:rPr>
              <a:t>종료 훅으로 자원 즉시 회수 + 환경을 비동기로 미리 준비.</a:t>
            </a:r>
            <a:endParaRPr lang="en-US" sz="1350" dirty="0"/>
          </a:p>
        </p:txBody>
      </p:sp>
      <p:sp>
        <p:nvSpPr>
          <p:cNvPr id="25" name="Shape 18"/>
          <p:cNvSpPr/>
          <p:nvPr/>
        </p:nvSpPr>
        <p:spPr>
          <a:xfrm>
            <a:off x="640080" y="5897880"/>
            <a:ext cx="10881360" cy="658368"/>
          </a:xfrm>
          <a:prstGeom prst="roundRect">
            <a:avLst>
              <a:gd name="adj" fmla="val 11111"/>
            </a:avLst>
          </a:prstGeom>
          <a:solidFill>
            <a:srgbClr val="F5B301"/>
          </a:solidFill>
          <a:ln/>
        </p:spPr>
      </p:sp>
      <p:sp>
        <p:nvSpPr>
          <p:cNvPr id="26" name="Text 19"/>
          <p:cNvSpPr/>
          <p:nvPr/>
        </p:nvSpPr>
        <p:spPr>
          <a:xfrm>
            <a:off x="822960" y="5897880"/>
            <a:ext cx="10515600" cy="658368"/>
          </a:xfrm>
          <a:prstGeom prst="rect">
            <a:avLst/>
          </a:prstGeom>
          <a:noFill/>
          <a:ln/>
        </p:spPr>
        <p:txBody>
          <a:bodyPr wrap="square" rtlCol="0" anchor="ctr"/>
          <a:lstStyle/>
          <a:p>
            <a:pPr indent="0" marL="0">
              <a:buNone/>
            </a:pPr>
            <a:r>
              <a:rPr lang="en-US" sz="1450" b="1" dirty="0">
                <a:solidFill>
                  <a:srgbClr val="0E1729"/>
                </a:solidFill>
                <a:latin typeface="Arial" pitchFamily="34" charset="0"/>
                <a:ea typeface="Arial" pitchFamily="34" charset="-122"/>
                <a:cs typeface="Arial" pitchFamily="34" charset="-120"/>
              </a:rPr>
              <a:t>한 문장: '요청'이 아니라 '프로그램(워크플로우 전체)'을 스케줄 단위로 삼아, 낭비를 재고 줄인다.</a:t>
            </a:r>
            <a:endParaRPr lang="en-US" sz="1450" dirty="0"/>
          </a:p>
        </p:txBody>
      </p:sp>
      <p:sp>
        <p:nvSpPr>
          <p:cNvPr id="27" name="Text 20"/>
          <p:cNvSpPr/>
          <p:nvPr/>
        </p:nvSpPr>
        <p:spPr>
          <a:xfrm>
            <a:off x="11521440" y="6400800"/>
            <a:ext cx="365760" cy="27432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ThunderAgent Section 4</dc:title>
  <dc:subject>PptxGenJS Presentation</dc:subject>
  <dc:creator>ThunderAgent Study</dc:creator>
  <cp:lastModifiedBy>ThunderAgent Study</cp:lastModifiedBy>
  <cp:revision>1</cp:revision>
  <dcterms:created xsi:type="dcterms:W3CDTF">2026-07-07T04:43:06Z</dcterms:created>
  <dcterms:modified xsi:type="dcterms:W3CDTF">2026-07-07T04:43:06Z</dcterms:modified>
</cp:coreProperties>
</file>