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오늘 발표의 목적과 전체 흐름을 각인시킨다.</a:t>
            </a:r>
          </a:p>
          <a:p/>
          <a:p>
            <a:r>
              <a:t>【발표 멘트 (그대로 읽어도 됨)】</a:t>
            </a:r>
          </a:p>
          <a:p>
            <a:r>
              <a:t>안녕하세요, 강윤의입니다. 오늘은 ThunderAgent라는 '에이전트 서빙 시스템'을 우리 랩 GPU에서 직접 돌려보고,</a:t>
            </a:r>
          </a:p>
          <a:p>
            <a:r>
              <a:t>논문과 '비슷한 경향'이 나오는지 확인한 결과, 그리고 다음 단계로 '서로 다른 GPU를 섞는(heterogeneous)'</a:t>
            </a:r>
          </a:p>
          <a:p>
            <a:r>
              <a:t>환경에서 무엇을 해볼지 논의드리려고 합니다.</a:t>
            </a:r>
          </a:p>
          <a:p>
            <a:r>
              <a:t>전체 흐름은 이렇습니다: ①왜 에이전트 서빙이 특별한가(배경) → ②ThunderAgent가 푸는 문제 →</a:t>
            </a:r>
          </a:p>
          <a:p>
            <a:r>
              <a:t>③우리 재현 목표 → ④세팅 중 발견한 버그 → ⑤결과 1단계(여기서 한계를 발견) → ⑥결과 2단계(핵심 현상 재현) →</a:t>
            </a:r>
          </a:p>
          <a:p>
            <a:r>
              <a:t>⑦워크로드 특성 분석(GPU에 몇 개나 올라가나) → ⑧논문과 대조 → ⑨heterogeneous로의 연결 → ⑩다음 실험 제안.</a:t>
            </a:r>
          </a:p>
          <a:p>
            <a:r>
              <a:t>미리 정직하게 말씀드릴 세 가지: (1) 논문과 '절대 수치'를 비교하는 게 아니라 '경향의 방향'만 봅니다</a:t>
            </a:r>
          </a:p>
          <a:p>
            <a:r>
              <a:t>(하드웨어·워크로드가 다르니까요). (2) 5090 관련 숫자는 아직 '추정'입니다. (3) 각 측정은 아직 1회씩입니다.</a:t>
            </a:r>
          </a:p>
          <a:p/>
          <a:p>
            <a:r>
              <a:t>【예상 질문 &amp; 답변】</a:t>
            </a:r>
          </a:p>
          <a:p>
            <a:r>
              <a:t>Q. 이거 논문 재현이 목적인가요, 새 연구인가요?</a:t>
            </a:r>
          </a:p>
          <a:p>
            <a:r>
              <a:t>A. 재현은 baseline 확보가 목적이고, 진짜 목표는 그 뒤의 heterogeneous 확장입니다. 오늘은 그 다리를 놓는 자리예요.</a:t>
            </a:r>
          </a:p>
          <a:p/>
          <a:p>
            <a:r>
              <a:t>【예상 시간】 약 0.5분 (총 발표 ~18분 목표)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에이전트는 '요청 단위'가 아니라 '프로그램(세션 전체) 단위'로 봐야 한다.</a:t>
            </a:r>
          </a:p>
          <a:p/>
          <a:p>
            <a:r>
              <a:t>【발표 멘트 (그대로 읽어도 됨)】</a:t>
            </a:r>
          </a:p>
          <a:p>
            <a:r>
              <a:t>기존 챗봇은 단순합니다. 질문 하나 넣으면 답 하나 나오고 끝. 그래서 시스템은 '요청 하나'를 스케줄 단위로 봅니다.</a:t>
            </a:r>
          </a:p>
          <a:p>
            <a:r>
              <a:t>그런데 에이전트는 다릅니다. 생각하고(리즈닝), 도구를 쓰고(툴콜, 예: 검색·코드실행), 그 결과를 보고 또 생각하고…</a:t>
            </a:r>
          </a:p>
          <a:p>
            <a:r>
              <a:t>이걸 여러 턴 반복합니다. 여기서 두 가지가 새로 생깁니다.</a:t>
            </a:r>
          </a:p>
          <a:p>
            <a:r>
              <a:t>첫째, 도구를 쓰는 동안엔 GPU가 놉니다. 이걸 '버블'이라고 부를게요.</a:t>
            </a:r>
          </a:p>
          <a:p>
            <a:r>
              <a:t>둘째, 대화가 길어질수록 KV 캐시가 계속 쌓입니다. KV 캐시는 쉽게 말해 '모델이 앞 토큰들을 계산해둔 메모장'인데,</a:t>
            </a:r>
          </a:p>
          <a:p>
            <a:r>
              <a:t>이게 있으면 다음 턴에 앞부분을 다시 계산(prefill)하지 않아도 됩니다. 그래서 이걸 잘 보존하는 게 성능의 핵심이에요.</a:t>
            </a:r>
          </a:p>
          <a:p>
            <a:r>
              <a:t>결론적으로, 요청 하나씩 따로 보면 안 되고 '프로그램 전체'를 하나로 묶어서 관리해야 한다 — 이게 오늘의 출발점입니다.</a:t>
            </a:r>
          </a:p>
          <a:p/>
          <a:p>
            <a:r>
              <a:t>【예상 질문 &amp; 답변】</a:t>
            </a:r>
          </a:p>
          <a:p>
            <a:r>
              <a:t>Q. KV 캐시가 정확히 뭔가요?</a:t>
            </a:r>
          </a:p>
          <a:p>
            <a:r>
              <a:t>A. 이전 토큰들의 key/value 벡터를 GPU 메모리에 저장한 겁니다. 있으면 재계산(prefill)을 건너뛰어 빠릅니다.</a:t>
            </a:r>
          </a:p>
          <a:p>
            <a:r>
              <a:t>Q. 버블이 왜 문제죠?</a:t>
            </a:r>
          </a:p>
          <a:p>
            <a:r>
              <a:t>A. 도구 실행 몇 초 동안 그 프로그램의 KV가 GPU 메모리를 잡고 있는데 계산은 안 해서, 그 자리에 다른 걸 못 올립니다.</a:t>
            </a:r>
          </a:p>
          <a:p/>
          <a:p>
            <a:r>
              <a:t>【예상 시간】 약 1.5분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ThunderAgent는 KV locality와 load balancing의 상충을 프로그램 단위로 조율한다. 우리는 3대 기여 중 ①만 재현.</a:t>
            </a:r>
          </a:p>
          <a:p/>
          <a:p>
            <a:r>
              <a:t>【발표 멘트 (그대로 읽어도 됨)】</a:t>
            </a:r>
          </a:p>
          <a:p>
            <a:r>
              <a:t>멀티 인스턴스(여러 GPU)로 서빙할 때 근본적인 딜레마가 있습니다.</a:t>
            </a:r>
          </a:p>
          <a:p>
            <a:r>
              <a:t>한 프로그램을 계속 같은 GPU로 보내면 KV 캐시를 재사용해서 좋습니다(=KV locality).</a:t>
            </a:r>
          </a:p>
          <a:p>
            <a:r>
              <a:t>하지만 그러면 특정 GPU에만 몰릴 수 있어요. 반대로 골고루 나누면(=load balancing) KV 재사용을 잃습니다.</a:t>
            </a:r>
          </a:p>
          <a:p>
            <a:r>
              <a:t>ThunderAgent는 '프로그램 단위 + 용량을 아는(capacity-aware) 스케줄링'으로 이 둘을 조율합니다.</a:t>
            </a:r>
          </a:p>
          <a:p>
            <a:r>
              <a:t>논문의 기여는 크게 3가지인데, ① KV 캐시 스래싱 완화, ② 노드 간 메모리 불균형 해소, ③ 툴 자원 관리입니다.</a:t>
            </a:r>
          </a:p>
          <a:p>
            <a:r>
              <a:t>오늘 우리가 재현한 건 이 중 ①번뿐이라는 점을 미리 못박아 둡니다. ②③은 범위 밖이에요.</a:t>
            </a:r>
          </a:p>
          <a:p>
            <a:r>
              <a:t>그리고 우리 실험의 비교축은 두 라우터입니다. tr은 논문의 ThunderAgent에, default는 논문의 vLLM baseline에 대응합니다.</a:t>
            </a:r>
          </a:p>
          <a:p/>
          <a:p>
            <a:r>
              <a:t>【예상 질문 &amp; 답변】</a:t>
            </a:r>
          </a:p>
          <a:p>
            <a:r>
              <a:t>Q. Continuum은 왜 안 다루나요?</a:t>
            </a:r>
          </a:p>
          <a:p>
            <a:r>
              <a:t>A. 우리가 비교 실험을 하지 않았기 때문입니다. 오늘은 tr vs default(=ThunderAgent vs vLLM) 대응만 다룹니다.</a:t>
            </a:r>
          </a:p>
          <a:p>
            <a:r>
              <a:t>Q. 스래싱이 뭔가요?</a:t>
            </a:r>
          </a:p>
          <a:p>
            <a:r>
              <a:t>A. KV 캐시가 메모리 부족으로 쫓겨났다가 다시 계산되는 일이 반복되는 상태입니다. 뒤 슬라이드에서 자세히요.</a:t>
            </a:r>
          </a:p>
          <a:p/>
          <a:p>
            <a:r>
              <a:t>【예상 시간】 약 1.5분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우리는 논문의 '경향'을 재현하려는 것이지 숫자를 맞추려는 게 아니다.</a:t>
            </a:r>
          </a:p>
          <a:p/>
          <a:p>
            <a:r>
              <a:t>【발표 멘트 (그대로 읽어도 됨)】</a:t>
            </a:r>
          </a:p>
          <a:p>
            <a:r>
              <a:t>이번 작업의 목표를 정확히 하겠습니다. 우리는 논문의 '절대 성능 수치'를 재현하려는 게 아닙니다.</a:t>
            </a:r>
          </a:p>
          <a:p>
            <a:r>
              <a:t>우리 워크로드는 합성(합성 sleep 기반)이고 논문은 진짜 에이전트(SWE-Agent 등)입니다. 하드웨어도 우리는 4090 2장,</a:t>
            </a:r>
          </a:p>
          <a:p>
            <a:r>
              <a:t>논문은 H100 8장짜리 클러스터예요. 그러니 숫자를 직접 비교하는 건 무의미합니다. 대신 '경향의 방향'만 봅니다.</a:t>
            </a:r>
          </a:p>
          <a:p>
            <a:r>
              <a:t>구체적으로 두 가지를 확인합니다. 하나, tr이 default보다 KV 캐시 적중률과 처리량을 더 잘 지키는가?</a:t>
            </a:r>
          </a:p>
          <a:p>
            <a:r>
              <a:t>둘, 부하를 올리면 논문처럼 스래싱으로 성능이 꺾이는 지점이 나타나는가?</a:t>
            </a:r>
          </a:p>
          <a:p>
            <a:r>
              <a:t>그리고 지금은 '같은 GPU 두 장(homogeneous)'인 baseline 단계이고, 이건 최종 목표인 '서로 다른 GPU를 섞는'</a:t>
            </a:r>
          </a:p>
          <a:p>
            <a:r>
              <a:t>heterogeneous로 가기 위한 발판이라는 걸 기억해 주세요.</a:t>
            </a:r>
          </a:p>
          <a:p/>
          <a:p>
            <a:r>
              <a:t>【예상 질문 &amp; 답변】</a:t>
            </a:r>
          </a:p>
          <a:p>
            <a:r>
              <a:t>Q. 왜 숫자 비교를 안 하나요?</a:t>
            </a:r>
          </a:p>
          <a:p>
            <a:r>
              <a:t>A. 하드웨어·워크로드가 달라서 숫자 자체는 의미가 없습니다. 같은 '방향'의 현상이 재현되는지가 재현 연구의 핵심입니다.</a:t>
            </a:r>
          </a:p>
          <a:p/>
          <a:p>
            <a:r>
              <a:t>【예상 시간】 약 1분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단일 노드 2×4090 + 프록시로, 합성 워크로드를 concurrency를 올려가며 측정한다.</a:t>
            </a:r>
          </a:p>
          <a:p/>
          <a:p>
            <a:r>
              <a:t>【발표 멘트 (그대로 읽어도 됨)】</a:t>
            </a:r>
          </a:p>
          <a:p>
            <a:r>
              <a:t>실험 구성입니다. mango1이라는 서버 한 대에서 GPU 두 장(둘 다 RTX 4090)을 씁니다.</a:t>
            </a:r>
          </a:p>
          <a:p>
            <a:r>
              <a:t>왜 서버 한 대냐면, 우리가 보려는 스래싱은 'GPU(백엔드) 하나 안'에서 일어나는 현상이라 물리 서버 수와 무관하고,</a:t>
            </a:r>
          </a:p>
          <a:p>
            <a:r>
              <a:t>단일 노드로 하면 네트워크 잡음 없이 깨끗하게 볼 수 있어서예요.</a:t>
            </a:r>
          </a:p>
          <a:p>
            <a:r>
              <a:t>각 GPU에 vLLM(Qwen3-8B 모델)을 하나씩 띄우고, 그 앞에 ThunderAgent 프록시를 둡니다. 이 프록시의 라우터를</a:t>
            </a:r>
          </a:p>
          <a:p>
            <a:r>
              <a:t>tr이냐 default냐로 바꿔가며 비교합니다.</a:t>
            </a:r>
          </a:p>
          <a:p>
            <a:r>
              <a:t>워크로드는 직접 만든 합성 드라이버입니다. 진짜 에이전트는 유료 API·도커가 필요해서, 자원 사용 '패턴'만 흉내 냈어요.</a:t>
            </a:r>
          </a:p>
          <a:p>
            <a:r>
              <a:t>프로그램마다 고유 id를 주고, 리즈닝→툴콜(sleep로 흉내)→다음 턴을 반복하고, 끝나면 release 신호를 보냅니다.</a:t>
            </a:r>
          </a:p>
          <a:p>
            <a:r>
              <a:t>동시에 도는 프로그램 수(concurrency)를 올려가며 처리량·p95 지연·KV 적중률을 측정합니다.</a:t>
            </a:r>
          </a:p>
          <a:p/>
          <a:p>
            <a:r>
              <a:t>【예상 질문 &amp; 답변】</a:t>
            </a:r>
          </a:p>
          <a:p>
            <a:r>
              <a:t>Q. 합성 워크로드면 실제와 다르지 않나요?</a:t>
            </a:r>
          </a:p>
          <a:p>
            <a:r>
              <a:t>A. 네, 그래서 절대 수치가 아니라 경향만 봅니다. 대신 멀티턴·KV 누적·툴 버블 같은 핵심 패턴은 살렸습니다.</a:t>
            </a:r>
          </a:p>
          <a:p>
            <a:r>
              <a:t>Q. p95 latency가 뭔가요?</a:t>
            </a:r>
          </a:p>
          <a:p>
            <a:r>
              <a:t>A. 지연시간을 줄세웠을 때 상위 95% 지점 값입니다. 평균보다 '최악에 가까운 사용자 경험'을 잘 보여줍니다.</a:t>
            </a:r>
          </a:p>
          <a:p/>
          <a:p>
            <a:r>
              <a:t>【예상 시간】 약 1.5분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원본 코드의 초기화 버그 때문에 라우터 설정이 무시되고 있었고, 이를 잡아야 비교가 유효했다.</a:t>
            </a:r>
          </a:p>
          <a:p/>
          <a:p>
            <a:r>
              <a:t>【발표 멘트 (그대로 읽어도 됨)】</a:t>
            </a:r>
          </a:p>
          <a:p>
            <a:r>
              <a:t>세팅 과정은 대부분 흔한 툴체인 문제였습니다. 관리자 권한 없이 파이썬 헤더를 잡거나, 컴파일러 버전 충돌,</a:t>
            </a:r>
          </a:p>
          <a:p>
            <a:r>
              <a:t>KV 메모리 부족 같은 것들인데 다 우회했고 상세는 SETUP_NOTES 문서에 있습니다.</a:t>
            </a:r>
          </a:p>
          <a:p>
            <a:r>
              <a:t>중요한 건 그다음입니다. 원본 코드에서 버그를 하나 발견했어요.</a:t>
            </a:r>
          </a:p>
          <a:p>
            <a:r>
              <a:t>코드가 시작할 때 설정(config)을 읽기도 전에 '기본값'으로 라우터를 먼저 만들어버리는 문제였습니다.</a:t>
            </a:r>
          </a:p>
          <a:p>
            <a:r>
              <a:t>그 결과 제가 --backends나 --router 옵션을 줘도 무시되고, 백엔드가 1개만 잡히고 항상 tr 모드로만 돌았어요.</a:t>
            </a:r>
          </a:p>
          <a:p>
            <a:r>
              <a:t>즉 이걸 못 잡았으면 tr과 default를 비교한다는 것 자체가 거짓이 될 뻔했습니다.</a:t>
            </a:r>
          </a:p>
          <a:p>
            <a:r>
              <a:t>초기화 순서를 지연 import로 고쳐서 설정이 먼저 반영되게 했고, 그 전 결과는 전부 폐기하고 다시 측정했습니다.</a:t>
            </a:r>
          </a:p>
          <a:p>
            <a:r>
              <a:t>재현 연구에서는 이런 '베이스라인이 진짜 맞나'를 검증하는 게 정말 중요하다는 사례입니다.</a:t>
            </a:r>
          </a:p>
          <a:p/>
          <a:p>
            <a:r>
              <a:t>【예상 질문 &amp; 답변】</a:t>
            </a:r>
          </a:p>
          <a:p>
            <a:r>
              <a:t>Q. 이 버그를 상류(upstream)에 제보했나요?</a:t>
            </a:r>
          </a:p>
          <a:p>
            <a:r>
              <a:t>A. 아직입니다. 원하시면 정리해서 이슈로 올리겠습니다. 우리 실험엔 이미 반영돼 있습니다.</a:t>
            </a:r>
          </a:p>
          <a:p/>
          <a:p>
            <a:r>
              <a:t>【예상 시간】 약 1.5분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1단계에선 tr이 +27% 빨랐지만 KV 적중률은 비슷했다 → 이득은 부하분산이지 스래싱 방지가 아니다(=한계 발견).</a:t>
            </a:r>
          </a:p>
          <a:p/>
          <a:p>
            <a:r>
              <a:t>【발표 멘트 (그대로 읽어도 됨)】</a:t>
            </a:r>
          </a:p>
          <a:p>
            <a:r>
              <a:t>첫 실험은 '평범한' 워크로드, 즉 컨텍스트가 짧은 경우입니다. 동시 프로그램 수를 8부터 128까지 올렸어요.</a:t>
            </a:r>
          </a:p>
          <a:p>
            <a:r>
              <a:t>결과, 중간~높은 부하(64~96)에서 tr이 확실히 빨랐습니다. 예를 들어 96에서 처리량이 tr 17.9 vs default 14.1로</a:t>
            </a:r>
          </a:p>
          <a:p>
            <a:r>
              <a:t>약 27% 높고, p95 지연도 tr이 낮았습니다.</a:t>
            </a:r>
          </a:p>
          <a:p>
            <a:r>
              <a:t>그런데 중요한 관찰이 있어요. KV 캐시 적중률은 tr이든 default든 둘 다 0.95 정도로 비슷했습니다.</a:t>
            </a:r>
          </a:p>
          <a:p>
            <a:r>
              <a:t>이 말은, tr이 이긴 이유가 논문 핵심인 '스래싱 방지' 때문이 아니라 그냥 '부하를 더 잘 나눠서'였다는 뜻이에요.</a:t>
            </a:r>
          </a:p>
          <a:p>
            <a:r>
              <a:t>그리고 아주 높은 부하인 128에서는 tr, default 둘 다 무너졌습니다. 이건 4090 두 장의 물리적 한계라서 라우터가</a:t>
            </a:r>
          </a:p>
          <a:p>
            <a:r>
              <a:t>어쩔 수 없는 지점입니다.</a:t>
            </a:r>
          </a:p>
          <a:p>
            <a:r>
              <a:t>그래서 여기서 '한계'를 발견합니다: 우리가 KV 용량을 안 넘겼기 때문에 애초에 스래싱이 없었던 거예요.</a:t>
            </a:r>
          </a:p>
          <a:p>
            <a:r>
              <a:t>이 발견이 바로 다음 2단계 실험을 하게 된 이유입니다.</a:t>
            </a:r>
          </a:p>
          <a:p/>
          <a:p>
            <a:r>
              <a:t>【예상 질문 &amp; 답변】</a:t>
            </a:r>
          </a:p>
          <a:p>
            <a:r>
              <a:t>Q. 적중률이 비슷한데 왜 tr이 빨랐죠?</a:t>
            </a:r>
          </a:p>
          <a:p>
            <a:r>
              <a:t>A. 용량이 안 넘친 상태라 스래싱은 없었고, 남은 차이는 부하 분산 효율뿐이라 그만큼만 빨랐던 겁니다.</a:t>
            </a:r>
          </a:p>
          <a:p>
            <a:r>
              <a:t>Q. C=128에서 둘 다 무너진 건 실패 아닌가요?</a:t>
            </a:r>
          </a:p>
          <a:p>
            <a:r>
              <a:t>A. 라우팅으로 못 넘는 물리 한계라 정상입니다. 오히려 '한계가 어디인가'를 보여주는 정보예요.</a:t>
            </a:r>
          </a:p>
          <a:p/>
          <a:p>
            <a:r>
              <a:t>【예상 시간】 약 1.5분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KV 용량을 일부러 넘기자 default는 적중률이 붕괴(0.02)하고 tr은 유지(0.67) — 논문의 스래싱 메커니즘을 직접 재현.</a:t>
            </a:r>
          </a:p>
          <a:p/>
          <a:p>
            <a:r>
              <a:t>【발표 멘트 (그대로 읽어도 됨)】</a:t>
            </a:r>
          </a:p>
          <a:p>
            <a:r>
              <a:t>2단계에서는 스래싱을 '정조준'했습니다. 프로그램마다 서로 다른 긴 컨텍스트를 넣어서, 4090의 KV 메모리 용량을</a:t>
            </a:r>
          </a:p>
          <a:p>
            <a:r>
              <a:t>일부러 넘겼어요. 그러면 놀고 있는(툴콜 중인) 프로그램의 KV가 쫓겨나고, 다음 턴에 다시 계산해야 합니다 — 이게 스래싱입니다.</a:t>
            </a:r>
          </a:p>
          <a:p>
            <a:r>
              <a:t>그래프를 봐주세요. 왼쪽이 핵심입니다. KV 적중률이 tr은 0.67로 유지되는데 default는 0.02로 완전히 붕괴합니다. 약 28배 차이예요.</a:t>
            </a:r>
          </a:p>
          <a:p>
            <a:r>
              <a:t>가운데는 처리량인데 tr이 57% 높고, 오른쪽 p95 지연은 높은 부하에서 tr 97초 vs default 158초로 크게 벌어집니다.</a:t>
            </a:r>
          </a:p>
          <a:p>
            <a:r>
              <a:t>재프리필한 토큰 양도 default가 약 10배 많았습니다. 즉 default는 매 턴 앞부분을 반복해서 다시 계산하느라 무너진 거죠.</a:t>
            </a:r>
          </a:p>
          <a:p>
            <a:r>
              <a:t>이게 바로 논문이 말한 현상입니다. 논문 3.1절, Figure 1b, Figure 5에서 'request 단위로 스케줄하면 툴 실행 중 KV가</a:t>
            </a:r>
          </a:p>
          <a:p>
            <a:r>
              <a:t>쫓겨나고 재프리필이 폭발해 적중률이 무너진다'고 했는데, 우리 default가 정확히 그 모습입니다.</a:t>
            </a:r>
          </a:p>
          <a:p>
            <a:r>
              <a:t>다시 강조하지만 숫자를 논문과 맞추는 게 아니라, '이 방향의 현상'이 재현됐다는 게 핵심입니다.</a:t>
            </a:r>
          </a:p>
          <a:p/>
          <a:p>
            <a:r>
              <a:t>【예상 질문 &amp; 답변】</a:t>
            </a:r>
          </a:p>
          <a:p>
            <a:r>
              <a:t>Q. 숫자가 논문(7.14×)과 다른데요?</a:t>
            </a:r>
          </a:p>
          <a:p>
            <a:r>
              <a:t>A. 논문 7.14×는 '지연 배수', 우리 ~10×는 '재프리필 토큰 배수'로 물리량이 다릅니다. 방향만 같다고 봐야 합니다.</a:t>
            </a:r>
          </a:p>
          <a:p>
            <a:r>
              <a:t>Q. preemption 지표는 0이던데 스래싱 맞나요?</a:t>
            </a:r>
          </a:p>
          <a:p>
            <a:r>
              <a:t>A. vLLM preemption 대신 '완료 시퀀스의 prefix 캐시 블록 eviction' 형태라, 적중률 붕괴와 재프리필 급증이 스래싱 증거입니다.</a:t>
            </a:r>
          </a:p>
          <a:p/>
          <a:p>
            <a:r>
              <a:t>【예상 시간】 약 2.5분 (오늘의 핵심 슬라이드 — 그래프 중심으로)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이 워크로드는 입력이 출력보다 500배 커서 비용이 prefill/KV에 쏠린다. 그래서 KV 재사용이 결정적임을 실측으로 보인다.</a:t>
            </a:r>
          </a:p>
          <a:p/>
          <a:p>
            <a:r>
              <a:t>【발표 멘트 (그대로 읽어도 됨)】</a:t>
            </a:r>
          </a:p>
          <a:p>
            <a:r>
              <a:t>여기서부터는 'tr vs default 비교'가 아니라 '워크로드 자체가 어떤 성격인가'를 봅니다. 김태현 연구원님이 요청하신 특성 분석이에요.</a:t>
            </a:r>
          </a:p>
          <a:p>
            <a:r>
              <a:t>왼쪽 그래프: 한 턴에 입력이 약 1만4천5백 토큰인데 출력은 28 토큰밖에 안 됩니다. 입력이 압도적으로 커요(input-heavy).</a:t>
            </a:r>
          </a:p>
          <a:p>
            <a:r>
              <a:t>이 말은 계산 비용이 대부분 '입력을 읽어들이는 prefill'과 그걸 저장하는 KV 캐시에 쏠린다는 뜻입니다.</a:t>
            </a:r>
          </a:p>
          <a:p>
            <a:r>
              <a:t>오른쪽 그래프가 핵심입니다. 한 프로그램 안에서 첫 턴(turn 0)은 1만4천 토큰을 통째로 계산하느라 1.82초가 걸리는데,</a:t>
            </a:r>
          </a:p>
          <a:p>
            <a:r>
              <a:t>그다음 턴들(1~3)은 앞부분을 이미 캐시해뒀으니 새로 늘어난 부분만 계산해서 0.13초로 떨어집니다. 약 14배 빨라져요.</a:t>
            </a:r>
          </a:p>
          <a:p>
            <a:r>
              <a:t>즉 '프로그램을 같은 GPU에 고정해서 KV를 재사용하는 것'이 왜 이득인지를 숫자로 직접 보여주는 겁니다.</a:t>
            </a:r>
          </a:p>
          <a:p>
            <a:r>
              <a:t>정직하게 하나 짚으면, prefill과 decode 시간은 vLLM이 요청별로 딱 나눠주지 않아서, 스트리밍의 '첫 토큰까지 시간(TTFT)'으로</a:t>
            </a:r>
          </a:p>
          <a:p>
            <a:r>
              <a:t>근사한 값입니다. 큐 대기가 안 섞이게 동시성 1에서 쟀습니다.</a:t>
            </a:r>
          </a:p>
          <a:p/>
          <a:p>
            <a:r>
              <a:t>【예상 질문 &amp; 답변】</a:t>
            </a:r>
          </a:p>
          <a:p>
            <a:r>
              <a:t>Q. 입력이 왜 이렇게 큰가요?</a:t>
            </a:r>
          </a:p>
          <a:p>
            <a:r>
              <a:t>A. 긴 컨텍스트(고유 필러 ~3천 단어)를 넣었는데, 숫자 토큰이 잘게 쪼개져 실제로 ~1만4천 토큰이 됐습니다. 실측값이에요.</a:t>
            </a:r>
          </a:p>
          <a:p>
            <a:r>
              <a:t>Q. TTFT 근사가 정확한가요?</a:t>
            </a:r>
          </a:p>
          <a:p>
            <a:r>
              <a:t>A. 정확한 분리는 아니지만 turn0(콜드)와 turn1~3(캐시 히트)의 차이를 보기엔 충분합니다. 근사임을 명시했습니다.</a:t>
            </a:r>
          </a:p>
          <a:p/>
          <a:p>
            <a:r>
              <a:t>【예상 시간】 약 1.5분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한 프로그램이 KV로 약 2GiB를 쓰고 4090엔 3개밖에 안 올라간다. GPU마다 수용량이 달라 heterogeneous의 실측 근거가 된다.</a:t>
            </a:r>
          </a:p>
          <a:p/>
          <a:p>
            <a:r>
              <a:t>【발표 멘트 (그대로 읽어도 됨)】</a:t>
            </a:r>
          </a:p>
          <a:p>
            <a:r>
              <a:t>두 번째 특성이자, 오늘 heterogeneous 논의의 '실측 근거'가 되는 슬라이드입니다.</a:t>
            </a:r>
          </a:p>
          <a:p>
            <a:r>
              <a:t>먼저 KV 캐시가 토큰당 얼마나 메모리를 쓰는지 모델 설정에서 계산했더니 토큰당 144KiB였고, vLLM이 실제로 잡은</a:t>
            </a:r>
          </a:p>
          <a:p>
            <a:r>
              <a:t>KV 풀 로그와 교차검증했더니 정확히 일치했습니다. 믿을 수 있는 숫자예요.</a:t>
            </a:r>
          </a:p>
          <a:p>
            <a:r>
              <a:t>이걸로 계산하면 프로그램 하나가 KV로 약 2기가바이트를 씁니다. 4090은 KV 풀이 약 6기가라서, 동시에 3개밖에 못 올립니다.</a:t>
            </a:r>
          </a:p>
          <a:p>
            <a:r>
              <a:t>그래서 아까 2단계에서 동시 48개를 넣은 건 용량의 약 16배를 넘긴 거였어요. 스래싱이 '필연'이었던 걸 숫자로 설명하는 겁니다.</a:t>
            </a:r>
          </a:p>
          <a:p>
            <a:r>
              <a:t>가장 중요한 마지막 줄: 같은 계산을 5090(32기가)에 적용하면 약 6.6개가 올라갑니다. 4090은 3개, 5090은 6.6개 —</a:t>
            </a:r>
          </a:p>
          <a:p>
            <a:r>
              <a:t>GPU마다 수용량이 두 배 넘게 다릅니다. 단, 5090 숫자는 아직 실측이 아니라 '추정'이라는 점을 분명히 합니다.</a:t>
            </a:r>
          </a:p>
          <a:p>
            <a:r>
              <a:t>이 '수용량이 다르다'는 사실이 다음 heterogeneous 슬라이드의 핵심 근거가 됩니다.</a:t>
            </a:r>
          </a:p>
          <a:p/>
          <a:p>
            <a:r>
              <a:t>【예상 질문 &amp; 답변】</a:t>
            </a:r>
          </a:p>
          <a:p>
            <a:r>
              <a:t>Q. 5090 6.6개는 어떻게 나온 건가요?</a:t>
            </a:r>
          </a:p>
          <a:p>
            <a:r>
              <a:t>A. 가중치 등 KV 외 메모리를 고정으로 두고 32GB에 비례 계산한 추정치입니다. 실제 측정은 다음 실험에서 확인할 겁니다.</a:t>
            </a:r>
          </a:p>
          <a:p>
            <a:r>
              <a:t>Q. 왜 4090에 3개뿐인가요?</a:t>
            </a:r>
          </a:p>
          <a:p>
            <a:r>
              <a:t>A. 이 워크로드가 프로그램당 KV 2GiB를 쓰는데 4090 KV 풀이 6GiB라서요. 워크로드가 가벼우면 더 올라갑니다.</a:t>
            </a:r>
          </a:p>
          <a:p/>
          <a:p>
            <a:r>
              <a:t>【예상 시간】 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1단계와 2단계의 차이는 논문 Eq.(6) 스래싱 조건 하나로 설명된다. 우리가 재현한 건 기여 ①뿐이다.</a:t>
            </a:r>
          </a:p>
          <a:p/>
          <a:p>
            <a:r>
              <a:t>【발표 멘트 (그대로 읽어도 됨)】</a:t>
            </a:r>
          </a:p>
          <a:p>
            <a:r>
              <a:t>이제 앞의 두 결과를 논문으로 '해석'합니다. 왜 1단계에선 안 갈렸는데 2단계에선 극적으로 갈렸을까요?</a:t>
            </a:r>
          </a:p>
          <a:p>
            <a:r>
              <a:t>논문은 스래싱이 언제 생기는지를 아주 명확한 부등식으로 줍니다. 4.3.1절 식 (6): '활성 프로그램들의 KV 합이</a:t>
            </a:r>
          </a:p>
          <a:p>
            <a:r>
              <a:t>GPU 용량을 넘으면' 스래싱이다.</a:t>
            </a:r>
          </a:p>
          <a:p>
            <a:r>
              <a:t>1단계는 컨텍스트가 짧아서 그 합이 용량 안에 들어갔어요. 그래서 스래싱이 없었고, tr의 이득은 부하분산뿐이었죠.</a:t>
            </a:r>
          </a:p>
          <a:p>
            <a:r>
              <a:t>2단계는 용량을 넘겼습니다. 그래서 스래싱이 생겼고, '용량을 아는' tr만 적중률을 지킨 겁니다.</a:t>
            </a:r>
          </a:p>
          <a:p>
            <a:r>
              <a:t>즉 우리 두 실험의 차이가 논문 식 하나로 딱 설명됩니다.</a:t>
            </a:r>
          </a:p>
          <a:p>
            <a:r>
              <a:t>재현 범위도 정직하게 정리합니다. 우리가 보인 건 3대 기여 중 ①번 KV 스래싱뿐입니다. ②노드 간 불균형, ③툴 자원 관리는</a:t>
            </a:r>
          </a:p>
          <a:p>
            <a:r>
              <a:t>단일 노드·합성 툴이라 다루지 않았습니다.</a:t>
            </a:r>
          </a:p>
          <a:p>
            <a:r>
              <a:t>마지막 한 줄이 다리입니다: homogeneous에선 GPU가 같으니 tr이 두 GPU에 거의 반반 나누는 게 최적이었어요.</a:t>
            </a:r>
          </a:p>
          <a:p>
            <a:r>
              <a:t>그런데 GPU가 다르면? 이게 다음 슬라이드입니다.</a:t>
            </a:r>
          </a:p>
          <a:p/>
          <a:p>
            <a:r>
              <a:t>【예상 질문 &amp; 답변】</a:t>
            </a:r>
          </a:p>
          <a:p>
            <a:r>
              <a:t>Q. Appendix D는 뭔가요?</a:t>
            </a:r>
          </a:p>
          <a:p>
            <a:r>
              <a:t>A. 논문 부록 D인데, 툴이 짧고 예측가능하면 '스래싱 회피=높은 적중률'이 처리량을 지배한다는 내용입니다. 우리 워크로드가 딱 그 경우예요.</a:t>
            </a:r>
          </a:p>
          <a:p/>
          <a:p>
            <a:r>
              <a:t>【예상 시간】 약 1.5분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핵심 통찰: GPU가 다르면 반반 분배가 최적이 아니다. 논문은 노드 동질을 가정했고 GPU 혼합은 다루지 않았다 = 우리 연구의 gap.</a:t>
            </a:r>
          </a:p>
          <a:p/>
          <a:p>
            <a:r>
              <a:t>【발표 멘트 (그대로 읽어도 됨)】</a:t>
            </a:r>
          </a:p>
          <a:p>
            <a:r>
              <a:t>오늘의 진짜 핵심입니다. 앞에서 homogeneous에선 반반이 최적이라고 했죠. 그런데 4090과 5090처럼 GPU가 다르면</a:t>
            </a:r>
          </a:p>
          <a:p>
            <a:r>
              <a:t>반반은 더 이상 최적이 아닙니다. 성능과 용량에 '비례해서' 나눠야 해요.</a:t>
            </a:r>
          </a:p>
          <a:p>
            <a:r>
              <a:t>우리 실측 근거가 있습니다. 4090은 프로그램 3개, 5090은 6.6개가 올라가니, 스래싱이 시작되는 지점이 GPU마다 다릅니다.</a:t>
            </a:r>
          </a:p>
          <a:p>
            <a:r>
              <a:t>그럼 논문은 이걸 다뤘을까요? 이 버전 PDF를 꼼꼼히 확인한 결과, 다루지 않았습니다. 근거는 세 가지입니다.</a:t>
            </a:r>
          </a:p>
          <a:p>
            <a:r>
              <a:t>하나, 4.3.2절을 보면 프로그램을 다시 올릴 때 '용량 남는 아무 노드로' 보내고, 재계산 비용이 '어느 노드나 같다'고 가정합니다.</a:t>
            </a:r>
          </a:p>
          <a:p>
            <a:r>
              <a:t>둘, 스케줄러가 보는 노드 상태표(Table 4)에는 용량과 토큰 수만 있고 '처리 속도나 대역폭' 항목이 아예 없습니다.</a:t>
            </a:r>
          </a:p>
          <a:p>
            <a:r>
              <a:t>셋, 5.1절의 실험 하드웨어는 전부 같은 GPU로만 구성돼 있고, 서로 다른 GPU를 한 클러스터에 섞은 실험은 없습니다.</a:t>
            </a:r>
          </a:p>
          <a:p>
            <a:r>
              <a:t>그래서 우리 가설은 이렇습니다 — 이건 논문 주장이 아니라 우리 실측에 기반한 '추정'입니다 —</a:t>
            </a:r>
          </a:p>
          <a:p>
            <a:r>
              <a:t>지금 방식대로 용량만 보고 나누면, 작고 느린 4090이 먼저 스래싱해서 전체 성능을 깎을 겁니다.</a:t>
            </a:r>
          </a:p>
          <a:p>
            <a:r>
              <a:t>따라서 '용량·속도·대역폭에 비례하는 라우팅'이 필요한데, 논문 스케줄러엔 그 축이 없습니다. 여기가 우리 연구의 빈틈입니다.</a:t>
            </a:r>
          </a:p>
          <a:p/>
          <a:p>
            <a:r>
              <a:t>【예상 질문 &amp; 답변】</a:t>
            </a:r>
          </a:p>
          <a:p>
            <a:r>
              <a:t>Q. 논문이 서로 다른 GPU를 비교하거나 섞은 실험이 있나요?</a:t>
            </a:r>
          </a:p>
          <a:p>
            <a:r>
              <a:t>A. 이 버전 PDF엔 GPU를 섞거나 종류별로 비교한 실험이 없습니다. 그래서 그런 근거는 인용하지 않고, 우리 §10 실측으로만 논증합니다.</a:t>
            </a:r>
          </a:p>
          <a:p>
            <a:r>
              <a:t>Q. 왜 작은 GPU가 먼저 스래싱하죠?</a:t>
            </a:r>
          </a:p>
          <a:p>
            <a:r>
              <a:t>A. KV 용량이 작아 식(6)을 더 빨리 넘고, 재프리필도 느려서요. 다만 이건 아직 우리 가설이라 다음 실험에서 확인합니다.</a:t>
            </a:r>
          </a:p>
          <a:p/>
          <a:p>
            <a:r>
              <a:t>【예상 시간】 약 2분 (핵심 통찰 — 천천히)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핵심 가설: 이종 클러스터에서 현행 용량기반 분배는 작은 4090을 먼저 스래싱시켜 전체가 병목된다. 용량비례 분배로 이를 정렬하면 개선될 것. 다음 실험으로 검증한다.</a:t>
            </a:r>
          </a:p>
          <a:p/>
          <a:p>
            <a:r>
              <a:t>【발표 멘트 (그대로 읽어도 됨)】</a:t>
            </a:r>
          </a:p>
          <a:p>
            <a:r>
              <a:t>다음 단계를 '가설 → 검증 설계 → 열린 질문' 세 부분으로 말씀드리겠습니다. 아직 안 한 계획이라 숫자는 전부 예상입니다.</a:t>
            </a:r>
          </a:p>
          <a:p>
            <a:r>
              <a:t>먼저 가설입니다. 세 단계로 나눴어요.</a:t>
            </a:r>
          </a:p>
          <a:p>
            <a:r>
              <a:t>H1(현상): 4090과 5090을 섞으면, 지금 tr은 용량만 보고 둘에 비슷하게 나눕니다. 그런데 4090은 프로그램 3개면 꽉 차니까</a:t>
            </a:r>
          </a:p>
          <a:p>
            <a:r>
              <a:t>4090이 먼저 한계를 넘겨 거기서부터 스래싱이 나고, 5090이 놀고 있어도 전체 속도가 4090에 발목 잡힙니다.</a:t>
            </a:r>
          </a:p>
          <a:p>
            <a:r>
              <a:t>H2(원인): 왜 그럴까요? 스케줄러가 보는 백엔드 상태표(Table 4)에 용량·토큰만 있고 GPU '속도·대역폭'이 없어서예요.</a:t>
            </a:r>
          </a:p>
          <a:p>
            <a:r>
              <a:t>게다가 논문 4.3.2절은 재계산 비용을 '어느 노드나 같다(node-agnostic)'고 가정합니다. 이건 GPU가 같을 때만 맞는 전제죠.</a:t>
            </a:r>
          </a:p>
          <a:p>
            <a:r>
              <a:t>H3(해법): 그러니 용량에 비례해서, 우리 §10 실측 기준 대략 5090:4090 = 2.2 대 1로 나눠주면 두 GPU가 비슷한 시점에</a:t>
            </a:r>
          </a:p>
          <a:p>
            <a:r>
              <a:t>차오르니, 한쪽만 먼저 무너지는 일이 줄어 전체 처리량이 올라갈 것이다 — 이게 우리 가설입니다.</a:t>
            </a:r>
          </a:p>
          <a:p>
            <a:r>
              <a:t>둘째, 검증 설계입니다. mango의 4090 하나와 goguma6의 5090 하나로 이종 구성을 만들고, 워크로드는 스래싱을 유도했던</a:t>
            </a:r>
          </a:p>
          <a:p>
            <a:r>
              <a:t>§9 설정을 그대로 씁니다. 비교는 최소한 (a) 지금의 tr과 (c) 우리가 제안하는 용량비례 라우팅을 대볼 겁니다.</a:t>
            </a:r>
          </a:p>
          <a:p>
            <a:r>
              <a:t>지표가 중요합니다. 전체 숫자만 보면 안 되고, 4090과 5090의 KV 적중률을 '따로' 보고 어느 쪽이 먼저 꺾이는지,</a:t>
            </a:r>
          </a:p>
          <a:p>
            <a:r>
              <a:t>그리고 실제로 각 GPU에 몇 개씩 갔는지(분배 비율)를 봅니다. 가설이 맞다면 현행 tr에선 4090 적중률이 먼저 무너지고,</a:t>
            </a:r>
          </a:p>
          <a:p>
            <a:r>
              <a:t>용량비례에선 두 곡선이 비슷해지며 꺾이는 지점이 뒤로 밀릴 겁니다. 반대로 나오면 가설을 수정해야죠.</a:t>
            </a:r>
          </a:p>
          <a:p>
            <a:r>
              <a:t>셋째, 논의하고 싶은 열린 질문입니다. 비례 기준을 용량만 볼지 속도·대역폭까지 볼지, locality를 얼마나 포기할지,</a:t>
            </a:r>
          </a:p>
          <a:p>
            <a:r>
              <a:t>5090 수용량 추정을 언제 실측할지, 실제 워크로드를 도입할지, 그리고 반복측정으로 에러바를 넣는 것입니다.</a:t>
            </a:r>
          </a:p>
          <a:p/>
          <a:p>
            <a:r>
              <a:t>【예상 질문 &amp; 답변】</a:t>
            </a:r>
          </a:p>
          <a:p>
            <a:r>
              <a:t>Q. 왜 '용량비례'가 답이라고 보나요?</a:t>
            </a:r>
          </a:p>
          <a:p>
            <a:r>
              <a:t>A. §10에서 4090 3개·5090 6.6개로 수용량이 다른 게 실측됐고, §9에서 용량 초과가 곧 스래싱임을 봤습니다. 그러니 용량에 맞춰 나누면 두 GPU의 스래싱 시작점이 정렬됩니다. 다만 이건 가설이라 (a) vs (c)로 검증합니다.</a:t>
            </a:r>
          </a:p>
          <a:p>
            <a:r>
              <a:t>Q. 속도·대역폭은 왜 아직 안 보나요?</a:t>
            </a:r>
          </a:p>
          <a:p>
            <a:r>
              <a:t>A. §10에서 KV '용량'은 실측했지만 속도·대역폭의 영향은 아직 측정 못 했습니다. 그래서 1차로 용량비례부터 검증하고, 필요하면 속도항을 가중치에 더할 계획입니다(열린 질문).</a:t>
            </a:r>
          </a:p>
          <a:p>
            <a:r>
              <a:t>Q. 5090 실측은 언제 하나요?</a:t>
            </a:r>
          </a:p>
          <a:p>
            <a:r>
              <a:t>A. 다음 실험 첫 스텝에서 바로 확인됩니다. 5090에 vLLM을 띄우면 시작 로그에 KV 풀 토큰 수가 찍혀서, 6.6개 추정이 맞는지 즉시 검증됩니다.</a:t>
            </a:r>
          </a:p>
          <a:p/>
          <a:p>
            <a:r>
              <a:t>【예상 시간】 약 2분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【핵심 메시지】 재현 방법 요약과, 재현하지 않은 논문 기여(②③)를 명시하는 백업 슬라이드.</a:t>
            </a:r>
          </a:p>
          <a:p/>
          <a:p>
            <a:r>
              <a:t>【발표 멘트 (그대로 읽어도 됨)】</a:t>
            </a:r>
          </a:p>
          <a:p>
            <a:r>
              <a:t>부록입니다. 질문이 나오면 쓰려고 둔 백업 슬라이드예요.</a:t>
            </a:r>
          </a:p>
          <a:p>
            <a:r>
              <a:t>재현 방법은 vLLM 2개와 프록시를 띄우고 합성 드라이버로 동시성을 올려가며 재는 구조입니다.</a:t>
            </a:r>
          </a:p>
          <a:p>
            <a:r>
              <a:t>스래싱은 드라이버 옵션으로 프로그램별 긴 컨텍스트를 넣어 유도했고, 특성 분석은 스트리밍으로 TTFT를 근사해 측정했습니다.</a:t>
            </a:r>
          </a:p>
          <a:p>
            <a:r>
              <a:t>그리고 다시 강조하면, 논문의 ②노드 간 불균형과 ③툴 자원 관리는 이번 범위 밖입니다.</a:t>
            </a:r>
          </a:p>
          <a:p>
            <a:r>
              <a:t>모든 산출물은 제 git 브랜치에 정리돼 있습니다.</a:t>
            </a:r>
          </a:p>
          <a:p/>
          <a:p>
            <a:r>
              <a:t>【예상 질문 &amp; 답변】</a:t>
            </a:r>
          </a:p>
          <a:p>
            <a:r>
              <a:t>Q. cross-node는 왜 안 했나요?</a:t>
            </a:r>
          </a:p>
          <a:p>
            <a:r>
              <a:t>A. 단일 노드 실험이라 노드 간 불균형 현상 자체가 생기지 않습니다. heterogeneous 다음 단계에서 자연스럽게 이어집니다.</a:t>
            </a:r>
          </a:p>
          <a:p/>
          <a:p>
            <a:r>
              <a:t>【예상 시간】 약 0.5분 (필요 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ThunderAgent 재현 실험</a:t>
            </a:r>
          </a:p>
          <a:p>
            <a:r>
              <a:rPr sz="1900">
                <a:solidFill>
                  <a:srgbClr val="CFDDEE"/>
                </a:solidFill>
              </a:rPr>
              <a:t>Homogeneous 재현 · 워크로드 특성 분석 → Heterogeneous 방향 논의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44444"/>
                </a:solidFill>
              </a:rPr>
              <a:t>강윤의  ·  2026-07-02  ·  격주 미팅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배경: 에이전트 서빙은 왜 기존과 다른가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기존 챗봇 LLM: 요청 1개 → 답 1개. </a:t>
            </a:r>
            <a:r>
              <a:rPr sz="1800" b="1">
                <a:solidFill>
                  <a:srgbClr val="444444"/>
                </a:solidFill>
              </a:rPr>
              <a:t>스케줄 단위 = 요청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에이전트(ReAct): 리즈닝 ↔ 툴콜을 여러 턴 반복. </a:t>
            </a:r>
            <a:r>
              <a:rPr sz="1800" b="1">
                <a:solidFill>
                  <a:srgbClr val="444444"/>
                </a:solidFill>
              </a:rPr>
              <a:t>스케줄 단위 = 프로그램(세션 전체)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여기서 새로 생기는 두 특성: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툴콜 중엔 GPU가 노는 </a:t>
            </a:r>
            <a:r>
              <a:rPr sz="1600" b="1">
                <a:solidFill>
                  <a:srgbClr val="444444"/>
                </a:solidFill>
              </a:rPr>
              <a:t>‘버블’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멀티턴이라 </a:t>
            </a:r>
            <a:r>
              <a:rPr sz="1600" b="1">
                <a:solidFill>
                  <a:srgbClr val="444444"/>
                </a:solidFill>
              </a:rPr>
              <a:t>KV 캐시가 턴마다 누적</a:t>
            </a:r>
            <a:r>
              <a:rPr sz="1600" b="0">
                <a:solidFill>
                  <a:srgbClr val="444444"/>
                </a:solidFill>
              </a:rPr>
              <a:t> (이전 계산을 저장해 재사용)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→ 요청 하나씩이 아니라 </a:t>
            </a:r>
            <a:r>
              <a:rPr sz="1800" b="1">
                <a:solidFill>
                  <a:srgbClr val="444444"/>
                </a:solidFill>
              </a:rPr>
              <a:t>프로그램 전체를 통으로 관리</a:t>
            </a:r>
            <a:r>
              <a:rPr sz="1800" b="0">
                <a:solidFill>
                  <a:srgbClr val="444444"/>
                </a:solidFill>
              </a:rPr>
              <a:t>해야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핵심: 멀티턴 KV 누적 + 툴콜 버블이 기존 서빙 가정과 다르다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ThunderAgent가 푸는 문제 &amp; 논문의 3대 기여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근본 트레이드오프: </a:t>
            </a:r>
            <a:r>
              <a:rPr sz="1800" b="1">
                <a:solidFill>
                  <a:srgbClr val="444444"/>
                </a:solidFill>
              </a:rPr>
              <a:t>KV Locality</a:t>
            </a:r>
            <a:r>
              <a:rPr sz="1800" b="0">
                <a:solidFill>
                  <a:srgbClr val="444444"/>
                </a:solidFill>
              </a:rPr>
              <a:t>(같은 인스턴스 고정 → KV 재사용) vs </a:t>
            </a:r>
            <a:r>
              <a:rPr sz="1800" b="1">
                <a:solidFill>
                  <a:srgbClr val="444444"/>
                </a:solidFill>
              </a:rPr>
              <a:t>Load Balancing</a:t>
            </a:r>
            <a:r>
              <a:rPr sz="1800" b="0">
                <a:solidFill>
                  <a:srgbClr val="444444"/>
                </a:solidFill>
              </a:rPr>
              <a:t>(골고루 써야 빠름)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ThunderAgent: </a:t>
            </a:r>
            <a:r>
              <a:rPr sz="1800" b="1">
                <a:solidFill>
                  <a:srgbClr val="444444"/>
                </a:solidFill>
              </a:rPr>
              <a:t>프로그램 단위 + capacity-aware 스케줄링</a:t>
            </a:r>
            <a:r>
              <a:rPr sz="1800" b="0">
                <a:solidFill>
                  <a:srgbClr val="444444"/>
                </a:solidFill>
              </a:rPr>
              <a:t>으로 조율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논문의 3대 기여: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① </a:t>
            </a:r>
            <a:r>
              <a:rPr sz="1600" b="1">
                <a:solidFill>
                  <a:srgbClr val="444444"/>
                </a:solidFill>
              </a:rPr>
              <a:t>KV 캐시 스래싱</a:t>
            </a:r>
            <a:r>
              <a:rPr sz="1600" b="0">
                <a:solidFill>
                  <a:srgbClr val="444444"/>
                </a:solidFill>
              </a:rPr>
              <a:t> 완화 (§3.1, §4.3.1)  ← </a:t>
            </a:r>
            <a:r>
              <a:rPr sz="1600" b="1">
                <a:solidFill>
                  <a:srgbClr val="444444"/>
                </a:solidFill>
              </a:rPr>
              <a:t>우리가 재현한 부분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② cross-node 메모리 불균형 (§3.2, §4.3.2)   ③ tool lifecycle 관리 (§3.3, §4.4)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우리 비교축: </a:t>
            </a:r>
            <a:r>
              <a:rPr sz="1800" b="1">
                <a:solidFill>
                  <a:srgbClr val="444444"/>
                </a:solidFill>
              </a:rPr>
              <a:t>tr</a:t>
            </a:r>
            <a:r>
              <a:rPr sz="1800" b="0">
                <a:solidFill>
                  <a:srgbClr val="444444"/>
                </a:solidFill>
              </a:rPr>
              <a:t>(≈ThunderAgent) vs </a:t>
            </a:r>
            <a:r>
              <a:rPr sz="1800" b="1">
                <a:solidFill>
                  <a:srgbClr val="444444"/>
                </a:solidFill>
              </a:rPr>
              <a:t>default</a:t>
            </a:r>
            <a:r>
              <a:rPr sz="1800" b="0">
                <a:solidFill>
                  <a:srgbClr val="444444"/>
                </a:solidFill>
              </a:rPr>
              <a:t>(≈논문 vLLM baseline)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Continuum은 우리가 비교하지 않아 다루지 않음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이번 작업의 목표 — ‘정성적’ 재현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논문(ICML 2026)의 </a:t>
            </a:r>
            <a:r>
              <a:rPr sz="1800" b="1">
                <a:solidFill>
                  <a:srgbClr val="444444"/>
                </a:solidFill>
              </a:rPr>
              <a:t>경향/메커니즘 방향</a:t>
            </a:r>
            <a:r>
              <a:rPr sz="1800" b="0">
                <a:solidFill>
                  <a:srgbClr val="444444"/>
                </a:solidFill>
              </a:rPr>
              <a:t>을 우리 랩 GPU에서 재현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★ 절대 수치는 논문과 비교하지 않는다 — 워크로드(합성 vs 실제 에이전트)·하드웨어(4090×2 vs 8×H100)가 다름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확인할 것: tr이 </a:t>
            </a:r>
            <a:r>
              <a:rPr sz="1800" b="1">
                <a:solidFill>
                  <a:srgbClr val="444444"/>
                </a:solidFill>
              </a:rPr>
              <a:t>KV hit rate·throughput을 더 잘 지키는가</a:t>
            </a:r>
            <a:r>
              <a:rPr sz="1800" b="0">
                <a:solidFill>
                  <a:srgbClr val="444444"/>
                </a:solidFill>
              </a:rPr>
              <a:t>, 부하↑ 시 </a:t>
            </a:r>
            <a:r>
              <a:rPr sz="1800" b="1">
                <a:solidFill>
                  <a:srgbClr val="444444"/>
                </a:solidFill>
              </a:rPr>
              <a:t>스래싱으로 꺾이는 지점</a:t>
            </a:r>
            <a:r>
              <a:rPr sz="1800" b="0">
                <a:solidFill>
                  <a:srgbClr val="444444"/>
                </a:solidFill>
              </a:rPr>
              <a:t>이 나오는가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지금은 </a:t>
            </a:r>
            <a:r>
              <a:rPr sz="1800" b="1">
                <a:solidFill>
                  <a:srgbClr val="444444"/>
                </a:solidFill>
              </a:rPr>
              <a:t>homogeneous baseline</a:t>
            </a:r>
            <a:r>
              <a:rPr sz="1800" b="0">
                <a:solidFill>
                  <a:srgbClr val="444444"/>
                </a:solidFill>
              </a:rPr>
              <a:t> → 최종 목표 </a:t>
            </a:r>
            <a:r>
              <a:rPr sz="1800" b="1">
                <a:solidFill>
                  <a:srgbClr val="444444"/>
                </a:solidFill>
              </a:rPr>
              <a:t>heterogeneous(서로 다른 GPU)</a:t>
            </a:r>
            <a:r>
              <a:rPr sz="1800" b="0">
                <a:solidFill>
                  <a:srgbClr val="444444"/>
                </a:solidFill>
              </a:rPr>
              <a:t> 로 가는 발판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‘무엇을 했다’가 아니라, 관찰이 heterogeneous로 넘어가는 근거가 되는지가 핵심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실험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mango1 단일 노드, GPU 0+1 (둘 다 RTX 4090)</a:t>
            </a:r>
            <a:r>
              <a:rPr sz="1800" b="0">
                <a:solidFill>
                  <a:srgbClr val="444444"/>
                </a:solidFill>
              </a:rPr>
              <a:t> — 스래싱은 GPU 단위 현상이라 단일노드로 깨끗이 재현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vLLM </a:t>
            </a:r>
            <a:r>
              <a:rPr sz="1800" b="1">
                <a:solidFill>
                  <a:srgbClr val="444444"/>
                </a:solidFill>
              </a:rPr>
              <a:t>2인스턴스</a:t>
            </a:r>
            <a:r>
              <a:rPr sz="1800" b="0">
                <a:solidFill>
                  <a:srgbClr val="444444"/>
                </a:solidFill>
              </a:rPr>
              <a:t>(:8000/:8001, Qwen3-8B) + </a:t>
            </a:r>
            <a:r>
              <a:rPr sz="1800" b="1">
                <a:solidFill>
                  <a:srgbClr val="444444"/>
                </a:solidFill>
              </a:rPr>
              <a:t>ThunderAgent 프록시</a:t>
            </a:r>
            <a:r>
              <a:rPr sz="1800" b="0">
                <a:solidFill>
                  <a:srgbClr val="444444"/>
                </a:solidFill>
              </a:rPr>
              <a:t>(:9000, tr/default)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합성 워크로드 드라이버</a:t>
            </a:r>
            <a:r>
              <a:rPr sz="1800" b="0">
                <a:solidFill>
                  <a:srgbClr val="444444"/>
                </a:solidFill>
              </a:rPr>
              <a:t>: 프로그램=고유 id, 멀티턴(리즈닝→툴콜 sleep→다음 턴), 종료 시 release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측정: </a:t>
            </a:r>
            <a:r>
              <a:rPr sz="1800" b="1">
                <a:solidFill>
                  <a:srgbClr val="444444"/>
                </a:solidFill>
              </a:rPr>
              <a:t>throughput · p95 latency · KV prefix-cache hit rate</a:t>
            </a:r>
            <a:r>
              <a:rPr sz="1800" b="0">
                <a:solidFill>
                  <a:srgbClr val="444444"/>
                </a:solidFill>
              </a:rPr>
              <a:t> (concurrency 스윕)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세팅 이슈 &amp; 원본 코드 버그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툴체인 이슈(간단): sudo 없이 Python 헤더 / flashinfer-nvcc(gcc13) 충돌 / KV 메모리 → 전부 우회 (SETUP_NOTES)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★ </a:t>
            </a:r>
            <a:r>
              <a:rPr sz="1800" b="1">
                <a:solidFill>
                  <a:srgbClr val="444444"/>
                </a:solidFill>
              </a:rPr>
              <a:t>원본 코드 버그 발견 &amp; 수정</a:t>
            </a:r>
            <a:r>
              <a:rPr sz="1800" b="0">
                <a:solidFill>
                  <a:srgbClr val="444444"/>
                </a:solidFill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`__init__.py`가 app을 즉시 import → </a:t>
            </a:r>
            <a:r>
              <a:rPr sz="1600" b="1">
                <a:solidFill>
                  <a:srgbClr val="444444"/>
                </a:solidFill>
              </a:rPr>
              <a:t>CLI 설정 반영 전 기본값으로 라우터 생성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`--backends`/`--router` 무시 → </a:t>
            </a:r>
            <a:r>
              <a:rPr sz="1600" b="1">
                <a:solidFill>
                  <a:srgbClr val="444444"/>
                </a:solidFill>
              </a:rPr>
              <a:t>백엔드 1개만, 항상 tr 모드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–  </a:t>
            </a:r>
            <a:r>
              <a:rPr sz="1600" b="0">
                <a:solidFill>
                  <a:srgbClr val="444444"/>
                </a:solidFill>
              </a:rPr>
              <a:t>→ 안 잡았으면 </a:t>
            </a:r>
            <a:r>
              <a:rPr sz="1600" b="1">
                <a:solidFill>
                  <a:srgbClr val="444444"/>
                </a:solidFill>
              </a:rPr>
              <a:t>tr vs default 비교 자체가 무효</a:t>
            </a:r>
            <a:r>
              <a:rPr sz="1600" b="0">
                <a:solidFill>
                  <a:srgbClr val="444444"/>
                </a:solidFill>
              </a:rPr>
              <a:t>였음 (초기 결과 폐기 후 재실험)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베이스라인 신뢰성에 직결된 버그 — 재현 연구에서 이런 검증이 중요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결과 1단계 — 일반 워크로드 (짧은 컨텍스트)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설정: 짧은 컨텍스트, concurrency 8 → 128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중고부하 C=64~96에서 tr 우세</a:t>
            </a:r>
            <a:r>
              <a:rPr sz="1800" b="0">
                <a:solidFill>
                  <a:srgbClr val="444444"/>
                </a:solidFill>
              </a:rPr>
              <a:t> — C=96 throughput </a:t>
            </a:r>
            <a:r>
              <a:rPr sz="1800" b="1">
                <a:solidFill>
                  <a:srgbClr val="444444"/>
                </a:solidFill>
              </a:rPr>
              <a:t>tr 17.9 vs default 14.1 (+27%)</a:t>
            </a:r>
            <a:r>
              <a:rPr sz="1800" b="0">
                <a:solidFill>
                  <a:srgbClr val="444444"/>
                </a:solidFill>
              </a:rPr>
              <a:t>, p95도 tr 낮음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단, KV hit rate는 둘 다 ~0.95로 비슷</a:t>
            </a:r>
            <a:r>
              <a:rPr sz="1800" b="0">
                <a:solidFill>
                  <a:srgbClr val="444444"/>
                </a:solidFill>
              </a:rPr>
              <a:t> → tr 이득은 </a:t>
            </a:r>
            <a:r>
              <a:rPr sz="1800" b="1">
                <a:solidFill>
                  <a:srgbClr val="444444"/>
                </a:solidFill>
              </a:rPr>
              <a:t>‘부하 분산’</a:t>
            </a:r>
            <a:r>
              <a:rPr sz="1800" b="0">
                <a:solidFill>
                  <a:srgbClr val="444444"/>
                </a:solidFill>
              </a:rPr>
              <a:t>, 논문 핵심 </a:t>
            </a:r>
            <a:r>
              <a:rPr sz="1800" b="1">
                <a:solidFill>
                  <a:srgbClr val="444444"/>
                </a:solidFill>
              </a:rPr>
              <a:t>‘스래싱 방지’는 아직 안 나타남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과부하 </a:t>
            </a:r>
            <a:r>
              <a:rPr sz="1800" b="1">
                <a:solidFill>
                  <a:srgbClr val="444444"/>
                </a:solidFill>
              </a:rPr>
              <a:t>C=128: tr·default 둘 다 붕괴</a:t>
            </a:r>
            <a:r>
              <a:rPr sz="1800" b="0">
                <a:solidFill>
                  <a:srgbClr val="444444"/>
                </a:solidFill>
              </a:rPr>
              <a:t>(throughput↓·latency 급증) — 두 4090의 물리 한계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한계 발견</a:t>
            </a:r>
            <a:r>
              <a:rPr sz="1800" b="0">
                <a:solidFill>
                  <a:srgbClr val="444444"/>
                </a:solidFill>
              </a:rPr>
              <a:t>: KV 용량을 안 넘겨 스래싱이 없었음(Eq.6 미충족) → 2단계로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★ 1단계의 한계를 발견한 것이 2단계 실험의 동기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D65F00"/>
                </a:solidFill>
              </a:rPr>
              <a:t>결과 2단계 — 스래싱 심화 (KV 용량 압박)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D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44444"/>
                </a:solidFill>
              </a:rPr>
              <a:t>정조준: 프로그램마다 </a:t>
            </a:r>
            <a:r>
              <a:rPr sz="1500" b="1">
                <a:solidFill>
                  <a:srgbClr val="444444"/>
                </a:solidFill>
              </a:rPr>
              <a:t>고유한 긴 컨텍스트</a:t>
            </a:r>
            <a:r>
              <a:rPr sz="1500" b="0">
                <a:solidFill>
                  <a:srgbClr val="444444"/>
                </a:solidFill>
              </a:rPr>
              <a:t>를 넣어 KV 용량을 초과 → 재프리필 유도</a:t>
            </a:r>
          </a:p>
          <a:p>
            <a:r>
              <a:rPr sz="1600" b="1">
                <a:solidFill>
                  <a:srgbClr val="D65F00"/>
                </a:solidFill>
              </a:rPr>
              <a:t>tr hit 0.67 vs default 0.02 (~28×)  ·  throughput +57%  ·  p95 97s vs 158s  ·  재프리필 ~10×</a:t>
            </a:r>
          </a:p>
        </p:txBody>
      </p:sp>
      <p:pic>
        <p:nvPicPr>
          <p:cNvPr id="5" name="Picture 4" descr="thrash_hi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286000"/>
            <a:ext cx="3886200" cy="2632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" y="6263640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KV hit rate (핵심)</a:t>
            </a:r>
          </a:p>
        </p:txBody>
      </p:sp>
      <p:pic>
        <p:nvPicPr>
          <p:cNvPr id="7" name="Picture 6" descr="thrash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2286000"/>
            <a:ext cx="3886200" cy="2632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33088" y="6263640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throughput</a:t>
            </a:r>
          </a:p>
        </p:txBody>
      </p:sp>
      <p:pic>
        <p:nvPicPr>
          <p:cNvPr id="9" name="Picture 8" descr="thrash_p95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286000"/>
            <a:ext cx="3886200" cy="26325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29016" y="6263640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p95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논문 대조: default 붕괴 = §3.1·Fig 1b·Fig 5의 ‘tool 중 KV evict→재프리필→스래싱’과 방향 일치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E7D32"/>
                </a:solidFill>
              </a:rPr>
              <a:t>워크로드 특성 (1) — 극단적 input-heavy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입력 </a:t>
            </a:r>
            <a:r>
              <a:rPr sz="1700" b="1">
                <a:solidFill>
                  <a:srgbClr val="444444"/>
                </a:solidFill>
              </a:rPr>
              <a:t>~14.5k 토큰/turn</a:t>
            </a:r>
            <a:r>
              <a:rPr sz="1700" b="0">
                <a:solidFill>
                  <a:srgbClr val="444444"/>
                </a:solidFill>
              </a:rPr>
              <a:t> vs 출력 </a:t>
            </a:r>
            <a:r>
              <a:rPr sz="1700" b="1">
                <a:solidFill>
                  <a:srgbClr val="444444"/>
                </a:solidFill>
              </a:rPr>
              <a:t>~28 토큰</a:t>
            </a:r>
            <a:r>
              <a:rPr sz="1700" b="0">
                <a:solidFill>
                  <a:srgbClr val="444444"/>
                </a:solidFill>
              </a:rPr>
              <a:t> → 비용이 </a:t>
            </a:r>
            <a:r>
              <a:rPr sz="1700" b="1">
                <a:solidFill>
                  <a:srgbClr val="444444"/>
                </a:solidFill>
              </a:rPr>
              <a:t>prefill/KV에 몰림</a:t>
            </a:r>
            <a:r>
              <a:rPr sz="1700" b="0">
                <a:solidFill>
                  <a:srgbClr val="444444"/>
                </a:solidFill>
              </a:rPr>
              <a:t>, KV locality가 결정적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turn 0 = full prefill </a:t>
            </a:r>
            <a:r>
              <a:rPr sz="1700" b="1">
                <a:solidFill>
                  <a:srgbClr val="444444"/>
                </a:solidFill>
              </a:rPr>
              <a:t>~1.82s</a:t>
            </a:r>
            <a:r>
              <a:rPr sz="1700" b="0">
                <a:solidFill>
                  <a:srgbClr val="444444"/>
                </a:solidFill>
              </a:rPr>
              <a:t>, turn 1~3 = prefix 재사용 </a:t>
            </a:r>
            <a:r>
              <a:rPr sz="1700" b="1">
                <a:solidFill>
                  <a:srgbClr val="444444"/>
                </a:solidFill>
              </a:rPr>
              <a:t>~0.13s</a:t>
            </a:r>
            <a:r>
              <a:rPr sz="1700" b="0">
                <a:solidFill>
                  <a:srgbClr val="444444"/>
                </a:solidFill>
              </a:rPr>
              <a:t> (약 </a:t>
            </a:r>
            <a:r>
              <a:rPr sz="1700" b="1">
                <a:solidFill>
                  <a:srgbClr val="444444"/>
                </a:solidFill>
              </a:rPr>
              <a:t>14× 감소</a:t>
            </a:r>
            <a:r>
              <a:rPr sz="1700" b="0">
                <a:solidFill>
                  <a:srgbClr val="444444"/>
                </a:solidFill>
              </a:rPr>
              <a:t>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–  </a:t>
            </a:r>
            <a:r>
              <a:rPr sz="1500" b="0">
                <a:solidFill>
                  <a:srgbClr val="444444"/>
                </a:solidFill>
              </a:rPr>
              <a:t>→ ‘프로그램을 같은 곳에 고정하면 왜 이득인지’를 </a:t>
            </a:r>
            <a:r>
              <a:rPr sz="1500" b="1">
                <a:solidFill>
                  <a:srgbClr val="444444"/>
                </a:solidFill>
              </a:rPr>
              <a:t>실측으로</a:t>
            </a:r>
            <a:r>
              <a:rPr sz="1500" b="0">
                <a:solidFill>
                  <a:srgbClr val="444444"/>
                </a:solidFill>
              </a:rPr>
              <a:t> 보여줌</a:t>
            </a:r>
          </a:p>
        </p:txBody>
      </p:sp>
      <p:pic>
        <p:nvPicPr>
          <p:cNvPr id="5" name="Picture 4" descr="char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17520"/>
            <a:ext cx="6492240" cy="18977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12648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input/output 토큰 분포</a:t>
            </a:r>
          </a:p>
        </p:txBody>
      </p:sp>
      <p:pic>
        <p:nvPicPr>
          <p:cNvPr id="7" name="Picture 6" descr="char_turn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743200"/>
            <a:ext cx="4709160" cy="3047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6126480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turn별 prefill/decode/tool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444444"/>
                </a:solidFill>
              </a:rPr>
              <a:t>prefill/decode는 vLLM이 요청별 분리 미제공 → 스트리밍 TTFT로 근사한 값 (c=1, 큐 오염 없음)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E7D32"/>
                </a:solidFill>
              </a:rPr>
              <a:t>워크로드 특성 (2) — KV 수용량 ★ heterogeneous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KV = </a:t>
            </a:r>
            <a:r>
              <a:rPr sz="1700" b="1">
                <a:solidFill>
                  <a:srgbClr val="444444"/>
                </a:solidFill>
              </a:rPr>
              <a:t>144 KiB/token</a:t>
            </a:r>
            <a:r>
              <a:rPr sz="1700" b="0">
                <a:solidFill>
                  <a:srgbClr val="444444"/>
                </a:solidFill>
              </a:rPr>
              <a:t> (Qwen3-8B config 실측 = vLLM KV풀 로그와 교차검증 일치)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프로그램당 peak ≈ </a:t>
            </a:r>
            <a:r>
              <a:rPr sz="1700" b="1">
                <a:solidFill>
                  <a:srgbClr val="444444"/>
                </a:solidFill>
              </a:rPr>
              <a:t>2 GiB</a:t>
            </a:r>
            <a:r>
              <a:rPr sz="1700" b="0">
                <a:solidFill>
                  <a:srgbClr val="444444"/>
                </a:solidFill>
              </a:rPr>
              <a:t> → </a:t>
            </a:r>
            <a:r>
              <a:rPr sz="1700" b="1">
                <a:solidFill>
                  <a:srgbClr val="444444"/>
                </a:solidFill>
              </a:rPr>
              <a:t>4090 한 장에 동시 ~3개만 적재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§9의 c=48은 용량 </a:t>
            </a:r>
            <a:r>
              <a:rPr sz="1700" b="1">
                <a:solidFill>
                  <a:srgbClr val="444444"/>
                </a:solidFill>
              </a:rPr>
              <a:t>~16× 초과</a:t>
            </a:r>
            <a:r>
              <a:rPr sz="1700" b="0">
                <a:solidFill>
                  <a:srgbClr val="444444"/>
                </a:solidFill>
              </a:rPr>
              <a:t> → 스래싱이 필연이었음을 정량 설명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★ </a:t>
            </a:r>
            <a:r>
              <a:rPr sz="1700" b="1">
                <a:solidFill>
                  <a:srgbClr val="444444"/>
                </a:solidFill>
              </a:rPr>
              <a:t>5090 ≈ 6.6개 [추정] vs 4090 ≈ 3개</a:t>
            </a:r>
            <a:r>
              <a:rPr sz="1700" b="0">
                <a:solidFill>
                  <a:srgbClr val="444444"/>
                </a:solidFill>
              </a:rPr>
              <a:t> → GPU마다 수용량이 </a:t>
            </a:r>
            <a:r>
              <a:rPr sz="1700" b="1">
                <a:solidFill>
                  <a:srgbClr val="444444"/>
                </a:solidFill>
              </a:rPr>
              <a:t>2배+ 다름</a:t>
            </a:r>
          </a:p>
        </p:txBody>
      </p:sp>
      <p:pic>
        <p:nvPicPr>
          <p:cNvPr id="5" name="Picture 4" descr="char_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246120"/>
            <a:ext cx="8961120" cy="31543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200" y="64465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</a:rPr>
              <a:t>KV 누적(turn별) · GPU 수용량 (4090 실측 / 5090 추정)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결과 분석 종합 — 1→2단계를 논문으로 해석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1">
                <a:solidFill>
                  <a:srgbClr val="444444"/>
                </a:solidFill>
              </a:rPr>
              <a:t>1→2 차이의 원인 = 논문 Eq.(6) 스래싱 조건</a:t>
            </a:r>
            <a:r>
              <a:rPr sz="1700" b="0">
                <a:solidFill>
                  <a:srgbClr val="444444"/>
                </a:solidFill>
              </a:rPr>
              <a:t> `C_total &lt; Σ c_p` (§4.3.1)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–  </a:t>
            </a:r>
            <a:r>
              <a:rPr sz="1500" b="0">
                <a:solidFill>
                  <a:srgbClr val="444444"/>
                </a:solidFill>
              </a:rPr>
              <a:t>1단계: working set이 KV 풀에 </a:t>
            </a:r>
            <a:r>
              <a:rPr sz="1500" b="1">
                <a:solidFill>
                  <a:srgbClr val="444444"/>
                </a:solidFill>
              </a:rPr>
              <a:t>들어감</a:t>
            </a:r>
            <a:r>
              <a:rPr sz="1500" b="0">
                <a:solidFill>
                  <a:srgbClr val="444444"/>
                </a:solidFill>
              </a:rPr>
              <a:t> → 스래싱 없음 → 이득은 부하분산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–  </a:t>
            </a:r>
            <a:r>
              <a:rPr sz="1500" b="0">
                <a:solidFill>
                  <a:srgbClr val="444444"/>
                </a:solidFill>
              </a:rPr>
              <a:t>2단계: working set이 풀을 </a:t>
            </a:r>
            <a:r>
              <a:rPr sz="1500" b="1">
                <a:solidFill>
                  <a:srgbClr val="444444"/>
                </a:solidFill>
              </a:rPr>
              <a:t>초과</a:t>
            </a:r>
            <a:r>
              <a:rPr sz="1500" b="0">
                <a:solidFill>
                  <a:srgbClr val="444444"/>
                </a:solidFill>
              </a:rPr>
              <a:t> → 스래싱 → </a:t>
            </a:r>
            <a:r>
              <a:rPr sz="1500" b="1">
                <a:solidFill>
                  <a:srgbClr val="444444"/>
                </a:solidFill>
              </a:rPr>
              <a:t>용량 제어가 있는 tr만</a:t>
            </a:r>
            <a:r>
              <a:rPr sz="1500" b="0">
                <a:solidFill>
                  <a:srgbClr val="444444"/>
                </a:solidFill>
              </a:rPr>
              <a:t> 적중률 유지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우리가 재현한 범위: </a:t>
            </a:r>
            <a:r>
              <a:rPr sz="1700" b="1">
                <a:solidFill>
                  <a:srgbClr val="444444"/>
                </a:solidFill>
              </a:rPr>
              <a:t>3대 기여 중 ① KV 스래싱(§3.1·§4.3.1)만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–  </a:t>
            </a:r>
            <a:r>
              <a:rPr sz="1500" b="0">
                <a:solidFill>
                  <a:srgbClr val="444444"/>
                </a:solidFill>
              </a:rPr>
              <a:t>범위 밖(명시): ② cross-node 불균형(§3.2), ③ tool lifecycle(§3.3)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A5F"/>
                </a:solidFill>
              </a:rPr>
              <a:t>•  </a:t>
            </a:r>
            <a:r>
              <a:rPr sz="1700" b="0">
                <a:solidFill>
                  <a:srgbClr val="444444"/>
                </a:solidFill>
              </a:rPr>
              <a:t>homogeneous에선 tr이 두 백엔드에 </a:t>
            </a:r>
            <a:r>
              <a:rPr sz="1700" b="1">
                <a:solidFill>
                  <a:srgbClr val="444444"/>
                </a:solidFill>
              </a:rPr>
              <a:t>거의 반반 분배</a:t>
            </a:r>
            <a:r>
              <a:rPr sz="1700" b="0">
                <a:solidFill>
                  <a:srgbClr val="444444"/>
                </a:solidFill>
              </a:rPr>
              <a:t>(동일 GPU라 반반이 최적) — hetero로 가는 다리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D65F00"/>
                </a:solidFill>
              </a:rPr>
              <a:t>★ Heterogeneous로의 연결 (실측 + 논문 근거)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D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3A5F"/>
                </a:solidFill>
              </a:rPr>
              <a:t>•  </a:t>
            </a:r>
            <a:r>
              <a:rPr sz="1600" b="0">
                <a:solidFill>
                  <a:srgbClr val="444444"/>
                </a:solidFill>
              </a:rPr>
              <a:t>GPU가 다르면(4090 vs 5090) </a:t>
            </a:r>
            <a:r>
              <a:rPr sz="1600" b="1">
                <a:solidFill>
                  <a:srgbClr val="444444"/>
                </a:solidFill>
              </a:rPr>
              <a:t>반반 분배는 더 이상 최적이 아님</a:t>
            </a:r>
            <a:r>
              <a:rPr sz="1600" b="0">
                <a:solidFill>
                  <a:srgbClr val="444444"/>
                </a:solidFill>
              </a:rPr>
              <a:t> — 성능·용량 비례로 나눠야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A5F"/>
                </a:solidFill>
              </a:rPr>
              <a:t>•  </a:t>
            </a:r>
            <a:r>
              <a:rPr sz="1600" b="0">
                <a:solidFill>
                  <a:srgbClr val="444444"/>
                </a:solidFill>
              </a:rPr>
              <a:t>우리 실측(§10): </a:t>
            </a:r>
            <a:r>
              <a:rPr sz="1600" b="1">
                <a:solidFill>
                  <a:srgbClr val="444444"/>
                </a:solidFill>
              </a:rPr>
              <a:t>4090 ≈ 3개 / 5090 ≈ 6.6개[추정]</a:t>
            </a:r>
            <a:r>
              <a:rPr sz="1600" b="0">
                <a:solidFill>
                  <a:srgbClr val="444444"/>
                </a:solidFill>
              </a:rPr>
              <a:t> → </a:t>
            </a:r>
            <a:r>
              <a:rPr sz="1600" b="1">
                <a:solidFill>
                  <a:srgbClr val="444444"/>
                </a:solidFill>
              </a:rPr>
              <a:t>스래싱 시작점이 백엔드마다 다름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A5F"/>
                </a:solidFill>
              </a:rPr>
              <a:t>•  </a:t>
            </a:r>
            <a:r>
              <a:rPr sz="1600" b="0">
                <a:solidFill>
                  <a:srgbClr val="444444"/>
                </a:solidFill>
              </a:rPr>
              <a:t>논문의 한계(이 버전에서 검증된 근거):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–  </a:t>
            </a:r>
            <a:r>
              <a:rPr sz="1400" b="0">
                <a:solidFill>
                  <a:srgbClr val="444444"/>
                </a:solidFill>
              </a:rPr>
              <a:t>§4.3.2: restore를 </a:t>
            </a:r>
            <a:r>
              <a:rPr sz="1400" b="1">
                <a:solidFill>
                  <a:srgbClr val="444444"/>
                </a:solidFill>
              </a:rPr>
              <a:t>‘용량 남는 아무 replica’</a:t>
            </a:r>
            <a:r>
              <a:rPr sz="1400" b="0">
                <a:solidFill>
                  <a:srgbClr val="444444"/>
                </a:solidFill>
              </a:rPr>
              <a:t> 로, 재프리필 비용을 </a:t>
            </a:r>
            <a:r>
              <a:rPr sz="1400" b="1">
                <a:solidFill>
                  <a:srgbClr val="444444"/>
                </a:solidFill>
              </a:rPr>
              <a:t>node-agnostic 가정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–  </a:t>
            </a:r>
            <a:r>
              <a:rPr sz="1400" b="0">
                <a:solidFill>
                  <a:srgbClr val="444444"/>
                </a:solidFill>
              </a:rPr>
              <a:t>Table 4(BackendState): </a:t>
            </a:r>
            <a:r>
              <a:rPr sz="1400" b="1">
                <a:solidFill>
                  <a:srgbClr val="444444"/>
                </a:solidFill>
              </a:rPr>
              <a:t>용량/토큰만 추적, 처리속도·대역폭 필드 없음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444444"/>
                </a:solidFill>
              </a:rPr>
              <a:t>–  </a:t>
            </a:r>
            <a:r>
              <a:rPr sz="1400" b="0">
                <a:solidFill>
                  <a:srgbClr val="444444"/>
                </a:solidFill>
              </a:rPr>
              <a:t>§5.1: 논문 하드웨어는 </a:t>
            </a:r>
            <a:r>
              <a:rPr sz="1400" b="1">
                <a:solidFill>
                  <a:srgbClr val="444444"/>
                </a:solidFill>
              </a:rPr>
              <a:t>동질 셋업만</a:t>
            </a:r>
            <a:r>
              <a:rPr sz="1400" b="0">
                <a:solidFill>
                  <a:srgbClr val="444444"/>
                </a:solidFill>
              </a:rPr>
              <a:t> — </a:t>
            </a:r>
            <a:r>
              <a:rPr sz="1400" b="1">
                <a:solidFill>
                  <a:srgbClr val="444444"/>
                </a:solidFill>
              </a:rPr>
              <a:t>GPU를 섞은 실험은 없음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A5F"/>
                </a:solidFill>
              </a:rPr>
              <a:t>•  </a:t>
            </a:r>
            <a:r>
              <a:rPr sz="1600" b="0">
                <a:solidFill>
                  <a:srgbClr val="444444"/>
                </a:solidFill>
              </a:rPr>
              <a:t>→ </a:t>
            </a:r>
            <a:r>
              <a:rPr sz="1600" b="1">
                <a:solidFill>
                  <a:srgbClr val="444444"/>
                </a:solidFill>
              </a:rPr>
              <a:t>[우리 가설]</a:t>
            </a:r>
            <a:r>
              <a:rPr sz="1600" b="0">
                <a:solidFill>
                  <a:srgbClr val="444444"/>
                </a:solidFill>
              </a:rPr>
              <a:t> 균등/용량기반 분배는 </a:t>
            </a:r>
            <a:r>
              <a:rPr sz="1600" b="1">
                <a:solidFill>
                  <a:srgbClr val="444444"/>
                </a:solidFill>
              </a:rPr>
              <a:t>작은 4090을 먼저 스래싱</a:t>
            </a:r>
            <a:r>
              <a:rPr sz="1600" b="0">
                <a:solidFill>
                  <a:srgbClr val="444444"/>
                </a:solidFill>
              </a:rPr>
              <a:t> → </a:t>
            </a:r>
            <a:r>
              <a:rPr sz="1600" b="1">
                <a:solidFill>
                  <a:srgbClr val="444444"/>
                </a:solidFill>
              </a:rPr>
              <a:t>용량·속도 비례 라우팅</a:t>
            </a:r>
            <a:r>
              <a:rPr sz="1600" b="0">
                <a:solidFill>
                  <a:srgbClr val="444444"/>
                </a:solidFill>
              </a:rPr>
              <a:t>이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1F77B4"/>
                </a:solidFill>
              </a:rPr>
              <a:t>‘느린 GPU가 먼저 스래싱’은 논문 실험이 아니라 §10 실측 기반 우리 가설([추정]). 논문은 GPU 혼합 실험을 하지 않음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D65F00"/>
                </a:solidFill>
              </a:rPr>
              <a:t>다음 실험 — Heterogeneous 가설 &amp; 검증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D6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F3A5F"/>
                </a:solidFill>
              </a:rPr>
              <a:t>•  </a:t>
            </a:r>
            <a:r>
              <a:rPr sz="1500" b="1">
                <a:solidFill>
                  <a:srgbClr val="444444"/>
                </a:solidFill>
              </a:rPr>
              <a:t>① 가설 (§12)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</a:t>
            </a:r>
            <a:r>
              <a:rPr sz="1300" b="0">
                <a:solidFill>
                  <a:srgbClr val="444444"/>
                </a:solidFill>
              </a:rPr>
              <a:t>H1 현상: 용량기반 분배 → </a:t>
            </a:r>
            <a:r>
              <a:rPr sz="1300" b="1">
                <a:solidFill>
                  <a:srgbClr val="444444"/>
                </a:solidFill>
              </a:rPr>
              <a:t>4090이 먼저 용량 초과(~3개) → 먼저 스래싱 → 전체가 4090 병목</a:t>
            </a:r>
            <a:r>
              <a:rPr sz="1300" b="0">
                <a:solidFill>
                  <a:srgbClr val="444444"/>
                </a:solidFill>
              </a:rPr>
              <a:t> [가설]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</a:t>
            </a:r>
            <a:r>
              <a:rPr sz="1300" b="0">
                <a:solidFill>
                  <a:srgbClr val="444444"/>
                </a:solidFill>
              </a:rPr>
              <a:t>H2 원인: 스케줄러가 </a:t>
            </a:r>
            <a:r>
              <a:rPr sz="1300" b="1">
                <a:solidFill>
                  <a:srgbClr val="444444"/>
                </a:solidFill>
              </a:rPr>
              <a:t>GPU 속도·대역폭·용량 차이를 모름</a:t>
            </a:r>
            <a:r>
              <a:rPr sz="1300" b="0">
                <a:solidFill>
                  <a:srgbClr val="444444"/>
                </a:solidFill>
              </a:rPr>
              <a:t> (Table 4·§4.3.2 node-agnostic = 동질 가정)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</a:t>
            </a:r>
            <a:r>
              <a:rPr sz="1300" b="0">
                <a:solidFill>
                  <a:srgbClr val="444444"/>
                </a:solidFill>
              </a:rPr>
              <a:t>H3 해법: </a:t>
            </a:r>
            <a:r>
              <a:rPr sz="1300" b="1">
                <a:solidFill>
                  <a:srgbClr val="444444"/>
                </a:solidFill>
              </a:rPr>
              <a:t>용량(·속도) 비례 분배 (≈2.2:1)</a:t>
            </a:r>
            <a:r>
              <a:rPr sz="1300" b="0">
                <a:solidFill>
                  <a:srgbClr val="444444"/>
                </a:solidFill>
              </a:rPr>
              <a:t> → 스래싱 시작점 정렬 → throughput↑ [가설]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3A5F"/>
                </a:solidFill>
              </a:rPr>
              <a:t>•  </a:t>
            </a:r>
            <a:r>
              <a:rPr sz="1500" b="1">
                <a:solidFill>
                  <a:srgbClr val="444444"/>
                </a:solidFill>
              </a:rPr>
              <a:t>② 검증 설계</a:t>
            </a:r>
            <a:r>
              <a:rPr sz="1500" b="0">
                <a:solidFill>
                  <a:srgbClr val="444444"/>
                </a:solidFill>
              </a:rPr>
              <a:t>: mango 4090 + goguma6 5090, §9 워크로드 재사용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</a:t>
            </a:r>
            <a:r>
              <a:rPr sz="1300" b="0">
                <a:solidFill>
                  <a:srgbClr val="444444"/>
                </a:solidFill>
              </a:rPr>
              <a:t>arm </a:t>
            </a:r>
            <a:r>
              <a:rPr sz="1300" b="1">
                <a:solidFill>
                  <a:srgbClr val="444444"/>
                </a:solidFill>
              </a:rPr>
              <a:t>(a) tr 현행 vs (c) 용량비례</a:t>
            </a:r>
            <a:r>
              <a:rPr sz="1300" b="0">
                <a:solidFill>
                  <a:srgbClr val="444444"/>
                </a:solidFill>
              </a:rPr>
              <a:t>(+참고 default) · 지표: </a:t>
            </a:r>
            <a:r>
              <a:rPr sz="1300" b="1">
                <a:solidFill>
                  <a:srgbClr val="444444"/>
                </a:solidFill>
              </a:rPr>
              <a:t>백엔드별 hit rate·스래싱 시작 C</a:t>
            </a:r>
            <a:r>
              <a:rPr sz="1300" b="0">
                <a:solidFill>
                  <a:srgbClr val="444444"/>
                </a:solidFill>
              </a:rPr>
              <a:t>, throughput/p95, 분배비율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</a:t>
            </a:r>
            <a:r>
              <a:rPr sz="1300" b="0">
                <a:solidFill>
                  <a:srgbClr val="444444"/>
                </a:solidFill>
              </a:rPr>
              <a:t>예상: 현행=</a:t>
            </a:r>
            <a:r>
              <a:rPr sz="1300" b="1">
                <a:solidFill>
                  <a:srgbClr val="444444"/>
                </a:solidFill>
              </a:rPr>
              <a:t>4090 hit 먼저 붕괴·4090서 꺾임</a:t>
            </a:r>
            <a:r>
              <a:rPr sz="1300" b="0">
                <a:solidFill>
                  <a:srgbClr val="444444"/>
                </a:solidFill>
              </a:rPr>
              <a:t> / 용량비례=</a:t>
            </a:r>
            <a:r>
              <a:rPr sz="1300" b="1">
                <a:solidFill>
                  <a:srgbClr val="444444"/>
                </a:solidFill>
              </a:rPr>
              <a:t>두 곡선 비슷·꺾임 뒤로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F3A5F"/>
                </a:solidFill>
              </a:rPr>
              <a:t>•  </a:t>
            </a:r>
            <a:r>
              <a:rPr sz="1500" b="1">
                <a:solidFill>
                  <a:srgbClr val="444444"/>
                </a:solidFill>
              </a:rPr>
              <a:t>③ 열린 질문</a:t>
            </a:r>
            <a:r>
              <a:rPr sz="1500" b="0">
                <a:solidFill>
                  <a:srgbClr val="444444"/>
                </a:solidFill>
              </a:rPr>
              <a:t>: 비례 기준(용량만? 속도·대역폭?) · locality 희생 정도 · </a:t>
            </a:r>
            <a:r>
              <a:rPr sz="1500" b="1">
                <a:solidFill>
                  <a:srgbClr val="444444"/>
                </a:solidFill>
              </a:rPr>
              <a:t>5090 실측</a:t>
            </a:r>
            <a:r>
              <a:rPr sz="1500" b="0">
                <a:solidFill>
                  <a:srgbClr val="444444"/>
                </a:solidFill>
              </a:rPr>
              <a:t> · 실제 워크로드 · 반복측정(에러바)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부록 — 재현 방법 &amp; 재현 안 한 기여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2926080" cy="381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재현: 2× vLLM(env 우회) + ThunderAgent 프록시(tr/default) → 합성 드라이버 concurrency 스윕 → 그래프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스래싱 유도: 드라이버 `--ctx-tokens` (프로그램별 고유 긴 컨텍스트) / 특성: `--stream`(TTFT 근사)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1">
                <a:solidFill>
                  <a:srgbClr val="444444"/>
                </a:solidFill>
              </a:rPr>
              <a:t>재현 안 한 논문 기여</a:t>
            </a:r>
            <a:r>
              <a:rPr sz="1800" b="0">
                <a:solidFill>
                  <a:srgbClr val="444444"/>
                </a:solidFill>
              </a:rPr>
              <a:t>: ② cross-node 메모리 불균형(§3.2), ③ tool lifecycle 관리(§3.3)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•  </a:t>
            </a:r>
            <a:r>
              <a:rPr sz="1800" b="0">
                <a:solidFill>
                  <a:srgbClr val="444444"/>
                </a:solidFill>
              </a:rPr>
              <a:t>산출물(브랜치 `yunuikang/thunderagent`): EXPERIMENT_LOG · SETUP_NOTES · figures/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