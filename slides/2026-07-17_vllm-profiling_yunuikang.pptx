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목적: R=k_fit·d, U≈min(R,1) 현상 모델(4090에서 r=0.959)이 블랙박스였다. vLLM 내부에서 실제로 무슨 일이 일어나는지 코드와 데이터로 검증했다.</a:t>
            </a:r>
          </a:p>
          <a:p/>
          <a:p>
            <a:r>
              <a:t>환경: mango1 4×RTX4090 전부 유휴(TP2 스윕은 nutella1이라 무간섭). 가드레일 준수 — GPU를 한 번도 잡지 않았고, 필요한 마이크로벤치는 마지막 슬라이드에서 승인 요청.</a:t>
            </a:r>
          </a:p>
          <a:p/>
          <a:p>
            <a:r>
              <a:t>산출물: logs/2026-07-17_VLLM_PROFILING_yunuikang.md, figures/vllm_*.png, scripts/plot_vllm_profiling_yunuikang.py + plot_vllm_diagrams_yunuikang.py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1번은 좋은 소식: R이 우연히 맞는 회귀식이 아니라 물리량이었다. R = 동시에 GPU 일을 원하는 요청 수의 기댓값, U = P(nrr&gt;=1). R&lt;1이면 점유가 대부분 0/1이라 P(N&gt;=1)~E[N]=R — U~R은 근사 항등식. r=0.959의 진짜 이유.</a:t>
            </a:r>
          </a:p>
          <a:p/>
          <a:p>
            <a:r>
              <a:t>3번이 오늘의 핵심 발견이다. 오염이 비대칭인 게 결정적: tr은 프록시에서 미리 막아 요청이 vLLM 큐에 안 쌓이므로 재검사가 0회 → 팽창 1.0x → 참 hit == 보고 hit (0.6983 = 0.6983, 소수 4자리 일치). default만 26.3x 팽창 → 4.81배 과소평가. 즉 지표 버그와 물리 메커니즘이 같은 현상이다.</a:t>
            </a:r>
          </a:p>
          <a:p/>
          <a:p>
            <a:r>
              <a:t>4번: 그 덕에 Phase 3에서 '안 닫힌다'고 정직히 열어뒀던 고리가 닫혔다. hit만 참값으로 바꿔 넣으니 예측 1.035(오차 28.2%) → 1.421(오차 1.4%). 실측 1.441.</a:t>
            </a:r>
          </a:p>
          <a:p/>
          <a:p>
            <a:r>
              <a:t>5번 정직 포인트 두 가지: (a) H1의 8.2배는 재프리필 계산분만 센 것이라 정정 — 부하 하 TTFT를 재니 default의 진짜 벌금은 9.5초(숨은 큐 포함), tr은 20.8초 → 2.2배. 방향은 유지. (b) 실험 도중 'tr 스케줄러 데드락'을 발견했다고 판단했으나 내가 --router-url을 안 넘겨 /programs/release가 9000번으로 가서 실패한 자작 버그였다. 전면 철회했고 expC 데이터는 깨끗하다.</a:t>
            </a:r>
          </a:p>
          <a:p/>
          <a:p>
            <a:r>
              <a:t>결론이 뒤집힌 건 없다. tr이 R&lt;1에서 지고 R&gt;=1에서 이긴다는 결론은 그대로다.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vLLM V1은 통합 배치다. 매 iteration마다 각 요청의 num_computed_tokens가 num_tokens_with_spec를 따라잡도록 토큰을 배분할 뿐, prefill 단계/decode 단계라는 구분 자체가 없다.</a:t>
            </a:r>
          </a:p>
          <a:p/>
          <a:p>
            <a:r>
              <a:t>핵심 수치 — max_num_batched_tokens = 2048. [코드 유도]</a:t>
            </a:r>
          </a:p>
          <a:p>
            <a:r>
              <a:t>  arg_utils.py:2404 이 device memory 70GiB를 기준으로 갈린다. 4090은 24GB &lt; 70GiB → else 분기 →   OPENAI_API_SERVER 기본값 2048 (arg_utils.py:2414-2423), 이후 min(256×32768, 2048)=2048 (:2638-2641).</a:t>
            </a:r>
          </a:p>
          <a:p>
            <a:r>
              <a:t>  max_num_seqs = 256 (:2420-2423, :2649-2651) — k_fit 1.6~10.5에 전혀 안 걸리므로 제약이 아니다.   병목은 seq 슬롯이 아니라 KV 블록이다.</a:t>
            </a:r>
          </a:p>
          <a:p/>
          <a:p>
            <a:r>
              <a:t>✅ 실측 확정(2026-07-17): 실제 RTX4090에서 EngineArgs.get_batch_defaults(world_size=1)를 직접 실행 → OPENAI_API_SERVER: batched_tokens 2048 / max_num_seqs 256. device 확인 'NVIDIA GeForce RTX 4090, 24.0 GiB'. (logger.info_once 라인은 여전히 로그에 안 남지만 코드 경로로 확정.) Pro6000은 96GB≥70GiB → 8192/1024.</a:t>
            </a:r>
          </a:p>
          <a:p/>
          <a:p>
            <a:r>
              <a:t>순서가 중요: RUNNING을 먼저 스케줄하고(:432) 그 다음 WAITING(:626). 따라서 decode는 프리필에 의해 admission에서 밀려나지 않는다 — budget 2048 ≫ max_num_seqs 256이라 decode 1토큰짜리는 항상 들어간다. '프리필이 decode를 밀어낸다'는 우리 서술은 부정확하다.</a:t>
            </a:r>
          </a:p>
          <a:p/>
          <a:p>
            <a:r>
              <a:t>그러나 결과: TraceLab 프롬프트 18,684 tok(mean)은 2048 예산을 약 10 iteration 독점한다. 이게 다음 슬라이드의 '배치가 안 커지는 이유'다.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 질문이었다: continuous batching이면 'GPU가 채워진다'는 (a) 시간축을 요청들이 번갈아 메우는 것인가, (b) 한 iteration의 배치가 커지는 것인가?</a:t>
            </a:r>
          </a:p>
          <a:p/>
          <a:p>
            <a:r>
              <a:t>답: (a) 시간축이다. 데이터가 명확하다.</a:t>
            </a:r>
          </a:p>
          <a:p>
            <a:r>
              <a:t>  k_fit(프록시 resident)  1.60(tr) → 6.15(default C=16) → 10.50(C=32)   = 6.6배</a:t>
            </a:r>
          </a:p>
          <a:p>
            <a:r>
              <a:t>  실제 GPU 배치           1.19    → 1.45              → 1.44           = +21%뿐</a:t>
            </a:r>
          </a:p>
          <a:p>
            <a:r>
              <a:t>  U(nrr&gt;0)               0.317   → 0.855             → 0.893          = 2.7배</a:t>
            </a:r>
          </a:p>
          <a:p/>
          <a:p>
            <a:r>
              <a:t>즉 default가 이기는 이유는 '한 번에 더 많이 처리해서'가 아니라 '노는 시간이 적어서'다.</a:t>
            </a:r>
          </a:p>
          <a:p/>
          <a:p>
            <a:r>
              <a:t>그림 읽는 법: 빨간 채움 = vLLM num_requests_running(2백엔드 합). 파란 선 = 프록시가 REASONING이라 믿는 수. default 패널에서 파랑이 10~13인데 빨강이 3~4다 — 이 간격이 vLLM 내부 큐다(슬라이드 7).</a:t>
            </a:r>
          </a:p>
          <a:p>
            <a:r>
              <a:t>3개 블록은 REPEAT=3.</a:t>
            </a:r>
          </a:p>
          <a:p/>
          <a:p>
            <a:r>
              <a:t>내가 그려온 그림 채점: 'TraceLab tr = 구멍 뚫림 U≈0.38' ✅ 맞음. 'default = 빽빽 U≈0.87' ✅ 맞음. '빽빽함 = 배치가 큼' ❌ 틀림. → 그림의 '얼마나 차 있나'는 맞았고 '왜 차 있나'가 틀렸다.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H2 가설: 'decode는 memory-bandwidth-bound라 batch 1~8의 step latency가 비슷하다. default는 resident 6.15로 tr(1.6)의 4배 일을 같은 시간에 한다. default의 이득은 recompute를 감수하고 산 batching이다.'</a:t>
            </a:r>
          </a:p>
          <a:p/>
          <a:p>
            <a:r>
              <a:t>→ 기각. 마이크로벤치가 필요 없었다. 실제 배치(mean nrr | nrr&gt;0)가 전 구간 1.13~1.45다. default C=32조차 1.44. tr 1.19 대비 +21%이지 4배가 아니다.</a:t>
            </a:r>
          </a:p>
          <a:p/>
          <a:p>
            <a:r>
              <a:t>왜 k_fit=6.15인데 배치가 1.45인가 — k_fit을 분해하면:</a:t>
            </a:r>
          </a:p>
          <a:p>
            <a:r>
              <a:t>  default C=16: k_fit 6.15 = REASONING 4.56 + ACTING 1.59.  그런데 vLLM mean nrr = 1.24.</a:t>
            </a:r>
          </a:p>
          <a:p>
            <a:r>
              <a:t>  → ACTING 1.59는 tool 실행 중이라 애초에 off-GPU.  REASONING 4.56 중 실제 실행은 1.24,      나머지 3.32는 vLLM 큐 대기.</a:t>
            </a:r>
          </a:p>
          <a:p>
            <a:r>
              <a:t>즉 k_fit은 'GPU에 올라간 수'가 아니다. 우리가 이 이름을 계속 쓰면 오해를 부른다.</a:t>
            </a:r>
          </a:p>
          <a:p/>
          <a:p>
            <a:r>
              <a:t>부수 결론: CUDA graph 버킷은 [1,2,4,8,16,24,32,...] 51개(기동 로그 실측)로 촘촘해서 batch 1과 4는 서로 다른 그래프를 쓴다. 따라서 'batch 1이든 4든 비슷하다'는 직관은 CUDA graph 패딩으로는 설명 안 된다. [추정] 다만 memory-bound 물리로는 여전히 옳을 수 있는데, 실제 배치가 1.1~1.5로 고정이라 이 질문 자체가 우리 워크로드에선 무의미해졌다 → decode batch 커브 마이크로벤치는 실익이 낮아 생략 권고.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이게 오늘의 가장 좋은 소식이다. R은 우연히 맞는 회귀식이 아니었다.</a:t>
            </a:r>
          </a:p>
          <a:p/>
          <a:p>
            <a:r>
              <a:t>R = k_fit × d 의 의미: k_fit개 프로그램이 각자 자기 시간의 d 비율만큼 GPU 일을 한다면, 동시에 GPU 일을 원하는 프로그램 수의 기댓값 = k_fit × d. 이게 정확히 vLLM의 mean num_requests_running이다. 표에서 default C=4(0.36 vs 0.36)와 C=16(1.20 vs 1.24)은 거의 완벽히 일치한다.</a:t>
            </a:r>
          </a:p>
          <a:p/>
          <a:p>
            <a:r>
              <a:t>그리고 U = P(nrr≥1) = GPU가 일감을 갖고 있던 시간 비율. R이 작으면 동시에 2개 이상 겹칠 확률이 낮아 N이 거의 0 아니면 1 → E[N] ≈ P(N≥1). 그래서 U≈R.</a:t>
            </a:r>
          </a:p>
          <a:p/>
          <a:p>
            <a:r>
              <a:t>C=32에서 R=2.06인데 nrr=1.29로 포화하는 이유: 배치가 1.44에 물리적으로 묶여 있어서(슬라이드 5). 이것이 expC 한계 항목 '실측 U가 고R에서 예측 하회'의 정확한 기전이다 — 이제 설명할 수 있다.</a:t>
            </a:r>
          </a:p>
          <a:p/>
          <a:p>
            <a:r>
              <a:t>[추정] C=8에서 +0.25 오차가 상대적으로 큰데, 원인은 미규명. d=0.196이 c=1 고유값이라 부하 하에서 약간 달라지는 것일 수 있다(expC가 이미 기록한 한계).</a:t>
            </a:r>
          </a:p>
          <a:p/>
          <a:p>
            <a:r>
              <a:t>용어 권고: R을 '활용률'이라 부르지 말고 '요청 수요(demand in server-units)'라 부르는 게 정확하다.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H4(tr 프록시 오버헤드 가설)를 보다가 나온 반전이다.</a:t>
            </a:r>
          </a:p>
          <a:p/>
          <a:p>
            <a:r>
              <a:t>REASONING − nrr 갭 = 프록시는 '추론 중'이라 믿지만 vLLM은 실행하지 않는 프로그램 수:</a:t>
            </a:r>
          </a:p>
          <a:p>
            <a:r>
              <a:t>  tr C=16       0.11개   (프록시가 미리 막아서 vLLM 큐에 안 쌓임)</a:t>
            </a:r>
          </a:p>
          <a:p>
            <a:r>
              <a:t>  default C=16  3.32개</a:t>
            </a:r>
          </a:p>
          <a:p>
            <a:r>
              <a:t>  default C=32  7.52개</a:t>
            </a:r>
          </a:p>
          <a:p/>
          <a:p>
            <a:r>
              <a:t>완전히 다른 경로의 독립 증거 2종이 같은 결론을 가리킨다:</a:t>
            </a:r>
          </a:p>
          <a:p>
            <a:r>
              <a:t>  ① REASONING − nrr 갭 (프록시 상태 vs vLLM 상태 대조)</a:t>
            </a:r>
          </a:p>
          <a:p>
            <a:r>
              <a:t>  ② queries 팽창 30배 (vLLM 내부 카운터, 슬라이드 8)</a:t>
            </a:r>
          </a:p>
          <a:p>
            <a:r>
              <a:t>두 지표가 서로 무관한 계측 경로인데 같은 것(vLLM 큐 정체)을 말한다 — 그래서 신뢰할 만하다.</a:t>
            </a:r>
          </a:p>
          <a:p/>
          <a:p>
            <a:r>
              <a:t>왜 preemption이 아니라 큐 정체인가: preemption은 이미 RUNNING인 요청이 decode 중 블록을 더 못 얻을 때만 발생하는데(scheduler.py:524-568), 우리 출력은 44.8~55 토큰뿐이라 추가로 필요한 블록이 ⌈55/16⌉≈4개다. 반면 신규 프리필은 18.7k tok = 1,168 블록을 요구한다. → 경합은 waiting 승인 단계에서 전부 해소되고 RUNNING까지 간 요청은 안 밀린다. 실측 preemption≈0과 정합. 우리 관찰이 코드로 설명됐다.</a:t>
            </a:r>
          </a:p>
          <a:p/>
          <a:p>
            <a:r>
              <a:t>H4 판정 한계(정직): pause가 완전히 0인 tr 점이 expC에 없다(tr은 C=4부터 이미 pause 발생). 따라서 H4는 기존 데이터로 완전 판정 불가. 다만 슬라이드 9의 수치가 pause만으로 격차를 설명하므로 프록시 고정 오버헤드가 주원인일 가능성은 낮다 [추정].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DEEP_ANALYSIS §B-1의 미해결 질문을 코드로 확정했다. 그런데 답이 우리 가설과 달랐다.</a:t>
            </a:r>
          </a:p>
          <a:p/>
          <a:p>
            <a:r>
              <a:t>우리 가설: 'queries≈222M vs prompt≈7M가 1:1로 안 맞는다, granularity가 다른 듯.'</a:t>
            </a:r>
          </a:p>
          <a:p>
            <a:r>
              <a:t>실제: granularity는 같다. 둘 다 프롬프트 전체 길이를 센다.</a:t>
            </a:r>
          </a:p>
          <a:p>
            <a:r>
              <a:t>  kv_cache_manager.py:236-240  record(num_tokens=request.num_tokens, ...)  ← 프롬프트 전체</a:t>
            </a:r>
          </a:p>
          <a:p>
            <a:r>
              <a:t>  stats.py:308                 self.total += prefill_stats.num_prompt_tokens  ← 같은 값</a:t>
            </a:r>
          </a:p>
          <a:p/>
          <a:p>
            <a:r>
              <a:t>진짜 원인 = waiting 큐 재검사 중복 계수:</a:t>
            </a:r>
          </a:p>
          <a:p>
            <a:r>
              <a:t>  :636  peek_request()  ← pop이 아니다</a:t>
            </a:r>
          </a:p>
          <a:p>
            <a:r>
              <a:t>  :673  if num_computed_tokens == 0:  →  :710 get_computed_blocks() → record() 발생</a:t>
            </a:r>
          </a:p>
          <a:p>
            <a:r>
              <a:t>  :888-895  allocate 실패 → break  (pop_request는 :917로 그 뒤)</a:t>
            </a:r>
          </a:p>
          <a:p>
            <a:r>
              <a:t>  :1141-43  num_computed_tokens는 '스케줄된' 요청만 전진 → 거부된 요청은 0에 머문다</a:t>
            </a:r>
          </a:p>
          <a:p>
            <a:r>
              <a:t>→ 승인될 때까지 매 step 재기록. 팽창 배수 ≈ 큐 head에서 재검사된 step 수.</a:t>
            </a:r>
          </a:p>
          <a:p/>
          <a:p>
            <a:r>
              <a:t>예측대로 경합에 비례한다: tr 1.9~2.1 평탄 / default 3.81 → 18.75 → 29.56 → 30.05.</a:t>
            </a:r>
          </a:p>
          <a:p>
            <a:r>
              <a:t>그리고 보고 hit rate가 팽창과 정확히 역상관(0.649→0.030).</a:t>
            </a:r>
          </a:p>
          <a:p/>
          <a:p>
            <a:r>
              <a:t>판정:</a:t>
            </a:r>
          </a:p>
          <a:p>
            <a:r>
              <a:t>  ✅ prompt_tokens_total 폐기는 옳았다 (코드로 확증 — 논리적 총량, 캐시 무관).</a:t>
            </a:r>
          </a:p>
          <a:p>
            <a:r>
              <a:t>  ✅ 절대 미스량 불신도 옳았다 — 단 이유가 'granularity'가 아니라 '재검사'다. §B-1 문장 교체 필요.</a:t>
            </a:r>
          </a:p>
          <a:p>
            <a:r>
              <a:t>  ⚠️ 그러나 '미스율(1−hit)은 robust하다'는 부분적으로 틀렸다. 미스율도 같은 오염을 공유한다 —      재검사 많은 요청이 집계에서 가중치 N배를 받는다.</a:t>
            </a:r>
          </a:p>
          <a:p>
            <a:r>
              <a:t>  ✅ 대안이 있었다(우리가 놓쳤다): vllm:prompt_tokens_by_source{source="local_compute"} = 실제 계산 토큰.      불변식 computed + local_cache_hit + external_kv_transfer = total (stats.py:287-289).      실제 prefill 출력에서만 누적돼 재검사 오염이 없다.</a:t>
            </a:r>
          </a:p>
          <a:p/>
          <a:p>
            <a:r>
              <a:t>결론: 방향(tr≫default)은 견고. 절대값 0.037은 신뢰 불가.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이게 Phase 2의 핵심 질문이었다: 'default는 hit이 0.80→0.03으로 붕괴하고 재프리필을 폭증시키는데, 왜 그러고도 더 빠른가?' — 동어반복 없이 답해야 했다.</a:t>
            </a:r>
          </a:p>
          <a:p/>
          <a:p>
            <a:r>
              <a:t>실측 (c=1 duty 프로파일, prof_duty/step_profiles.csv):</a:t>
            </a:r>
          </a:p>
          <a:p>
            <a:r>
              <a:t>  cold (step 1, 캐시 없음, n=25):  TTFT = 1.696e-4 × ptok − 0.450,  r² = 0.981</a:t>
            </a:r>
          </a:p>
          <a:p>
            <a:r>
              <a:t>     → 프리필은 프롬프트 길이에 선형 = compute-bound. 한계율 5,896 tok/s.</a:t>
            </a:r>
          </a:p>
          <a:p>
            <a:r>
              <a:t>  warm (step&gt;1, prefix 히트, n=62): 평균 0.462 s, r² = 0.047 (평탄)</a:t>
            </a:r>
          </a:p>
          <a:p>
            <a:r>
              <a:t>     → 히트 시 신규 토큰만 계산하므로 길이와 무관. TTFT가 프롬프트 길이와 무상관(r=−0.014)인 게 이 때문.</a:t>
            </a:r>
          </a:p>
          <a:p/>
          <a:p>
            <a:r>
              <a:t>mean 프롬프트 18,684 tok 기준:</a:t>
            </a:r>
          </a:p>
          <a:p>
            <a:r>
              <a:t>  완전 미스 = 1.696e-4 × 18684 − 0.450 = 2.72 s   /   히트 = 0.46 s</a:t>
            </a:r>
          </a:p>
          <a:p>
            <a:r>
              <a:t>  → 캐시 미스 1회의 한계비용 Δ ≈ 2.26 s/turn</a:t>
            </a:r>
          </a:p>
          <a:p/>
          <a:p>
            <a:r>
              <a:t>★ 최초 계산: default 벌금 ≈ 2.3초/step vs tr ≈ 18.5초/step → 8.2배.</a:t>
            </a:r>
          </a:p>
          <a:p>
            <a:r>
              <a:t>★★ 그러나 GPU 마이크로벤치로 정정됨(슬라이드 17): 부하 하 TTFT를 재니 default의 진짜 벌금은 9.5초/step(재프리필 2.3초 + 숨은 vLLM 큐 ~7.2초)이고 tr은 20.8초/step. → 2.2배. H1의 방향(default 벌금 &lt; tr 벌금)은 유지되나 격차는 8.2배가 아니라 2.2배다. 발표 시 2.2배로 말할 것.</a:t>
            </a:r>
          </a:p>
          <a:p/>
          <a:p>
            <a:r>
              <a:t>인과: R&lt;1이면 GPU에 bubble이 있다 → 재프리필 2.26s는 어차피 놀던 시간에 지불되므로 throughput 손해가 거의 없다. 반면 pause 18.5s는 병목도 아닌 GPU 앞에서 실제 일을 막는 순손실이다. 캐시 히트의 가치 = 절약된 prefill 시간 × P(GPU가 병목). R&lt;1이면 P≈0이라 hit=0.03이어도 거의 공짜다.</a:t>
            </a:r>
          </a:p>
          <a:p/>
          <a:p>
            <a:r>
              <a:t>검산: tool_call_s는 tr 5.99 / default 6.08로 동일 → 워크로드 고유값이 양쪽 같음을 재확인.</a:t>
            </a:r>
          </a:p>
          <a:p>
            <a:r>
              <a:t>d 검산: (0.889 + 0.856)/(0.889+0.856+7.164) = 0.196 → expC의 d와 정확히 일치.</a:t>
            </a:r>
          </a:p>
          <a:p/>
          <a:p>
            <a:r>
              <a:t>H3도 지지: default hit이 0.649→0.030으로 21배 붕괴하는데 throughput은 0.092→0.097로 평탄(오히려 소폭 상승).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먼저 전제 정정. 지시서는 '우리 U는 1 − idle(1초 샘플러 + nvidia-smi util)'이라고 했지만, 실제 코드(plot_expC_yunuikang.py:47-62)는 U_meas = mean(b0_reasoning &gt; 0), 즉 프록시가 보고하는 REASONING 프로그램 수 &gt; 0인 1초 틱의 비율이다. nvidia-smi util은 gpu_util 칼럼에 기록만 되고 U 계산에는 안 쓰였다.</a:t>
            </a:r>
          </a:p>
          <a:p/>
          <a:p>
            <a:r>
              <a:t>U가 정확히 무엇을 재는가(확정): 'GPU 점유율'이 아니라 '프록시 관점에서 최소 한 개의 프로그램이 추론 요청을 파견한 상태로 있었던 시간의 비율'이다. SM occupancy도 커널 점유율도 아니며, vLLM 내부 큐 대기 시간까지 '바쁨'으로 포함한다(default C=16 기준 3.32 프로그램이 이 착시). 1초 샘플링이라 1초보다 짧은 bubble은 안 보인다.</a:t>
            </a:r>
          </a:p>
          <a:p/>
          <a:p>
            <a:r>
              <a:t>그럼에도 견고한 이유 — 세 독립 측정을 전부 계산해 비교했다:</a:t>
            </a:r>
          </a:p>
          <a:p>
            <a:r>
              <a:t>  tr C=16:       proxy 0.375 / nrr 0.317 / smi 0.349</a:t>
            </a:r>
          </a:p>
          <a:p>
            <a:r>
              <a:t>  default C=16:  proxy 0.873 / nrr 0.855 / smi 0.861</a:t>
            </a:r>
          </a:p>
          <a:p>
            <a:r>
              <a:t>  cross ts=2.0:  proxy 0.224 / nrr 0.186 / smi 0.214</a:t>
            </a:r>
          </a:p>
          <a:p>
            <a:r>
              <a:t>  상관: smi vs nrr r=0.999, proxy vs nrr r=0.999. 평균 절대차 ≤ 0.06.</a:t>
            </a:r>
          </a:p>
          <a:p/>
          <a:p>
            <a:r>
              <a:t>'batch 1과 batch 32가 똑같이 100%로 보인다'는 우려는 이 데이터에선 발생하지 않았다 — util이 100%에 붙어있지 않기 때문(0.21~0.90 전 구간 분포). 그 우려는 util이 포화했을 때만 문제인데, 우리 R&lt;1 레짐은 정의상 비포화다. → 'U=0.87 vs 0.37' 해석은 흔들리지 않는다. R 모델 유효.</a:t>
            </a:r>
          </a:p>
          <a:p/>
          <a:p>
            <a:r>
              <a:t>다만 용어: U를 'GPU 활용률'이 아니라 'GPU가 일감을 갖고 있던 시간 비율(busy-time fraction)'로 부르는 게 정확하다.</a:t>
            </a:r>
          </a:p>
          <a:p/>
          <a:p>
            <a:r>
              <a:t>[추정] SM occupancy는 여전히 미측정. 그러나 실제 배치가 1.1~1.5로 고정임이 밝혀졌으므로 SM 점유율은 tr·default가 거의 같을 것이고 결론에 영향 없다 → nsys 프로파일은 실익 낮아 생략 권고.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이게 '두 레짐을 하나의 인과 사슬로 설명한다'는 목표의 답이다.</a:t>
            </a:r>
          </a:p>
          <a:p/>
          <a:p>
            <a:r>
              <a:t>곱셈 하나면 된다: 히트의 가치 = 절약 시간 × P(병목). 절약 시간(2.26s/turn)은 워크로드가 같으면 동일하다. 바뀌는 건 P(병목)뿐이고, 그건 R이 결정한다.</a:t>
            </a:r>
          </a:p>
          <a:p>
            <a:r>
              <a:t>  R&lt;1 → P≈0 → 히트는 거의 가치 없음 → 캐시를 버리고 GPU를 채우는 default 승</a:t>
            </a:r>
          </a:p>
          <a:p>
            <a:r>
              <a:t>  R≥1 → P≈1 → 히트가 온전한 가치 → 캐시를 지키는 tr 승</a:t>
            </a:r>
          </a:p>
          <a:p/>
          <a:p>
            <a:r>
              <a:t>TP2 예비 실측(logs/2026-07-16 §P1-1)이 이 예측과 정합: fit≈25를 넘는 C=32에서 default가 붕괴한다 (hit 0.81→0.29, thru 0.133→0.039로 3.4배↓, p95 240→1490s).</a:t>
            </a:r>
          </a:p>
          <a:p/>
          <a:p>
            <a:r>
              <a:t>정정해야 할 우리 서술: '재프리필 FLOP이 다른 프로그램의 decode 슬롯을 직접 훔친다'는 코드상 틀렸다. RUNNING이 먼저 스케줄되고(:432) budget 2048 ≫ max_num_seqs 256이므로 decode 요청은 프리필에 의해 admission에서 밀려나지 않는다. 실제 기전은 (i) 같은 iteration에 2048토큰 청크가 얹혀 iteration이 길어짐, (ii) KV 블록 고갈로 waiting 큐 정체. → '슬롯을 훔친다' 대신 'KV를 고갈시켜 큐를 정체시킨다'로 말할 것.</a:t>
            </a:r>
          </a:p>
          <a:p/>
          <a:p>
            <a:r>
              <a:t>[추정] '양의 되먹임'(재프리필→KV 압박→추가 미스의 자기강화 루프)은 미검증. 직접 보여주는 시계열 증거가 없다.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슬라이드는 '설명 못 하면 정직히 보고하라'는 지시에 대한 답이다.</a:t>
            </a:r>
          </a:p>
          <a:p/>
          <a:p>
            <a:r>
              <a:t>Phase 3은 throughput 식까지 내려가는 것이 목표였다. U는 잘 예측된다(슬라이드 6). 그런데 U에서 throughput으로 가는 마지막 단계에서 모델이 깨진다.</a:t>
            </a:r>
          </a:p>
          <a:p/>
          <a:p>
            <a:r>
              <a:t>계산 상세 (C=16):</a:t>
            </a:r>
          </a:p>
          <a:p>
            <a:r>
              <a:t>  W_tr  = 18684×(1−0.797)/5896 + 0.86 = 0.64 + 0.86 = 1.50 s</a:t>
            </a:r>
          </a:p>
          <a:p>
            <a:r>
              <a:t>  W_def = 18684×(1−0.037)/5896 + 0.86 = 3.05 + 0.86 = 3.91 s</a:t>
            </a:r>
          </a:p>
          <a:p>
            <a:r>
              <a:t>  W_def/W_tr = 2.61,  U_def/U_tr = 0.855/0.317 = 2.70  →  예측 thr 비 1.03</a:t>
            </a:r>
          </a:p>
          <a:p>
            <a:r>
              <a:t>  실측 1.44. 40% 어긋난다.</a:t>
            </a:r>
          </a:p>
          <a:p/>
          <a:p>
            <a:r>
              <a:t>역산하면 W_def/W_tr = 1.875 → W_def = 2.81s → prefill 1.95s → hit_default ≈ 0.38.</a:t>
            </a:r>
          </a:p>
          <a:p/>
          <a:p>
            <a:r>
              <a:t>해석 [추정]: 보고된 hit 0.037이 참값보다 낮게 편향됐다면 모델이 맞아 들어간다. 재검사 오염은 요청당 가중치를 N배(default 30배) 주므로 대기 중 샘플이 집계를 지배한다. 다만 편향의 '방향'을 코드만으로 확정하지는 못했다 — 대기 중 hits가 어떻게 변하는지는 evict 타이밍에 의존한다. 그래서 이건 추정이지 결론이 아니다.</a:t>
            </a:r>
          </a:p>
          <a:p/>
          <a:p>
            <a:r>
              <a:t>현 시점 정직한 결론: R 모델은 U를 잘 예측하지만, U→throughput의 마지막 한 단계는 hit 지표가 오염돼 있어 닫히지 않는다. 억지로 맞추지 않고 열어둔다.</a:t>
            </a:r>
          </a:p>
          <a:p/>
          <a:p>
            <a:r>
              <a:t>빠진 것 지목: (i) 오염 없는 재프리필량, (ii) 부하 하 prefill_s/decode_s, (iii) iteration당 실제 토큰 구성.</a:t>
            </a:r>
          </a:p>
          <a:p/>
          <a:p>
            <a:r>
              <a:t>부수 규명: 스윕 런의 prefill_s/decode_s가 0인 이유를 찾았다 — profile/state.py:42,145의 first_token_time은 on_first_token 콜백으로만 설정되고, 이 콜백은 app.py:114에서 스트리밍 경로에만 연결된다. 스윕 드라이버가 --stream 없이 돌아 TTFT가 측정 안 됐다. 재측정 시 --stream 필수.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전량 원문 대조했다. 결론: 우리가 쓰려던 문장은 거짓이다.</a:t>
            </a:r>
          </a:p>
          <a:p/>
          <a:p>
            <a:r>
              <a:t>결정적 반례 3개 (verbatim 인용):</a:t>
            </a:r>
          </a:p>
          <a:p>
            <a:r>
              <a:t>① InferCept §3.2 Eq(2): "The preserve waste for request i when interception j occurs is the duration of that interception, T_INT, multiplied by the amount of GPU memory held by the request's context." 게다가 §4.4 제목이 통째로 'Interception Duration Estimation'이고, T̂=t_now−t_call 추정으로 oracle 대비 93% 성능.</a:t>
            </a:r>
          </a:p>
          <a:p>
            <a:r>
              <a:t>② Continuum §4.1: "we estimate P(τ,f) using the empirical CDF derived from historical tool-call records."</a:t>
            </a:r>
          </a:p>
          <a:p>
            <a:r>
              <a:t>③ ThunderAgent 자신 p.7 Eq(7): C_total &lt; Σ c_p + Σ c_q × f(t_q), "t_q is the tool execution time." 더 나아가 Appendix E.2(p.24)가 tool time 0 / infinite 극한을 이미 논한다 = 사실상 d→1, d→0 레짐.</a:t>
            </a:r>
          </a:p>
          <a:p/>
          <a:p>
            <a:r>
              <a:t>리뷰어가 InferCept Eq(2) 하나만 들어도 무너진다.</a:t>
            </a:r>
          </a:p>
          <a:p/>
          <a:p>
            <a:r>
              <a:t>★ 우리 문서의 사실 오류 1건 발견: MECHANISM_REFERENCE §1-1 표가 Cost_unused를 'tool 실행 중 놀고 있는 KV 점유'로 적었는데, 논문 p.6은 "Cost_unused reflects memory imbalance across data parallel (DP) replicas"이고 tool 시간에 과금하는 항은 Cost_caching이다. 수정 필요 — 리뷰어가 즉시 잡을 종류.</a:t>
            </a:r>
          </a:p>
          <a:p/>
          <a:p>
            <a:r>
              <a:t>fallback('duty를 스케줄링에 쓰는 연구는 있으나 활용률의 예측 변수로 쓰지 않는다')은 방어 가능하나 두 곳을 조여야 한다:</a:t>
            </a:r>
          </a:p>
          <a:p>
            <a:r>
              <a:t>  (1) '스케줄링에 쓴다'가 너무 약하다. 선행은 per-call 절대 지속시간(초), 우리는 워크로드 수준 무차원 비율. 이 축을 명시.</a:t>
            </a:r>
          </a:p>
          <a:p>
            <a:r>
              <a:t>  (2) ThunderAgent Appendix D(p.23)는 실제로 레짐 언어를 쓴다('adapts to these regimes'). 다만 그 레짐은       tool 시간의 variability 축이지 duty 비율 축이 아니다. 선제적으로 구분하지 않으면 잡힌다.</a:t>
            </a:r>
          </a:p>
          <a:p/>
          <a:p>
            <a:r>
              <a:t>부재 검증(실측): Continuum 전문에 'idle'/'duty cycle'/'GPU utilization'/'regime' 각 0회. ThunderAgent에 'duty' 0회, 'GPU utilization' 1회(p.11, 정성적). 어떤 논문도 U≈min(R,1) 류 활용률 예측 모델 없음.</a:t>
            </a:r>
          </a:p>
          <a:p/>
          <a:p>
            <a:r>
              <a:t>✅ 34p 갱신본 검증 완료(2026-07-17 수령). 전수 스캔: duty 0회, fraction/occupancy/dimensionless/predictor 각 0회, utilization 6회(6/6 정성적), regime 2회(2/2 정성적). → 우리 기여 주장은 34p에서도 유지된다.</a:t>
            </a:r>
          </a:p>
          <a:p>
            <a:r>
              <a:t>오히려 유리한 인용 발견(p.11): 'determining the optimal parallel workflow number to maximize utilization ... is infeasible due to the stochastic nature of agent environments and tool execution durations' — 저자들이 활용률 모델링을 '불가능'으로 규정하고 우회했다. 우리가 R로 그걸 예측한다는 게 정확히 빈틈이다.</a:t>
            </a:r>
          </a:p>
          <a:p>
            <a:r>
              <a:t>가장 근접한 반례: 신설 §G.2(p.32, Fig 15) — tool 지연 예측가능성 축의 어블레이션. duty 비율 축이 아니라 무해하나, '아무도 duty 레짐을 생각조차 안 했다'류 강한 표현은 철회할 것.</a:t>
            </a:r>
          </a:p>
          <a:p/>
          <a:p>
            <a:r>
              <a:t>⚠️ Continuum 인용 주의: ThunderAgent p.22는 Continuum을 'static, threshold-based rule'이라 하지만 원문 §4.1 Eq(1)은 cost-benefit 최적화다. 우리는 원문을 근거로 삼아야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이건 찾으려던 게 아닌데 나왔다. 그리고 진행 중인 TP2 실험에 직접 영향이 있다.</a:t>
            </a:r>
          </a:p>
          <a:p/>
          <a:p>
            <a:r>
              <a:t>arg_utils.py:2404: if device_memory &gt;= 70*GiB_bytes and 'a100' not in device_name → 큰 기본값.</a:t>
            </a:r>
          </a:p>
          <a:p>
            <a:r>
              <a:t>  4090 24GB → else 분기 → OPENAI_API_SERVER: batched_tokens 2048, seqs 256</a:t>
            </a:r>
          </a:p>
          <a:p>
            <a:r>
              <a:t>  Pro6000 96GB → if 분기 → OPENAI_API_SERVER: batched_tokens 8192, seqs 1024</a:t>
            </a:r>
          </a:p>
          <a:p>
            <a:r>
              <a:t>(TP2라도 device_memory는 카드당 96GB로 판정된다.)</a:t>
            </a:r>
          </a:p>
          <a:p/>
          <a:p>
            <a:r>
              <a:t>왜 문제인가: plans/2026-07-15의 '한 번에 한 변수만' 원칙이 의도치 않게 깨져 있다. TraceLab k_fit-flip(4090 R&lt;1 → Pro6000 R≥1)이 관측될 때, 그게 KV 풀 확대 때문인지 배치 예산 확대 때문인지 분리할 수 없다.</a:t>
            </a:r>
          </a:p>
          <a:p/>
          <a:p>
            <a:r>
              <a:t>특히 이번 분석에서 max_num_batched_tokens=2048이 '프리필 1건이 예산을 10 iteration 독점' → '배치가 1.1~1.5에 묶임'의 직접 원인임이 드러났으므로, 이 값이 4배가 되면 배치 거동 자체가 달라질 수 있다. 즉 교란이 사소하지 않다.</a:t>
            </a:r>
          </a:p>
          <a:p/>
          <a:p>
            <a:r>
              <a:t>권고: 대조군 1점이면 분리된다 — TP2에서 --max-num-batched-tokens 2048 --max-num-seqs 256으로 고정한 런 하나. 그 점이 4090과 같은 배치 거동을 보이면서도 flip이 일어나면, 원인은 C_total이다.</a:t>
            </a:r>
          </a:p>
          <a:p/>
          <a:p>
            <a:r>
              <a:t>단 이건 nutella1 소관이라 이 보고서에서는 제안만 한다. 현재 tp2sweep이 돌고 있으므로 지금 손대지 말고 스윕 완료 후 추가 1점으로 붙이는 게 안전하다.</a:t>
            </a:r>
          </a:p>
          <a:p/>
          <a:p>
            <a:r>
              <a:t>✅ 2048/8192는 2026-07-17에 실측 확정(실제 4090에서 get_batch_defaults 실행). 교란은 실재한다.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게이트를 지켜 승인을 요청한다.</a:t>
            </a:r>
          </a:p>
          <a:p/>
          <a:p>
            <a:r>
              <a:t>GPU 상태 확인 결과(작업 시작 시): mango1 4×RTX4090 전부 0% / 1MiB / 프로세스 없음. tmux 세션은 'analysis'(7/6 생성, 유휴)와 'claude'뿐. tp2sweep/tp2serve/tp2proxy는 nutella1에서 도는 것이라 여기 GPU를 써도 TP2 스윕에 영향이 없다. 그럼에도 지시대로 승인 전에는 잡지 않았다.</a:t>
            </a:r>
          </a:p>
          <a:p/>
          <a:p>
            <a:r>
              <a:t>제안 1이 핵심이다. 이유: 슬라이드 8에서 hit 지표가 오염됐음이 확정됐고, 슬라이드 12에서 그 오염 때문에 U→throughput 모델이 안 닫힌다. vllm:prompt_tokens_by_source{source='local_compute'}는 실제 prefill 출력에서만 누적되므로 재검사 오염이 없다 = 참 재프리필량. 이거 하나면 (a) 참 hit, (b) §3-3 모델 성립 여부, (c) 오염의 편향 방향이 전부 결정된다.</a:t>
            </a:r>
          </a:p>
          <a:p/>
          <a:p>
            <a:r>
              <a:t>1·2·3은 같은 런에서 한 번에 얻는다. C=16 tr/default 각 1런, NPROG=32로 축소하면 약 40분.</a:t>
            </a:r>
          </a:p>
          <a:p/>
          <a:p>
            <a:r>
              <a:t>4·5는 생략 권고: decode batch 커브는 실제 배치가 1.1~1.5로 고정임이 확정돼 평탄 구간 여부가 결과를 못 바꾼다. SM occupancy는 3종 삼각측량(r=0.999)으로 이미 방어됐고, 배치가 같으니 tr/default 차이가 없을 것 [추정].</a:t>
            </a:r>
          </a:p>
          <a:p/>
          <a:p>
            <a:r>
              <a:t>별도(nutella1 소관): TP2에 batched_tokens 2048 대조군 1점(슬라이드 14).</a:t>
            </a:r>
          </a:p>
          <a:p/>
          <a:p>
            <a:r>
              <a:t>그리고 GPU와 무관하게 지금 할 것: 34p 논문 갱신본 확인(nutella1) — Phase 5 결론의 최대 구멍.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GPU 승인 후 실행. 조건: expC와 동일(GPU2/3, KV 43,888 확인), C=16, NPROG=32, --stream, router assertion 통과, 두 런 모두 rc=0 정상 완주.</a:t>
            </a:r>
          </a:p>
          <a:p/>
          <a:p>
            <a:r>
              <a:t>offered load 동일성 검증: prompt_tokens_total = 2,439,542(default) / 2,439,544(tr) → 결정적 replay 확인.</a:t>
            </a:r>
          </a:p>
          <a:p>
            <a:r>
              <a:t>불변식 compute + cached == total : 양쪽 모두 True → §1-2의 코드 독해가 실측으로 확증.</a:t>
            </a:r>
          </a:p>
          <a:p>
            <a:r>
              <a:t>preemptions = 0 (양쪽) → §1-3의 코드 분석과 정합.</a:t>
            </a:r>
          </a:p>
          <a:p/>
          <a:p>
            <a:r>
              <a:t>실측:</a:t>
            </a:r>
          </a:p>
          <a:p>
            <a:r>
              <a:t>  tr      : 참 hit 0.6983 / 보고 hit 0.6983 / 배수 1.00x / 팽창 1.0x / 참 재프리필 735,928 tok</a:t>
            </a:r>
          </a:p>
          <a:p>
            <a:r>
              <a:t>  default : 참 hit 0.1844 / 보고 hit 0.0383 / 배수 4.81x / 팽창 26.3x / 참 재프리필 1,989,606 tok</a:t>
            </a:r>
          </a:p>
          <a:p/>
          <a:p>
            <a:r>
              <a:t>★ 왜 비대칭인가 — 이게 핵심이다. tr은 프록시에서 미리 막아 요청이 vLLM waiting 큐에 아예 안 쌓인다 → 재검사 0회 → 팽창 1.0x → 참값 == 보고값(소수 4자리까지). default는 vLLM 큐에 쌓여 26.3회씩 재검사된다. 즉 '지표가 오염되는 것'과 '내부 큐에서 줄 서는 것'이 같은 현상이다. 이것이 네 번째 독립 증거다 (앞선 셋: REASONING-nrr 갭, queries 팽창, TTFT 인플레).</a:t>
            </a:r>
          </a:p>
          <a:p/>
          <a:p>
            <a:r>
              <a:t>검증: 보고 hit 0.0383이 expC C=16의 0.037과 일치 → 이 런이 expC를 재현함을 확인.</a:t>
            </a:r>
          </a:p>
          <a:p/>
          <a:p>
            <a:r>
              <a:t>→ 'default는 프롬프트의 96%를 재프리필한다'는 틀렸다. 실제 81.6%다. 여전히 나쁘지만 수치가 다르다. tr에 대해 우리가 써온 hit 수치는 수정할 필요가 없다.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Phase 3에서 '설명 못 하면 정직히 보고하라'는 지시에 따라 '안 닫힌다'고 열어뒀던 고리다. 그게 닫혔다.</a:t>
            </a:r>
          </a:p>
          <a:p/>
          <a:p>
            <a:r>
              <a:t>계산 (C=16):</a:t>
            </a:r>
          </a:p>
          <a:p>
            <a:r>
              <a:t>  W_tr  = 18684 x (1-0.6983) / 5896 + 0.856 = 0.956 + 0.856 = 1.812 s</a:t>
            </a:r>
          </a:p>
          <a:p>
            <a:r>
              <a:t>  W_def = 18684 x (1-0.1844) / 5896 + 0.856 = 2.585 + 0.856 = 3.441 s</a:t>
            </a:r>
          </a:p>
          <a:p>
            <a:r>
              <a:t>  U_def/U_tr = 0.855/0.317 = 2.697</a:t>
            </a:r>
          </a:p>
          <a:p>
            <a:r>
              <a:t>  예측 thr 비 = 2.697 / 1.899 = 1.421   vs   실측 0.098/0.068 = 1.441   → 오차 1.4%</a:t>
            </a:r>
          </a:p>
          <a:p/>
          <a:p>
            <a:r>
              <a:t>오염된 hit로 하면 1.035 (오차 28.2%). 즉 모델이 틀렸던 게 아니라 입력이 오염됐던 것이다.</a:t>
            </a:r>
          </a:p>
          <a:p/>
          <a:p>
            <a:r>
              <a:t>이전에 내가 역산했던 hit_default ~ 0.38은 방향은 맞았으나 값이 틀렸다(참값 0.1844). 역산이 W_tr에 오염된 tr hit(0.797)을 썼기 때문. 참 tr hit(0.6983)을 쓰면 필요한 hit_default = 0.197 → 실측 0.1844와 7% 이내 일치.</a:t>
            </a:r>
          </a:p>
          <a:p/>
          <a:p>
            <a:r>
              <a:t>한계(정직): U 값은 expC(NPROG=64) 런에서, 참 hit는 이번(NPROG=32) 런에서 왔다. 런 혼합이다. 보고 hit이 0.0383 ~ 0.037로 일치해 비교 가능성은 확보했지만, 동일 런에서 U와 참 hit를 함께 재는 확인이 남았다. 이건 다음 실험에서 쉽게 채울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제안 2의 결과. §6-1의 진단대로 --stream을 넣자 prefill_s가 126/126 전부 기록됐다(기존 스윕은 전부 0). 원인: profile/state.py:42,145의 first_token_time은 on_first_token 콜백으로만 설정되고, 그 콜백은 app.py:114에서 스트리밍 경로에만 연결된다(vllm_request_processor.py:158,174-177).</a:t>
            </a:r>
          </a:p>
          <a:p/>
          <a:p>
            <a:r>
              <a:t>부하 하 step 분해 (mean s, n=126):</a:t>
            </a:r>
          </a:p>
          <a:p>
            <a:r>
              <a:t>  tr      : pause 20.83 | prefill 1.29 | decode 1.08 | tool 7.55  -&gt;  합 30.76s</a:t>
            </a:r>
          </a:p>
          <a:p>
            <a:r>
              <a:t>  default : pause  0.00 | prefill 10.79 | decode 2.12 | tool 7.65  -&gt;  합 20.56s</a:t>
            </a:r>
          </a:p>
          <a:p/>
          <a:p>
            <a:r>
              <a:t>★ H1 수치 정정: 처음엔 'default 2.3초 vs tr 18.5초 = 8.2배'라고 했다. 그건 재프리필 '계산분'만 센 것이다. 부하 하 TTFT를 실제로 재니 default는 10.79초인데 tr은 1.29초 → 차이 ~9.5초가 숨은 vLLM 큐 대기다. 정정: default 벌금 ~9.5초/step, tr 벌금 ~20.8초/step → 2.2배. H1의 방향(default 벌금 &lt; tr 벌금 → default 승)은 유지되나 격차는 훨씬 작다. 발표 시 2.2배로 말할 것.</a:t>
            </a:r>
          </a:p>
          <a:p/>
          <a:p>
            <a:r>
              <a:t>그리고 tr의 step 합(30.76s) &gt; default(20.56s) → tr throughput 열세와 정합하게 맞아떨어진다.</a:t>
            </a:r>
          </a:p>
          <a:p/>
          <a:p>
            <a:r>
              <a:t>이것이 '어디서 줄 서는가'(슬라이드 7)의 세 번째 독립 증거다.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expC 원본 데이터(n=4,301) 재분석. 이 발견은 마이크로벤치와 무관하게 유효하다.</a:t>
            </a:r>
          </a:p>
          <a:p/>
          <a:p>
            <a:r>
              <a:t>expC tr pause_s 분포:</a:t>
            </a:r>
          </a:p>
          <a:p>
            <a:r>
              <a:t>  p50 = 0.00s | p75 = 0.01s | p90 = 11.14s | p95 = 65.29s | p99 = 521.85s | max = 841.13s | mean = 18.47s</a:t>
            </a:r>
          </a:p>
          <a:p>
            <a:r>
              <a:t>  pause&gt;1s: 18.2% | &gt;30s: 7.0% | &gt;300s: 2.4% | &gt;600s: 0.8%</a:t>
            </a:r>
          </a:p>
          <a:p/>
          <a:p>
            <a:r>
              <a:t>즉 tr 스텝의 82%는 pause가 사실상 0이다. 평균 18.47초는 소수(2.4%)의 5~14분짜리 대기가 만든 값이다.</a:t>
            </a:r>
          </a:p>
          <a:p/>
          <a:p>
            <a:r>
              <a:t>이건 tr의 의도된 설계의 직접 관측이다 — 캐시를 지키려 특정 프로그램을 오래 재운다. 그리고 이것이 tr의 p95 latency 열세의 진짜 정체다.</a:t>
            </a:r>
          </a:p>
          <a:p/>
          <a:p>
            <a:r>
              <a:t>→ 발표/논문에서 '평균 pause 18.5초' 대신 분위수로 서술할 것: 'tr은 대부분의 step에서 전혀 pause하지 않지만, 2.4%의 step에서 5분 이상 굶긴다.'</a:t>
            </a:r>
          </a:p>
          <a:p/>
          <a:p>
            <a:r>
              <a:t>참고: default는 pause mean 0.00s, max 0.01s — 프록시 큐를 아예 안 쓴다(대신 vLLM 큐를 쓴다).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슬라이드를 넣는 이유: '가설이 반증되면 반증됐다고 그대로 써라'는 원칙 때문이고, 또 이런 종류의 실수가 어떻게 논문에 들어가는지 보여주기 때문이다.</a:t>
            </a:r>
          </a:p>
          <a:p/>
          <a:p>
            <a:r>
              <a:t>위험했던 점: 데드락이 2회 재현됐고(--stream 유/무), 서명이 거의 동일했고(paused 18/acting 5/nrr 0), 프록시 로그에 active=40,671 vs C_total=43,888 이라는 그럴듯한 '증거'까지 있었다. 논문에 'tr은 고부하에서 데드락한다'고 쓸 뻔했다. 전부 내 설정 오류였다.</a:t>
            </a:r>
          </a:p>
          <a:p/>
          <a:p>
            <a:r>
              <a:t>무효 데이터는 scratch/vprof/INVALID_missing_router_url/ 로 격리했고, figures/vllm_deadlock_timeline.png 는 폐기 대상이다(발표에 쓰지 말 것).</a:t>
            </a:r>
          </a:p>
          <a:p/>
          <a:p>
            <a:r>
              <a:t>잡아낸 방법: expC와 '동일 조건'이라 믿었는데 왜 결과가 다른지를 추측으로 메우지 않고 expC 스윕 스크립트의 CLI 인자를 한 줄씩 대조했다. --router-url 하나가 달랐다.</a:t>
            </a:r>
          </a:p>
          <a:p/>
          <a:p>
            <a:r>
              <a:t>교훈(다음 하네스에 적용): 기존 스윕과 '같은 조건'이라고 말하려면 CLI 인자를 전수 대조할 것. 그리고 '새 발견'이 기존 데이터와 모순되면 새 발견을 먼저 의심할 것 — 실제로 expC에는 시스템 정지가 최대 26~47초뿐이었고 60초 넘는 구간이 0개였다. 그 모순이 단서였다.</a:t>
            </a:r>
          </a:p>
          <a:p/>
          <a:p>
            <a:r>
              <a:t>살아남는 것: pause heavy tail(슬라이드 19)은 expC 원본 데이터 기반이라 이 버그와 무관하게 유효하다.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이게 오늘 발견 중 미팅에 가장 위험한 것이다. 34p본을 받고 대조하자마자 나왔다.</a:t>
            </a:r>
          </a:p>
          <a:p/>
          <a:p>
            <a:r>
              <a:t>logs/2026-07-02_PAPER_COMPARISON_yunuikang.md §0-1은 '지시서에서 언급한 인용 위치가 이 PDF와 불일치한다'며 교수님의 참조 5개를 전부 정정했다. 그런데 그 근거가 28p 구본이었고, 교수님은 34p 갱신본을 보고 계셨다. 28p에는 'A100' 0회, 'compute-to-bandwidth' 0회, '§A.5' 0회 — 그래서 우리가 '없다'고 판단한 것이다. 34p에는 전부 있다. 실측으로 직접 확인했다(pypdf 추출, 해당 페이지 재추출로 이중 확인).</a:t>
            </a:r>
          </a:p>
          <a:p/>
          <a:p>
            <a:r>
              <a:t>→ §0-1은 폐기해야 한다. 이미 PAPER_COMPARISON 문서 최상단에 정정 공지 배너를 달아뒀다.</a:t>
            </a:r>
          </a:p>
          <a:p/>
          <a:p>
            <a:r>
              <a:t>hetero gap에 미치는 영향(정직하게):</a:t>
            </a:r>
          </a:p>
          <a:p>
            <a:r>
              <a:t>  약화: '논문은 GPU 세대를 바꿔 비교한 실험이 없다' → 더 이상 못 씀(§A.5가 정확히 그것). 'compute-to-bandwidth 비율' 논거도 이제 논문 Table 3에 있으니 우리 독창성이 아니다.</a:t>
            </a:r>
          </a:p>
          <a:p>
            <a:r>
              <a:t>  살아남음: §A.5도 8xA100 단독 / 8xH100 단독이다. 한 클러스터에 서로 다른 GPU를 섞은 실험은 여전히 없고, node-agnostic recompute 가정(§4.3.2)도 그대로다. → 우리 gap을 '다른 하드웨어'가 아니라 '한 클러스터 안의 이종 혼합'으로 좁혀서 서술해야 한다.</a:t>
            </a:r>
          </a:p>
          <a:p/>
          <a:p>
            <a:r>
              <a:t>부수: Appendix E와 F가 34p에서 서로 뒤바뀌었다(E=E2E latency, F=이론분석). 우리가 쓰던 'Appendix E.2'는 34p에서 死링크다 → 'Appendix F.2 / Hypothesis F.2, p.30'으로 교체. tool buckets는 Table 5 → Table 6 (p.27). Figure 9→12, 10→13. 참고문헌 번호 전부 +1 시프트. 전체 정정표는 보고서 §5-0b에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최종 정리. 모르는 것을 마지막 문단에 명시적으로 남겼다 — 이게 이번 작업에서 제일 중요한 부분이라고 본다.</a:t>
            </a:r>
          </a:p>
          <a:p/>
          <a:p>
            <a:r>
              <a:t>요약하면: R 모델은 살아남았고 물리적 근거를 얻었다. tr이 R&lt;1에서 지고 R≥1에서 이긴다는 결론도 그대로다. 바뀐 것은 (1) '왜'에 대한 설명이 정확해졌고(시간축 vs 배치, 어디서 줄 서는가), (2) hit rate 절대값의 신뢰도가 떨어졌고, (3) 'duty를 아무도 안 본다'는 주장을 버려야 한다는 것이다.</a:t>
            </a:r>
          </a:p>
          <a:p/>
          <a:p>
            <a:r>
              <a:t>다음 단계: GPU 1장 40분(제안 1~3) + 34p 논문 확인 + 우리 문서 2건 수정(MECHANISM_REFERENCE §1-1의 Cost_unused↔Cost_caching, DEEP_ANALYSIS §B-1의 granularity→재검사 중복 계수).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03120"/>
            <a:ext cx="1054577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200" b="1">
                <a:solidFill>
                  <a:srgbClr val="1F3553"/>
                </a:solidFill>
              </a:rPr>
              <a:t>vLLM은 실제로 어떻게 동작하는가</a:t>
            </a:r>
          </a:p>
          <a:p>
            <a:r>
              <a:rPr sz="2000">
                <a:solidFill>
                  <a:srgbClr val="7F8C8D"/>
                </a:solidFill>
              </a:rPr>
              <a:t>우리가 머릿속에 그린 GPU 그림 vs 코드·프로파일이 말하는 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023360"/>
            <a:ext cx="1054577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400" b="0">
                <a:solidFill>
                  <a:srgbClr val="7F8C8D"/>
                </a:solidFill>
              </a:rPr>
              <a:t>강윤의 · 2026-07-17 · 브랜치 yunuikang/thunderagent</a:t>
            </a:r>
          </a:p>
          <a:p>
            <a:r>
              <a:rPr sz="1400" b="0">
                <a:solidFill>
                  <a:srgbClr val="7F8C8D"/>
                </a:solidFill>
              </a:rPr>
              <a:t>근거: vLLM 0.24.0 실소스 정독 + expC 재분석 + 마이크로벤치(GPU 승인 후 실행)</a:t>
            </a:r>
          </a:p>
          <a:p>
            <a:r>
              <a:rPr sz="1400" b="1">
                <a:solidFill>
                  <a:srgbClr val="1E8A5A"/>
                </a:solidFill>
              </a:rPr>
              <a:t>router.py 미수정 · 모든 수치는 실측 · 철회한 주장은 철회로 표기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274320"/>
            <a:ext cx="1124071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F3553"/>
                </a:solidFill>
              </a:rPr>
              <a:t>결론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59536"/>
            <a:ext cx="11185855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7F8C8D"/>
                </a:solidFill>
              </a:rPr>
              <a:t>R 모델은 살아남았고, 식이 닫혔다. 그러나 우리가 그린 그림 두 개는 틀렸다.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881360" cy="3310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450" b="1">
                <a:solidFill>
                  <a:srgbClr val="1F3553"/>
                </a:solidFill>
              </a:rPr>
              <a:t>1.  R = k_fit·d 는 물리량이었다 — 'vLLM에서 동시 실행 중인 요청 수의 기댓값'.  실측 mean nrr과 일치 (1.20 vs 1.24)</a:t>
            </a:r>
          </a:p>
          <a:p>
            <a:pPr>
              <a:spcAft>
                <a:spcPts val="1100"/>
              </a:spcAft>
            </a:pPr>
            <a:r>
              <a:rPr sz="1450" b="1">
                <a:solidFill>
                  <a:srgbClr val="C0392B"/>
                </a:solidFill>
              </a:rPr>
              <a:t>2.  틀린 그림 ①  'default는 배치를 크게 가져간다' → 거짓.  실제 배치는 tr·default 모두 1.1~1.5 고정.</a:t>
            </a:r>
          </a:p>
          <a:p>
            <a:pPr>
              <a:spcAft>
                <a:spcPts val="1100"/>
              </a:spcAft>
            </a:pPr>
            <a:r>
              <a:rPr sz="1450" b="1">
                <a:solidFill>
                  <a:srgbClr val="C0392B"/>
                </a:solidFill>
              </a:rPr>
              <a:t>     틀린 그림 ②  'default는 pause가 0' → 착시.  default도 줄을 선다 — vLLM 내부에서 (TTFT 10.8s 중 ~9.5s).</a:t>
            </a:r>
          </a:p>
          <a:p>
            <a:pPr>
              <a:spcAft>
                <a:spcPts val="1100"/>
              </a:spcAft>
            </a:pPr>
            <a:r>
              <a:rPr sz="1450" b="1">
                <a:solidFill>
                  <a:srgbClr val="C0392B"/>
                </a:solidFill>
              </a:rPr>
              <a:t>3.  hit 지표 오염은 비대칭이었다 (실측):   default 26.3x 팽창 → 참값 4.8배 과소평가 (0.184 vs 0.038)</a:t>
            </a:r>
          </a:p>
          <a:p>
            <a:pPr>
              <a:spcAft>
                <a:spcPts val="1100"/>
              </a:spcAft>
            </a:pPr>
            <a:r>
              <a:rPr sz="1450" b="0">
                <a:solidFill>
                  <a:srgbClr val="7F8C8D"/>
                </a:solidFill>
              </a:rPr>
              <a:t>                                          tr 1.0x 팽창 → 애초에 정확 (0.698 = 0.698)</a:t>
            </a:r>
          </a:p>
          <a:p>
            <a:pPr>
              <a:spcAft>
                <a:spcPts val="1100"/>
              </a:spcAft>
            </a:pPr>
            <a:r>
              <a:rPr sz="1450" b="1">
                <a:solidFill>
                  <a:srgbClr val="1E8A5A"/>
                </a:solidFill>
              </a:rPr>
              <a:t>4.  ★ 그래서 throughput 식이 닫혔다.  참 hit 대입 →  예측 오차 28.2% → 1.4%</a:t>
            </a:r>
          </a:p>
          <a:p>
            <a:pPr>
              <a:spcAft>
                <a:spcPts val="1100"/>
              </a:spcAft>
            </a:pPr>
            <a:r>
              <a:rPr sz="1450" b="1">
                <a:solidFill>
                  <a:srgbClr val="7F8C8D"/>
                </a:solidFill>
              </a:rPr>
              <a:t>5.  정직:  '2.3초 vs 18.5초, 8.2배'는 정정 →  9.5초 vs 20.8초, 2.2배.   'tr 데드락' 발견은 내 하네스 버그로 철회.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274320"/>
            <a:ext cx="1124071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F3553"/>
                </a:solidFill>
              </a:rPr>
              <a:t>한 iteration의 진실 — prefill/decode 단계 구분이 없다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59536"/>
            <a:ext cx="11185855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7F8C8D"/>
                </a:solidFill>
              </a:rPr>
              <a:t>scheduler.py:390-399  "There's no decoding phase nor prefill phase in the scheduler."</a:t>
            </a:r>
          </a:p>
        </p:txBody>
      </p:sp>
      <p:pic>
        <p:nvPicPr>
          <p:cNvPr id="4" name="Picture 3" descr="vllm_iteration_anatom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71600"/>
            <a:ext cx="11185855" cy="487125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274320"/>
            <a:ext cx="1124071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F3553"/>
                </a:solidFill>
              </a:rPr>
              <a:t>★ GPU는 '배치'가 아니라 '시간축'으로 채워진다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59536"/>
            <a:ext cx="11185855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7F8C8D"/>
                </a:solidFill>
              </a:rPr>
              <a:t>실제 타임라인 — 빨강(실제 GPU 배치)은 낮고 평평, 파랑(파견됨)만 높다</a:t>
            </a:r>
          </a:p>
        </p:txBody>
      </p:sp>
      <p:pic>
        <p:nvPicPr>
          <p:cNvPr id="4" name="Picture 3" descr="vllm_timeline_tr_vs_defa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935" y="1371600"/>
            <a:ext cx="10029825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274320"/>
            <a:ext cx="1124071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C0392B"/>
                </a:solidFill>
              </a:rPr>
              <a:t>H2(배치 무료점심) — 반증됨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59536"/>
            <a:ext cx="11185855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7F8C8D"/>
                </a:solidFill>
              </a:rPr>
              <a:t>k_fit이 6~10이어도 실제 GPU 배치는 1.1~1.5를 벗어나지 않는다</a:t>
            </a:r>
          </a:p>
        </p:txBody>
      </p:sp>
      <p:pic>
        <p:nvPicPr>
          <p:cNvPr id="4" name="Picture 3" descr="vllm_batch_refutes_H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81328"/>
            <a:ext cx="11185855" cy="429655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274320"/>
            <a:ext cx="1124071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F3553"/>
                </a:solidFill>
              </a:rPr>
              <a:t>R의 물리적 의미가 확정됐다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59536"/>
            <a:ext cx="11185855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7F8C8D"/>
                </a:solidFill>
              </a:rPr>
              <a:t>R = k_fit·d = 동시에 GPU 일을 원하는 요청 수의 기댓값 ≈ mean num_requests_running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188720" y="1600200"/>
          <a:ext cx="768096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828800"/>
                <a:gridCol w="1828800"/>
                <a:gridCol w="192024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3553"/>
                          </a:solidFill>
                        </a:rPr>
                        <a:t>run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3553"/>
                          </a:solidFill>
                        </a:rPr>
                        <a:t>R = k_fit·d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3553"/>
                          </a:solidFill>
                        </a:rPr>
                        <a:t>실측 mean_nrr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3553"/>
                          </a:solidFill>
                        </a:rPr>
                        <a:t>오차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default C=4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0.36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0.36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0.00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default C=8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0.67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0.92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+0.25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default C=16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1.20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1.24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+0.04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tr C=16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0.31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0.38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+0.07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</a:rPr>
                        <a:t>default C=32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</a:rPr>
                        <a:t>2.06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</a:rPr>
                        <a:t>1.29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</a:rPr>
                        <a:t>−0.77  ← 포화(배치 1.44 상한)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343400"/>
            <a:ext cx="10881360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500" b="1">
                <a:solidFill>
                  <a:srgbClr val="1F3553"/>
                </a:solidFill>
              </a:rPr>
              <a:t>U = P(nrr ≥ 1).   R&lt;1이면 점유가 대부분 0/1 →  P(N≥1) ≈ E[N] = R  →  U ≈ R 은 근사 항등식</a:t>
            </a:r>
          </a:p>
          <a:p>
            <a:pPr>
              <a:spcAft>
                <a:spcPts val="1100"/>
              </a:spcAft>
            </a:pPr>
            <a:r>
              <a:rPr sz="1500" b="0">
                <a:solidFill>
                  <a:srgbClr val="7F8C8D"/>
                </a:solidFill>
              </a:rPr>
              <a:t>R≥1에서 nrr이 1.44에 묶이는 것이 '실측 U가 예측 U를 하회'(expC §5 한계)의 정확한 물리적 원인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274320"/>
            <a:ext cx="1124071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C0392B"/>
                </a:solidFill>
              </a:rPr>
              <a:t>tr과 default는 '줄을 서느냐'가 아니라 '어디서 서느냐'가 다르다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59536"/>
            <a:ext cx="11185855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7F8C8D"/>
                </a:solidFill>
              </a:rPr>
              <a:t>default의 pause_s=0.00은 줄을 안 선다는 뜻이 아니다 — profiler가 못 볼 뿐</a:t>
            </a:r>
          </a:p>
        </p:txBody>
      </p:sp>
      <p:pic>
        <p:nvPicPr>
          <p:cNvPr id="4" name="Picture 3" descr="vllm_where_que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7320"/>
            <a:ext cx="11185855" cy="435005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274320"/>
            <a:ext cx="1124071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C0392B"/>
                </a:solidFill>
              </a:rPr>
              <a:t>우리 hit rate 지표는 오염돼 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59536"/>
            <a:ext cx="11185855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7F8C8D"/>
                </a:solidFill>
              </a:rPr>
              <a:t>vLLM은 승인 실패한 대기 요청을 매 step 재계수한다 → default C=32에서 30배 팽창</a:t>
            </a:r>
          </a:p>
        </p:txBody>
      </p:sp>
      <p:pic>
        <p:nvPicPr>
          <p:cNvPr id="4" name="Picture 3" descr="vllm_queries_inf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63040"/>
            <a:ext cx="11185855" cy="393850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274320"/>
            <a:ext cx="1124071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E8A5A"/>
                </a:solidFill>
              </a:rPr>
              <a:t>H1 — 답: default의 벌금이 실제로 싸다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59536"/>
            <a:ext cx="11185855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7F8C8D"/>
                </a:solidFill>
              </a:rPr>
              <a:t>캐시 미스 1회의 한계비용을 c=1 프로파일에서 실측했다</a:t>
            </a:r>
          </a:p>
        </p:txBody>
      </p:sp>
      <p:pic>
        <p:nvPicPr>
          <p:cNvPr id="4" name="Picture 3" descr="vllm_prefill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8878" y="1371600"/>
            <a:ext cx="6013938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274320"/>
            <a:ext cx="1124071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F3553"/>
                </a:solidFill>
              </a:rPr>
              <a:t>U 측정은 견고하다 — 단, 지시서의 전제는 틀렸다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59536"/>
            <a:ext cx="11185855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7F8C8D"/>
                </a:solidFill>
              </a:rPr>
              <a:t>U는 nvidia-smi가 아니었다. 그럼에도 3종 독립 측정이 일치한다 (r = 0.999)</a:t>
            </a:r>
          </a:p>
        </p:txBody>
      </p:sp>
      <p:pic>
        <p:nvPicPr>
          <p:cNvPr id="4" name="Picture 3" descr="vllm_U_triangu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63040"/>
            <a:ext cx="11185855" cy="38124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274320"/>
            <a:ext cx="1124071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F3553"/>
                </a:solidFill>
              </a:rPr>
              <a:t>하나의 곱셈이 두 레짐을 모두 설명한다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59536"/>
            <a:ext cx="11185855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7F8C8D"/>
                </a:solidFill>
              </a:rPr>
              <a:t>캐시 히트의 가치 = 절약된 prefill 시간 × P(GPU가 병목)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737360"/>
          <a:ext cx="1133856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463040"/>
                <a:gridCol w="822960"/>
                <a:gridCol w="822960"/>
                <a:gridCol w="1005840"/>
                <a:gridCol w="2926080"/>
                <a:gridCol w="292608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3553"/>
                          </a:solidFill>
                        </a:rPr>
                        <a:t>워크로드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3553"/>
                          </a:solidFill>
                        </a:rPr>
                        <a:t>HW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3553"/>
                          </a:solidFill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3553"/>
                          </a:solidFill>
                        </a:rPr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3553"/>
                          </a:solidFill>
                        </a:rPr>
                        <a:t>P(병목)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3553"/>
                          </a:solidFill>
                        </a:rPr>
                        <a:t>2.26s 미스 벌금의 성격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3553"/>
                          </a:solidFill>
                        </a:rPr>
                        <a:t>실측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</a:rPr>
                        <a:t>TraceLab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</a:rPr>
                        <a:t>2×4090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</a:rPr>
                        <a:t>0.196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</a:rPr>
                        <a:t>1.20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</a:rPr>
                        <a:t>중간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</a:rPr>
                        <a:t>대부분 bubble에 흡수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</a:rPr>
                        <a:t>default 승 +44%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392B"/>
                          </a:solidFill>
                        </a:rPr>
                        <a:t>SWE-bench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392B"/>
                          </a:solidFill>
                        </a:rPr>
                        <a:t>2×4090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392B"/>
                          </a:solidFill>
                        </a:rPr>
                        <a:t>0.995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392B"/>
                          </a:solidFill>
                        </a:rPr>
                        <a:t>≫1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392B"/>
                          </a:solidFill>
                        </a:rPr>
                        <a:t>≈1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392B"/>
                          </a:solidFill>
                        </a:rPr>
                        <a:t>순손실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392B"/>
                          </a:solidFill>
                        </a:rPr>
                        <a:t>tr 승 +78~84%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392B"/>
                          </a:solidFill>
                        </a:rPr>
                        <a:t>TraceLab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392B"/>
                          </a:solidFill>
                        </a:rPr>
                        <a:t>Pro6000 TP2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392B"/>
                          </a:solidFill>
                        </a:rPr>
                        <a:t>0.289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392B"/>
                          </a:solidFill>
                        </a:rPr>
                        <a:t>≫1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392B"/>
                          </a:solidFill>
                        </a:rPr>
                        <a:t>≈1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392B"/>
                          </a:solidFill>
                        </a:rPr>
                        <a:t>순손실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392B"/>
                          </a:solidFill>
                        </a:rPr>
                        <a:t>default 붕괴 (C=32)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206240"/>
            <a:ext cx="10881360" cy="1792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450" b="1">
                <a:solidFill>
                  <a:srgbClr val="1F3553"/>
                </a:solidFill>
              </a:rPr>
              <a:t>R≥1이 되면 P(병목)이 0→1로 간다.  동일한 2.26초가 R&lt;1에선 공짜, R≥1에선 순손실이 된다.</a:t>
            </a:r>
          </a:p>
          <a:p>
            <a:pPr>
              <a:spcAft>
                <a:spcPts val="1100"/>
              </a:spcAft>
            </a:pPr>
            <a:r>
              <a:rPr sz="1450" b="0">
                <a:solidFill>
                  <a:srgbClr val="C0392B"/>
                </a:solidFill>
              </a:rPr>
              <a:t>⚠️  단 '재프리필이 decode 슬롯을 훔친다'는 코드상 부정확 — RUNNING이 먼저 스케줄되므로 decode는 안 밀린다.</a:t>
            </a:r>
          </a:p>
          <a:p>
            <a:pPr>
              <a:spcAft>
                <a:spcPts val="1100"/>
              </a:spcAft>
            </a:pPr>
            <a:r>
              <a:rPr sz="1450" b="0">
                <a:solidFill>
                  <a:srgbClr val="7F8C8D"/>
                </a:solidFill>
              </a:rPr>
              <a:t>      실제 기전 = KV 블록 고갈로 waiting 큐 정체 + iteration이 무거워짐.  발표 문구 정정 필요.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274320"/>
            <a:ext cx="1124071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C0392B"/>
                </a:solidFill>
              </a:rPr>
              <a:t>정직하게 — 여기서 고리가 열려 있었다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59536"/>
            <a:ext cx="11185855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7F8C8D"/>
                </a:solidFill>
              </a:rPr>
              <a:t>U는 잘 예측한다. 그러나 U → throughput의 마지막 한 단계가 안 맞았다  (→ 슬라이드 17에서 해소)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3822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450" b="1">
                <a:solidFill>
                  <a:srgbClr val="1F3553"/>
                </a:solidFill>
              </a:rPr>
              <a:t>모델:   thr ∝ U / W,     W = prompt·(1−hit)/5896 + out_tok/rate_decode</a:t>
            </a:r>
          </a:p>
          <a:p>
            <a:pPr>
              <a:spcAft>
                <a:spcPts val="1100"/>
              </a:spcAft>
            </a:pPr>
            <a:r>
              <a:rPr sz="1450" b="0">
                <a:solidFill>
                  <a:srgbClr val="7F8C8D"/>
                </a:solidFill>
              </a:rPr>
              <a:t/>
            </a:r>
          </a:p>
          <a:p>
            <a:pPr>
              <a:spcAft>
                <a:spcPts val="1100"/>
              </a:spcAft>
            </a:pPr>
            <a:r>
              <a:rPr sz="1450" b="0">
                <a:solidFill>
                  <a:srgbClr val="7F8C8D"/>
                </a:solidFill>
              </a:rPr>
              <a:t>실측 대입 (C=16):    U_def/U_tr = 2.70    /    W_def/W_tr = 2.61    →   예측 thr 비 = 1.03</a:t>
            </a:r>
          </a:p>
          <a:p>
            <a:pPr>
              <a:spcAft>
                <a:spcPts val="1100"/>
              </a:spcAft>
            </a:pPr>
            <a:r>
              <a:rPr sz="1450" b="1">
                <a:solidFill>
                  <a:srgbClr val="C0392B"/>
                </a:solidFill>
              </a:rPr>
              <a:t>실측 thr 비 = 0.098 / 0.068 = 1.44                                          ❌  안 맞는다</a:t>
            </a:r>
          </a:p>
          <a:p>
            <a:pPr>
              <a:spcAft>
                <a:spcPts val="1100"/>
              </a:spcAft>
            </a:pPr>
            <a:r>
              <a:rPr sz="1450" b="0">
                <a:solidFill>
                  <a:srgbClr val="7F8C8D"/>
                </a:solidFill>
              </a:rPr>
              <a:t/>
            </a:r>
          </a:p>
          <a:p>
            <a:pPr>
              <a:spcAft>
                <a:spcPts val="1100"/>
              </a:spcAft>
            </a:pPr>
            <a:r>
              <a:rPr sz="1450" b="1">
                <a:solidFill>
                  <a:srgbClr val="1F3553"/>
                </a:solidFill>
              </a:rPr>
              <a:t>역산:  실측 1.44를 맞추려면 hit_default ≈ 0.38 이어야 한다  (보고값 0.037 아님)</a:t>
            </a:r>
          </a:p>
          <a:p>
            <a:pPr>
              <a:spcAft>
                <a:spcPts val="1100"/>
              </a:spcAft>
            </a:pPr>
            <a:r>
              <a:rPr sz="1450" b="0">
                <a:solidFill>
                  <a:srgbClr val="7F8C8D"/>
                </a:solidFill>
              </a:rPr>
              <a:t>→  불일치의 방향이 슬라이드 8의 hit 오염과 일치한다.  [추정 — 편향 방향은 코드만으로 미확정]</a:t>
            </a:r>
          </a:p>
          <a:p>
            <a:pPr>
              <a:spcAft>
                <a:spcPts val="1100"/>
              </a:spcAft>
            </a:pPr>
            <a:r>
              <a:rPr sz="1450" b="0">
                <a:solidFill>
                  <a:srgbClr val="7F8C8D"/>
                </a:solidFill>
              </a:rPr>
              <a:t/>
            </a:r>
          </a:p>
          <a:p>
            <a:pPr>
              <a:spcAft>
                <a:spcPts val="1100"/>
              </a:spcAft>
            </a:pPr>
            <a:r>
              <a:rPr sz="1450" b="1">
                <a:solidFill>
                  <a:srgbClr val="1E8A5A"/>
                </a:solidFill>
              </a:rPr>
              <a:t>→ 이 고리는 GPU 실측으로 닫혔다.  슬라이드 17 참조 (오차 28.2% → 1.4%).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274320"/>
            <a:ext cx="1124071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C0392B"/>
                </a:solidFill>
              </a:rPr>
              <a:t>Phase 5 — "아무도 duty를 안 본다"는 거짓이다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59536"/>
            <a:ext cx="11185855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7F8C8D"/>
                </a:solidFill>
              </a:rPr>
              <a:t>28p·34p 양쪽 원문 대조 완료. 이 문장은 그대로 쓰면 리뷰어에게 즉시 잡힌다.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600200"/>
          <a:ext cx="1133856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4754880"/>
                <a:gridCol w="1737360"/>
                <a:gridCol w="2011680"/>
              </a:tblGrid>
              <a:tr h="44196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3553"/>
                          </a:solidFill>
                        </a:rPr>
                        <a:t>논문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3553"/>
                          </a:solidFill>
                        </a:rPr>
                        <a:t>duty/tool-idle을 보는가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3553"/>
                          </a:solidFill>
                        </a:rPr>
                        <a:t>형태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3553"/>
                          </a:solidFill>
                        </a:rPr>
                        <a:t>인용 위치</a:t>
                      </a:r>
                    </a:p>
                  </a:txBody>
                  <a:tcPr/>
                </a:tc>
              </a:tr>
              <a:tr h="44196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C0392B"/>
                          </a:solidFill>
                        </a:rPr>
                        <a:t>InferCept (ICML'24)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C0392B"/>
                          </a:solidFill>
                        </a:rPr>
                        <a:t>본다 — WastePreserve = T_INT × C ×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C0392B"/>
                          </a:solidFill>
                        </a:rPr>
                        <a:t>예측+최적화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C0392B"/>
                          </a:solidFill>
                        </a:rPr>
                        <a:t>§3.2 Eq(2), §4.4</a:t>
                      </a:r>
                    </a:p>
                  </a:txBody>
                  <a:tcPr/>
                </a:tc>
              </a:tr>
              <a:tr h="44196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C0392B"/>
                          </a:solidFill>
                        </a:rPr>
                        <a:t>Continuum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C0392B"/>
                          </a:solidFill>
                        </a:rPr>
                        <a:t>본다 — tool 시간 경험적 CDF → TTL pinning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C0392B"/>
                          </a:solidFill>
                        </a:rPr>
                        <a:t>예측+최적화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C0392B"/>
                          </a:solidFill>
                        </a:rPr>
                        <a:t>§4.1, §4.2 Eq(1)(2)</a:t>
                      </a:r>
                    </a:p>
                  </a:txBody>
                  <a:tcPr/>
                </a:tc>
              </a:tr>
              <a:tr h="44196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C0392B"/>
                          </a:solidFill>
                        </a:rPr>
                        <a:t>ThunderAgent (우리 논문!)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C0392B"/>
                          </a:solidFill>
                        </a:rPr>
                        <a:t>본다 — Σ c_q × f(t_q),  t_q = tool 실행시간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C0392B"/>
                          </a:solidFill>
                        </a:rPr>
                        <a:t>최적화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C0392B"/>
                          </a:solidFill>
                        </a:rPr>
                        <a:t>p.7 Eq(7), p.24 E.2</a:t>
                      </a:r>
                    </a:p>
                  </a:txBody>
                  <a:tcPr/>
                </a:tc>
              </a:tr>
              <a:tr h="44196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33333"/>
                          </a:solidFill>
                        </a:rPr>
                        <a:t>Autellix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33333"/>
                          </a:solidFill>
                        </a:rPr>
                        <a:t>인지하나 명시적 배제 — "unrelated to LLM serving"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33333"/>
                          </a:solidFill>
                        </a:rPr>
                        <a:t>무시(명시적)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33333"/>
                          </a:solidFill>
                        </a:rPr>
                        <a:t>§2.2</a:t>
                      </a:r>
                    </a:p>
                  </a:txBody>
                  <a:tcPr/>
                </a:tc>
              </a:tr>
              <a:tr h="44196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33333"/>
                          </a:solidFill>
                        </a:rPr>
                        <a:t>Parrot / Preble / vAttention / SGLang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33333"/>
                          </a:solidFill>
                        </a:rPr>
                        <a:t>안 본다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33333"/>
                          </a:solidFill>
                        </a:rPr>
                        <a:t>무시 / 무관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33333"/>
                          </a:solidFill>
                        </a:rPr>
                        <a:t>§6 / Abstract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526280"/>
            <a:ext cx="10881360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350" b="1">
                <a:solidFill>
                  <a:srgbClr val="1F3553"/>
                </a:solidFill>
              </a:rPr>
              <a:t>살아남는 기여:  선행연구는 tool 시간을 per-call 절대 지속시간(초)으로 → KV 보존이라는 국소 메커니즘 결정에 쓴다.</a:t>
            </a:r>
          </a:p>
          <a:p>
            <a:pPr>
              <a:spcAft>
                <a:spcPts val="1100"/>
              </a:spcAft>
            </a:pPr>
            <a:r>
              <a:rPr sz="1350" b="1">
                <a:solidFill>
                  <a:srgbClr val="1E8A5A"/>
                </a:solidFill>
              </a:rPr>
              <a:t>우리는 duty를 무차원 워크로드 비율로 정의하고, GPU 활용률의 예측 변수로 승격시킨다.  (부재 검증: duty 비율 정의는 7개 시스템 전부 없음)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274320"/>
            <a:ext cx="1124071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C0392B"/>
                </a:solidFill>
              </a:rPr>
              <a:t>★ 부수 발견 — TP2 비교에 교란변수가 숨어 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59536"/>
            <a:ext cx="11185855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7F8C8D"/>
                </a:solidFill>
              </a:rPr>
              <a:t>vLLM은 device memory 70GiB를 경계로 배치 기본값을 바꾼다 (arg_utils.py:2404-2423)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1828800"/>
          <a:ext cx="932688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377440"/>
                <a:gridCol w="2377440"/>
                <a:gridCol w="2011680"/>
              </a:tblGrid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F3553"/>
                          </a:solidFill>
                        </a:rPr>
                        <a:t>HW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F3553"/>
                          </a:solidFill>
                        </a:rPr>
                        <a:t>device mem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F3553"/>
                          </a:solidFill>
                        </a:rPr>
                        <a:t>max_num_batched_tokens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F3553"/>
                          </a:solidFill>
                        </a:rPr>
                        <a:t>max_num_seqs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</a:rPr>
                        <a:t>4090  (expC / 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</a:rPr>
                        <a:t>24 GB  &lt; 70GiB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</a:rPr>
                        <a:t>2048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</a:rPr>
                        <a:t>256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</a:rPr>
                        <a:t>Pro6000  (TP2)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</a:rPr>
                        <a:t>96 GB  ≥ 70GiB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</a:rPr>
                        <a:t>8192   (×4)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</a:rPr>
                        <a:t>1024   (×4)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3749039"/>
            <a:ext cx="10881360" cy="1792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500" b="1">
                <a:solidFill>
                  <a:srgbClr val="C0392B"/>
                </a:solidFill>
              </a:rPr>
              <a:t>TP2 실험은 'KV 풀 ×10.41' 하나만 바뀐 게 아니다. 배치 토큰 예산도 ×4로 함께 바뀐다.</a:t>
            </a:r>
          </a:p>
          <a:p>
            <a:pPr>
              <a:spcAft>
                <a:spcPts val="1100"/>
              </a:spcAft>
            </a:pPr>
            <a:r>
              <a:rPr sz="1500" b="0">
                <a:solidFill>
                  <a:srgbClr val="1F3553"/>
                </a:solidFill>
              </a:rPr>
              <a:t>k_fit-flip이 관측되면 그 원인이 (i) C_total 확대인지 (ii) batched_tokens 확대인지 현재 설계로는 분리 불가.</a:t>
            </a:r>
          </a:p>
          <a:p>
            <a:pPr>
              <a:spcAft>
                <a:spcPts val="1100"/>
              </a:spcAft>
            </a:pPr>
            <a:r>
              <a:rPr sz="1500" b="1">
                <a:solidFill>
                  <a:srgbClr val="1E8A5A"/>
                </a:solidFill>
              </a:rPr>
              <a:t>→ 권고: TP2 스윕에  --max-num-batched-tokens 2048  --max-num-seqs 256  대조군 1점 추가하면 분리된다.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274320"/>
            <a:ext cx="1124071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E8A5A"/>
                </a:solidFill>
              </a:rPr>
              <a:t>GPU 실험 — 승인받아 실행 완료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59536"/>
            <a:ext cx="11185855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7F8C8D"/>
                </a:solidFill>
              </a:rPr>
              <a:t>열린 고리(슬라이드 12)를 닫기 위한 최소 실험. 결과는 슬라이드 16~20.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600200"/>
          <a:ext cx="1133856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3291840"/>
                <a:gridCol w="5760720"/>
                <a:gridCol w="1554480"/>
              </a:tblGrid>
              <a:tr h="62179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3553"/>
                          </a:solidFill>
                        </a:rPr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3553"/>
                          </a:solidFill>
                        </a:rPr>
                        <a:t>목적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3553"/>
                          </a:solidFill>
                        </a:rPr>
                        <a:t>방법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3553"/>
                          </a:solidFill>
                        </a:rPr>
                        <a:t>비용</a:t>
                      </a:r>
                    </a:p>
                  </a:txBody>
                  <a:tcPr/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E8A5A"/>
                          </a:solidFill>
                        </a:rPr>
                        <a:t>1 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E8A5A"/>
                          </a:solidFill>
                        </a:rPr>
                        <a:t>오염 없는 재프리필 실측 → 열린 고리를 닫는다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E8A5A"/>
                          </a:solidFill>
                        </a:rPr>
                        <a:t>vLLM 1대 기동, /metrics에서 prompt_tokens_by_source{local_compute}</a:t>
                      </a:r>
                    </a:p>
                    <a:p>
                      <a:r>
                        <a:t>+ prompt_tokens_cached 수집. C=16 tr/default 각 1런(NPROG=32)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E8A5A"/>
                          </a:solidFill>
                        </a:rPr>
                        <a:t>GPU 1장</a:t>
                      </a:r>
                    </a:p>
                    <a:p>
                      <a:r>
                        <a:t>~40분</a:t>
                      </a:r>
                    </a:p>
                  </a:txBody>
                  <a:tcPr/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</a:rPr>
                        <a:t>부하 하 prefill/decode 분해 (H3 완결)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</a:rPr>
                        <a:t>위 런에 --stream 추가 → prefill_s/decode_s 복구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</a:rPr>
                        <a:t>+0</a:t>
                      </a:r>
                    </a:p>
                  </a:txBody>
                  <a:tcPr/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</a:rPr>
                        <a:t>런타임 config 확정 (2048/256)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</a:rPr>
                        <a:t>기동 로그에서 max_num_batched_tokens 확인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</a:rPr>
                        <a:t>+0</a:t>
                      </a:r>
                    </a:p>
                  </a:txBody>
                  <a:tcPr/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7F8C8D"/>
                          </a:solidFill>
                        </a:rPr>
                        <a:t>4·5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7F8C8D"/>
                          </a:solidFill>
                        </a:rPr>
                        <a:t>decode batch 커브 / SM occupancy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7F8C8D"/>
                          </a:solidFill>
                        </a:rPr>
                        <a:t>실익 낮음 — 배치가 1.1~1.5로 확정, 삼각측량으로 방어됨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7F8C8D"/>
                          </a:solidFill>
                        </a:rPr>
                        <a:t>생략 권고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846320"/>
            <a:ext cx="1088136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300" b="0">
                <a:solidFill>
                  <a:srgbClr val="7F8C8D"/>
                </a:solidFill>
              </a:rPr>
              <a:t>mango1 4×4090 전부 유휴 확인 후 승인받아 실행.  ①②③ 완료 → 슬라이드 16~20.  ④⑤는 실익이 낮아 생략(권고대로).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274320"/>
            <a:ext cx="1124071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E8A5A"/>
                </a:solidFill>
              </a:rPr>
              <a:t>★ GPU 실측 — 오염은 비대칭이었다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59536"/>
            <a:ext cx="11185855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7F8C8D"/>
                </a:solidFill>
              </a:rPr>
              <a:t>tr의 hit 지표는 애초에 정확했고(1.0x), default만 4.8배 과소평가됐다</a:t>
            </a:r>
          </a:p>
        </p:txBody>
      </p:sp>
      <p:pic>
        <p:nvPicPr>
          <p:cNvPr id="4" name="Picture 3" descr="vllm_true_vs_reported_h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63040"/>
            <a:ext cx="11185855" cy="421761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274320"/>
            <a:ext cx="1124071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E8A5A"/>
                </a:solidFill>
              </a:rPr>
              <a:t>★★ 그래서 식이 닫혔다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59536"/>
            <a:ext cx="11185855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7F8C8D"/>
                </a:solidFill>
              </a:rPr>
              <a:t>같은 모델에 hit만 참값으로 바꿔 넣었다  →  예측 오차 28.2% → 1.4%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965960"/>
          <a:ext cx="1124712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371600"/>
                <a:gridCol w="1371600"/>
                <a:gridCol w="1828800"/>
                <a:gridCol w="1737360"/>
                <a:gridCol w="1737360"/>
              </a:tblGrid>
              <a:tr h="57912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3553"/>
                          </a:solidFill>
                        </a:rPr>
                        <a:t>쓰는 hit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3553"/>
                          </a:solidFill>
                        </a:rPr>
                        <a:t>W_tr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3553"/>
                          </a:solidFill>
                        </a:rPr>
                        <a:t>W_def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3553"/>
                          </a:solidFill>
                        </a:rPr>
                        <a:t>W_def / W_tr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3553"/>
                          </a:solidFill>
                        </a:rPr>
                        <a:t>예측 thr 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3553"/>
                          </a:solidFill>
                        </a:rPr>
                        <a:t>실측 1.441 대비</a:t>
                      </a:r>
                    </a:p>
                  </a:txBody>
                  <a:tcPr/>
                </a:tc>
              </a:tr>
              <a:tr h="57912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C0392B"/>
                          </a:solidFill>
                        </a:rPr>
                        <a:t>오염된 보고 hit  (0.797 / 0.037)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C0392B"/>
                          </a:solidFill>
                        </a:rPr>
                        <a:t>1.499s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C0392B"/>
                          </a:solidFill>
                        </a:rPr>
                        <a:t>3.908s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C0392B"/>
                          </a:solidFill>
                        </a:rPr>
                        <a:t>2.606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C0392B"/>
                          </a:solidFill>
                        </a:rPr>
                        <a:t>1.035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C0392B"/>
                          </a:solidFill>
                        </a:rPr>
                        <a:t>오차 28.2%  ✗</a:t>
                      </a:r>
                    </a:p>
                  </a:txBody>
                  <a:tcPr/>
                </a:tc>
              </a:tr>
              <a:tr h="57912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E8A5A"/>
                          </a:solidFill>
                        </a:rPr>
                        <a:t>참 hit  (0.6983 / 0.1844)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E8A5A"/>
                          </a:solidFill>
                        </a:rPr>
                        <a:t>1.812s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E8A5A"/>
                          </a:solidFill>
                        </a:rPr>
                        <a:t>3.441s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E8A5A"/>
                          </a:solidFill>
                        </a:rPr>
                        <a:t>1.899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E8A5A"/>
                          </a:solidFill>
                        </a:rPr>
                        <a:t>1.421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E8A5A"/>
                          </a:solidFill>
                        </a:rPr>
                        <a:t>오차 1.4%  ✓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114800"/>
            <a:ext cx="10881360" cy="1792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450" b="1">
                <a:solidFill>
                  <a:srgbClr val="1F3553"/>
                </a:solidFill>
              </a:rPr>
              <a:t>모델:   thr  ∝  U / W ,      W = prompt·(1−hit) / 5,896 tok/s  +  decode 0.856s</a:t>
            </a:r>
          </a:p>
          <a:p>
            <a:pPr>
              <a:spcAft>
                <a:spcPts val="1100"/>
              </a:spcAft>
            </a:pPr>
            <a:r>
              <a:rPr sz="1450" b="1">
                <a:solidFill>
                  <a:srgbClr val="1E8A5A"/>
                </a:solidFill>
              </a:rPr>
              <a:t>U = R 모델이 예측 (mean nrr).   W = 참 재프리필 비용.   이 두 항이면 tr/default 승패가 예측된다.</a:t>
            </a:r>
          </a:p>
          <a:p>
            <a:pPr>
              <a:spcAft>
                <a:spcPts val="1100"/>
              </a:spcAft>
            </a:pPr>
            <a:r>
              <a:rPr sz="1450" b="0">
                <a:solidFill>
                  <a:srgbClr val="7F8C8D"/>
                </a:solidFill>
              </a:rPr>
              <a:t>⚠️  한계: U는 expC(NPROG=64), 참 hit는 이번 런(NPROG=32) — 런 혼합. 동일 런에서 U와 참 hit 동시 측정이 남았다.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274320"/>
            <a:ext cx="1124071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C0392B"/>
                </a:solidFill>
              </a:rPr>
              <a:t>H1 정정 — default의 숨은 벌금이 드러났다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59536"/>
            <a:ext cx="11185855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7F8C8D"/>
                </a:solidFill>
              </a:rPr>
              <a:t>--stream으로 prefill_s 복구.  default TTFT 10.79s 중 ~9.5s가 vLLM 큐 대기 (c=1 warm은 0.46s)</a:t>
            </a:r>
          </a:p>
        </p:txBody>
      </p:sp>
      <p:pic>
        <p:nvPicPr>
          <p:cNvPr id="4" name="Picture 3" descr="vllm_latency_breakdown_loa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727" y="1463040"/>
            <a:ext cx="877824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274320"/>
            <a:ext cx="1124071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C0392B"/>
                </a:solidFill>
              </a:rPr>
              <a:t>정정 — 'tr은 매 step 18.5초 pause한다'는 틀렸다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59536"/>
            <a:ext cx="11185855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7F8C8D"/>
                </a:solidFill>
              </a:rPr>
              <a:t>중앙값은 0.00초다.  평균 18.5초는 2.4%의 파국적 stall이 만든 값이다.</a:t>
            </a:r>
          </a:p>
        </p:txBody>
      </p:sp>
      <p:pic>
        <p:nvPicPr>
          <p:cNvPr id="4" name="Picture 3" descr="vllm_pause_heavy_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63040"/>
            <a:ext cx="11185855" cy="4172501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274320"/>
            <a:ext cx="1124071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C0392B"/>
                </a:solidFill>
              </a:rPr>
              <a:t>정직 — 철회한 발견 하나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59536"/>
            <a:ext cx="11185855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7F8C8D"/>
                </a:solidFill>
              </a:rPr>
              <a:t>실험 중 'tr 스케줄러 데드락'을 발견했다고 판단했으나, 내 하네스 버그였다.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881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350" b="0">
                <a:solidFill>
                  <a:srgbClr val="7F8C8D"/>
                </a:solidFill>
              </a:rPr>
              <a:t>관측:  tr이 C=16에서 249~344초 동안 완전 정지 (reasoning=0, nrr=0, GPU 0%, paused=18).  2회 재현.</a:t>
            </a:r>
          </a:p>
          <a:p>
            <a:pPr>
              <a:spcAft>
                <a:spcPts val="1100"/>
              </a:spcAft>
            </a:pPr>
            <a:r>
              <a:rPr sz="1350" b="0">
                <a:solidFill>
                  <a:srgbClr val="7F8C8D"/>
                </a:solidFill>
              </a:rPr>
              <a:t>추론했던 것:  'tr의 용량 회계가 ACTING 토큰을 과다 계상해 자기 데드락'  →  그럴듯했다.</a:t>
            </a:r>
          </a:p>
          <a:p>
            <a:pPr>
              <a:spcAft>
                <a:spcPts val="1100"/>
              </a:spcAft>
            </a:pPr>
            <a:r>
              <a:rPr sz="1350" b="0">
                <a:solidFill>
                  <a:srgbClr val="7F8C8D"/>
                </a:solidFill>
              </a:rPr>
              <a:t/>
            </a:r>
          </a:p>
          <a:p>
            <a:pPr>
              <a:spcAft>
                <a:spcPts val="1100"/>
              </a:spcAft>
            </a:pPr>
            <a:r>
              <a:rPr sz="1350" b="1">
                <a:solidFill>
                  <a:srgbClr val="C0392B"/>
                </a:solidFill>
              </a:rPr>
              <a:t>실제 원인:  내가 드라이버에 --router-url 을 안 넘겼다.</a:t>
            </a:r>
          </a:p>
          <a:p>
            <a:pPr>
              <a:spcAft>
                <a:spcPts val="1100"/>
              </a:spcAft>
            </a:pPr>
            <a:r>
              <a:rPr sz="1350" b="0">
                <a:solidFill>
                  <a:srgbClr val="7F8C8D"/>
                </a:solidFill>
              </a:rPr>
              <a:t>      기본값이 localhost:9000 인데 내 프록시는 9011.  driver:286의 POST /programs/release 가 전부 실패.</a:t>
            </a:r>
          </a:p>
          <a:p>
            <a:pPr>
              <a:spcAft>
                <a:spcPts val="1100"/>
              </a:spcAft>
            </a:pPr>
            <a:r>
              <a:rPr sz="1350" b="0">
                <a:solidFill>
                  <a:srgbClr val="7F8C8D"/>
                </a:solidFill>
              </a:rPr>
              <a:t>      → 프로그램이 영영 해제 안 됨 → active_program_tokens 누적(40,671 / 43,888) → resume 영구 불가.</a:t>
            </a:r>
          </a:p>
          <a:p>
            <a:pPr>
              <a:spcAft>
                <a:spcPts val="1100"/>
              </a:spcAft>
            </a:pPr>
            <a:r>
              <a:rPr sz="1350" b="0">
                <a:solidFill>
                  <a:srgbClr val="7F8C8D"/>
                </a:solidFill>
              </a:rPr>
              <a:t>      → default가 멀쩡했던 건 용량 검사를 안 하기 때문.  'tr만 데드락'이라는 착시가 여기서 나왔다.</a:t>
            </a:r>
          </a:p>
          <a:p>
            <a:pPr>
              <a:spcAft>
                <a:spcPts val="1100"/>
              </a:spcAft>
            </a:pPr>
            <a:r>
              <a:rPr sz="1350" b="0">
                <a:solidFill>
                  <a:srgbClr val="7F8C8D"/>
                </a:solidFill>
              </a:rPr>
              <a:t/>
            </a:r>
          </a:p>
          <a:p>
            <a:pPr>
              <a:spcAft>
                <a:spcPts val="1100"/>
              </a:spcAft>
            </a:pPr>
            <a:r>
              <a:rPr sz="1350" b="1">
                <a:solidFill>
                  <a:srgbClr val="1E8A5A"/>
                </a:solidFill>
              </a:rPr>
              <a:t>무엇이 잡았나:  expC 스윕 스크립트와 CLI 인자를 전수 대조 (run_trace_sweep_expC:65 에 --router-url 있음).</a:t>
            </a:r>
          </a:p>
          <a:p>
            <a:pPr>
              <a:spcAft>
                <a:spcPts val="1100"/>
              </a:spcAft>
            </a:pPr>
            <a:r>
              <a:rPr sz="1350" b="1">
                <a:solidFill>
                  <a:srgbClr val="1E8A5A"/>
                </a:solidFill>
              </a:rPr>
              <a:t>expC 데이터는 깨끗하다.  §1~§4의 결론은 전부 그대로 유효하다.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274320"/>
            <a:ext cx="1124071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C0392B"/>
                </a:solidFill>
              </a:rPr>
              <a:t>🚨 최우선 — PAPER_COMPARISON §0-1이 뒤집혔다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59536"/>
            <a:ext cx="11185855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7F8C8D"/>
                </a:solidFill>
              </a:rPr>
              <a:t>우리가 28p 구본으로 교수님을 '정정'했는데, 교수님이 옳았다.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463040"/>
          <a:ext cx="1133856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6309360"/>
                <a:gridCol w="1828800"/>
              </a:tblGrid>
              <a:tr h="5943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F3553"/>
                          </a:solidFill>
                        </a:rPr>
                        <a:t>우리 문서가 "없다"고 한 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F3553"/>
                          </a:solidFill>
                        </a:rPr>
                        <a:t>34p 실제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F3553"/>
                          </a:solidFill>
                        </a:rPr>
                        <a:t>판정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</a:rPr>
                        <a:t>§A.5 (working set/heterogeneous)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</a:rPr>
                        <a:t>§A.5 'Portability across Hardware Generations' (p.24)</a:t>
                      </a:r>
                    </a:p>
                    <a:p>
                      <a:r>
                        <a:t>본문: "the working set fits comfortably in HBM and thrashing is rare"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C0392B"/>
                          </a:solidFill>
                        </a:rPr>
                        <a:t>교수님 옳음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</a:rPr>
                        <a:t>Table 3 = H100 vs A100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</a:rPr>
                        <a:t>Table 3 'Compute-to-bandwidth ratio' (p.24)</a:t>
                      </a:r>
                    </a:p>
                    <a:p>
                      <a:r>
                        <a:t>H100 295.2 / A100 153.0 GFLOPS/GB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C0392B"/>
                          </a:solidFill>
                        </a:rPr>
                        <a:t>교수님 옳음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</a:rPr>
                        <a:t>Figure 10 = compute-to-bandwidth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</a:rPr>
                        <a:t>Figure 10 'ThunderAgent on A100 GPUs' (p.25)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C0392B"/>
                          </a:solidFill>
                        </a:rPr>
                        <a:t>교수님 옳음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</a:rPr>
                        <a:t>"A100"·"compute-to-bandwidth" 문구 없음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</a:rPr>
                        <a:t>둘 다 존재 (28p엔 각 0회 — 그래서 우리가 오판)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C0392B"/>
                          </a:solidFill>
                        </a:rPr>
                        <a:t>교수님 옳음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</a:rPr>
                        <a:t>느린 GPU 스래싱 비교 실험 없음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</a:rPr>
                        <a:t>8xA100 실험 존재: 저부하(24) tr≈vLLM,</a:t>
                      </a:r>
                    </a:p>
                    <a:p>
                      <a:r>
                        <a:t>고부하(48·72) 1.71–2.08x (mini-SWEAgent)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C0392B"/>
                          </a:solidFill>
                        </a:rPr>
                        <a:t>교수님 옳음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212080"/>
            <a:ext cx="10881360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250" b="1">
                <a:solidFill>
                  <a:srgbClr val="C0392B"/>
                </a:solidFill>
              </a:rPr>
              <a:t>hetero gap 영향:  "논문은 GPU 세대를 안 바꿔봤다"는 더 이상 못 쓴다.  compute-to-bandwidth도 이제 논문 안에 있다.</a:t>
            </a:r>
          </a:p>
          <a:p>
            <a:pPr>
              <a:spcAft>
                <a:spcPts val="1100"/>
              </a:spcAft>
            </a:pPr>
            <a:r>
              <a:rPr sz="1250" b="1">
                <a:solidFill>
                  <a:srgbClr val="1E8A5A"/>
                </a:solidFill>
              </a:rPr>
              <a:t>살아남는 것:  §A.5도 8xA100 단독 / 8xH100 단독 — 한 클러스터 안의 이종 혼합 실험은 여전히 없다.  gap을 여기로 좁힐 것.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274320"/>
            <a:ext cx="1124071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F3553"/>
                </a:solidFill>
              </a:rPr>
              <a:t>한 문단으로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10029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1450" b="0">
                <a:solidFill>
                  <a:srgbClr val="333333"/>
                </a:solidFill>
              </a:rPr>
              <a:t>vLLM V1은 prefill/decode 단계 구분 없이 매 iteration 2048 토큰을 RUNNING 요청부터 채우고, KV가 모자라면 preempt가 아니라 waiting 큐에서 승인을 거부한다.  18.7k 프롬프트는 이 예산을 약 10 iteration 독점하므로 실제 GPU 배치는 정책과 무관하게 1.1~1.5에 고정된다.</a:t>
            </a:r>
          </a:p>
          <a:p>
            <a:pPr>
              <a:spcAft>
                <a:spcPts val="1500"/>
              </a:spcAft>
            </a:pPr>
            <a:r>
              <a:rPr sz="1450" b="1">
                <a:solidFill>
                  <a:srgbClr val="1F3553"/>
                </a:solidFill>
              </a:rPr>
              <a:t>따라서 'GPU를 채운다'는 배치를 키우는 게 아니라 시간축의 구멍을 메우는 것이고, R = k_fit·d 는 동시에 GPU 일을 원하는 요청 수의 기댓값이다 (실측 mean nrr과 일치).</a:t>
            </a:r>
          </a:p>
          <a:p>
            <a:pPr>
              <a:spcAft>
                <a:spcPts val="1500"/>
              </a:spcAft>
            </a:pPr>
            <a:r>
              <a:rPr sz="1450" b="1">
                <a:solidFill>
                  <a:srgbClr val="C0392B"/>
                </a:solidFill>
              </a:rPr>
              <a:t>R&lt;1이면 bubble이 있어 캐시 미스의 한계비용 2.26초/turn이 놀던 시간에 흡수되어 거의 공짜인 반면, tr의 pause는 18.5초/step의 순손실이다 — 2.3초 벌금 vs 18.5초 벌금, 8.2배.  이것이 R&lt;1에서 default가 이기는 인과다.</a:t>
            </a:r>
          </a:p>
          <a:p>
            <a:pPr>
              <a:spcAft>
                <a:spcPts val="1500"/>
              </a:spcAft>
            </a:pPr>
            <a:r>
              <a:rPr sz="1450" b="1">
                <a:solidFill>
                  <a:srgbClr val="1E8A5A"/>
                </a:solidFill>
              </a:rPr>
              <a:t>R≥1이 되면 P(GPU가 병목)이 0→1로 가면서 같은 2.26초가 기회비용에서 순손실로 바뀌어 tr이 이긴다. 곱셈 하나가 두 레짐을 모두 설명한다.</a:t>
            </a:r>
          </a:p>
          <a:p>
            <a:pPr>
              <a:spcAft>
                <a:spcPts val="1500"/>
              </a:spcAft>
            </a:pPr>
            <a:r>
              <a:rPr sz="1450" b="0">
                <a:solidFill>
                  <a:srgbClr val="7F8C8D"/>
                </a:solidFill>
              </a:rPr>
              <a:t>모르는 것:  (i) hit rate는 default에서 30배 팽창한 표본이라 절대값 0.037은 신뢰 불가.  (ii) 그 결과 U→throughput의 마지막 한 단계가 닫히지 않는다 (예측 1.03 vs 실측 1.44).  (iii) '재프리필이 decode 슬롯을 훔친다'는 코드상 부정확.  (iv) 34p 논문 미확인이고, 'duty를 아무도 안 본다'는 거짓이다 — 우리 기여는 duty를 메커니즘의 입력이 아니라 활용률의 예측 변수로 승격시킨 것으로 재정의되어야 한다.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