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ThunderAgent를 이종 GPU 환경에서 돌린 실험 결과를 말씀드리겠습니다. 오늘 순서는 세 부분입니다. 먼저 실제 코딩 에이전트 로그인 TraceLab 워크로드가 기존 합성 워크로드와 뭐가 다른지 특성을 보고, 그 특성이 2×4090 실데이터 실험 결과를 어떻게 설명하는지, 마지막으로 4090과 5090을 섞은 이종 실험 결과를 보여드립니다. 핵심 메시지는 'tr이 KV 캐시는 확실히 지키는데, 그게 항상 처리량으로 이어지진 않고 워크로드와 GPU 구성에 달렸다'입니다.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ThunderAgent가 푸는 문제부터요. 에이전트는 한 작업을 여러 턴에 걸쳐 처리하는데, 턴 사이에 툴을 호출하는 동안 그 프로그램의 KV 캐시—지금까지 계산해둔 문맥—가 GPU 메모리에서 밀려나 축출될 수 있습니다. 그러면 다음 턴에 그 문맥을 처음부터 다시 계산해야 하는데, 이걸 재프리필, 이게 심해지는 걸 스래싱이라고 부릅니다. tr 라우터는 프로그램 단위로 관리해서 활성 프로그램들의 KV가 GPU 용량 안에 들어오도록 유지하고, 초과하면 잠시 멈췄다 재개시켜 이 스래싱을 막습니다. 저희는 이걸 데이터 축(합성 대 실제)과 GPU 축(동일 대 이종) 둘로 나눠 봤고, 오늘은 나머지 세 칸(D·F·G)을 채워 2×2 매트릭스를 완성한 겁니다.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셋업입니다. GPU는 4090과 5090을 쓰는데, 실제 KV 캐시 풀 크기를 vLLM 로그에서 뽑아보니 4090은 43,888토큰으로 6.03기가바이트, 5090은 89,040토큰 12.23기가바이트로 딱 2.03배였습니다. 이 2배 용량 차이가 뒤 이종 실험의 핵심 변수입니다. 비교는 ThunderAgent 스케줄러인 tr과, 단순히 부하 적은 쪽으로 보내는 default 프록시 둘입니다. 워크로드는 D 실험이 실제 TraceLab 트레이스, F 실험이 기존과 같은 합성 부하고요. 처리량·KV 히트율·p95 지연에 더해 백엔드별 지표까지 각 조건 3번씩 반복 측정했습니다.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여기서부터 왜 TraceLab이 특별한지 세 장에 걸쳐 깔겠습니다. 실제 코딩 에이전트 로그는 합성과 질적으로 다릅니다. 한 턴 입력이 중앙값 18,275토큰, 상위 5%는 2만9천까지 가는데, 기존 합성은 1만4천5백 정도로 균일했습니다. 반면 출력은 중앙값 144토큰으로 짧습니다—합성은 28개 고정이었고요. 즉 입력은 크고 들쭉날쭉, 출력은 짧다—전형적인 prefill-heavy, 계산 비용이 입력 처리 쪽에 쏠린 워크로드입니다. 그래서 KV 캐시를 얼마나 잘 재사용하느냐가 성능을 좌우합니다.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오른쪽 턴별 분해 그림을 보시면, 첫 턴만 prefill 시간이 1.89초로 길고 그다음 턴부터는 0.40초로 확 줄어듭니다. 첫 턴은 큰 입력을 처음부터 다 계산하지만, 이후 턴은 같은 세션의 앞부분 KV를 재사용하기 때문입니다—이게 바로 KV locality이고, 기존 합성 실험에서 본 패턴과 똑같습니다. 왼쪽은 프로그램 하나가 사는 시간인데 중앙값 34.6초, 그리고 툴 실행 시간이 실제로 꽤 큽니다. 요점은 '앞 문맥을 재사용하니 그 KV를 지키는 게 중요하다'는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뒤 결과의 원인이라 제일 중요합니다. 프로그램 하나가 최대로 차지하는 KV 메모리가 중앙값 2.87기가바이트, 상위 5%가 4.35기가입니다. 4090 풀이 6기가밖에 안 되니까 한 GPU에 프로그램이 딱 2개 정도밖에 동시에 안 올라갑니다. 5090도 4개 정도고요. 기존 합성은 프로그램당 2기가로 더 작고 균일했는데 실제는 더 크고 가변적입니다. 이 '프로그램 하나가 GPU 용량에 육박한다'는 사실을 기억해두시면 다음에 나올 D 실험의 반전이 자연스럽게 이해됩니다.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실제 데이터로 2×4090에서 돌린 결과입니다. 파란선 tr은 부하가 아무리 올라도 KV 히트율을 0.77에서 0.80으로 유지합니다. 반면 주황색 default는 0.82에서 시작해 0.026까지 무너집니다. 부하가 오르면 프로그램들이 서로의 KV 캐시를 밀어내서 매 턴 처음부터 다시 계산하는 스래싱에 빠지는 거죠. 동시 48개 기준으로 tr이 default보다 히트율이 30배 높습니다. 논문이 주장한 'program-aware 스케줄링이 캐시 스래싱을 막는다'를 저희가 합성이 아니라 실제 데이터로 재현한 겁니다.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그런데 여기서 정직하게 말씀드릴 반전이 있습니다. 캐시는 tr이 지켰는데 정작 처리량은 tr이 더 낮습니다—동시 48개에서 tr 0.067 대 default 0.102, p95 지연도 727초 대 481초로 tr이 나쁩니다. 왜냐면 아까 슬라이드 6에서 봤듯이 프로그램 하나가 4090 KV를 거의 다 먹어서 2개밖에 못 올라가는데, tr은 용량을 넘는 프로그램을 잠시 멈춰 세우거든요. 그러면 캐시는 지키지만 동시에 도는 프로그램 수가 줄어 GPU가 놀고 대기줄이 길어집니다. default는 스래싱하면서도 다 밀어넣어 돌리니 벽시계 기준 처리량은 오히려 높고요. 결론은 '캐시 보호가 항상 처리량으로 이어지진 않는다, 특히 프로그램이 GPU 용량에 육박할 때는'입니다. 예상 질문 '그럼 tr이 나쁜 거냐?'—아닙니다, tr은 캐시를 지켰고, 이건 작은 4090에 프로그램이 너무 큰 특수 상황이라 오히려 더 큰 KV를 가진 이종 GPU가 필요하다는 다음 이야기로 이어집니다.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4090에 5090을 붙인 이종 실험입니다. 워크로드는 다시 합성으로 통제했고요. 전역 처리량을 보면 고부하에서 tr이 0.64로 default 0.32의 약 2배입니다. 히트율도 0.67 대 0.02로 압도적이고요. 즉 프로그램 크기가 적당한 합성 워크로드에서는 이종 GPU에서도 tr이 확실히 이깁니다—방금 본 실데이터 D와 대조되는 지점입니다.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이게 이종 실험의 핵심입니다. 백엔드를 4090과 5090으로 나눠서 봤어요. default를 보면 작은 4090을 파국적으로 혹사시킵니다. 동시 8개에서 이미 4090 히트율이 0.08로 스래싱인데 5090은 0.67로 멀쩡합니다. 고부하에선 4090이 재프리필을 5090의 약 4배—9.2백만 대 2.2백만 토큰—처리하고요. 반면 tr은 4090과 5090 둘 다 0.67로 균형을 맞추고, 오히려 큰 5090에 일을 더 보냅니다—대략 1대 1.6 비율로요. 그림에서 빨간 점선인 default의 4090만 바닥으로 떨어지는 게 한눈에 보이실 겁니다.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여기가 두 번째 정직 포인트입니다. 저희는 원래 가설로 'tr이 절대 토큰 양만 맞추니까 작은 4090을 먼저 포화시킬 것'이라고 세웠고, 심지어 이게 틀렸다고 볼 반증 조건—두 GPU 히트율이 비슷하게 나오면 가설 기각—을 미리 정해놨습니다. 그런데 실측에서 tr의 4090·5090 히트율이 둘 다 0.67로 비슷했어요. 그래서 이 가설은 기각·수정됐습니다. 우리가 걱정했던 tr의 문제는 실제로 없었고, 소형 GPU를 혹사시키는 건 오히려 default의 병리였던 거죠. 예상 질문 '그럼 tr이 완벽하냐?'—아닙니다. tr은 큰 GPU를 다 활용하진 못하는데 그게 다음 슬라이드입니다.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2×2의 마지막 칸입니다. 실제 TraceLab 데이터를 4090과 5090 이종에서 돌렸어요. 핵심 질문은, D에서 tr이 잃었던 처리량이 더 큰 5090을 붙이면 회복되느냐였습니다. 결과는 회복됩니다—tr 처리량이 D 대비 1.6에서 1.7배로 올랐고(0.067→0.115), default와의 격차도 34%에서 8%로 좁혀졌습니다. 다만 완전히 역전하진 못했고, 히트율은 여전히 tr 압승(0.68~0.83 대 0.03), p95는 tr이 조금 열세입니다. 즉 큰 GPU가 tr의 실데이터 약점을 상당히 메워줬다는 게 이 칸의 메시지입니다.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백엔드별로 보면 합성 이종(F)에서 봤던 패턴이 실제 데이터에서도 그대로입니다—default는 작은 4090을 가장 심하게 태우고(c48에서 4090 히트 0.03 대 5090 0.06), tr은 두 GPU를 0.67에서 0.87로 균형 있게 유지합니다. 한 가지 차이는, F에선 tr이 큰 5090에 일을 1.6배 더 보냈는데 실제 데이터에선 거의 1대 1로 5090을 덜 활용한다는 점입니다. 그런데도 처리량이 용량 증가분보다 더 많이 올랐다는 건 5090에 아직 여유가 있다는 뜻이라, 용량 비례로 5090에 더 밀면 default를 넘어설 여지가 있습니다—다음 과제로 이어집니다.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2×2 네 칸을 다 채웠습니다. 표로 정리하면, 합성에 동일 GPU는 tr 처리량 +57%, 합성에 이종은 +100%, 실데이터에 동일 GPU는 -34%, 실데이터에 이종은 -8%로 회복입니다. KV 히트율은 네 칸 모두 tr 압승이고요. 그러니까 tr의 스래싱 억제 능력 자체는 항상 견고한데, 처리량 이득은 프로그램이 GPU KV에 얼마나 육박하는지와 GPU 용량 구성에 달려 있다—이게 최종 결론입니다. 특히 실데이터에서 큰 5090이 tr의 적자를 34%에서 8%로 줄였다는 게 이종의 의미입니다.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그럼 다음에 뭘 할 거냐. tr이 5090에 일을 더 보내긴 하는데 그 비율이 1대 1.6이었습니다. 실제 용량비는 1대 2.03인데 말이죠. 즉 tr이 큰 5090의 여유를 다 못 씁니다—처리량이 용량을 51% 늘렸는데 31%밖에 안 올랐어요. 그래서 다음 과제는 용량 비례 라우팅입니다. 방향을 다시 잡자면 '작은 GPU 혹사를 고치는 것'이 아니라 '큰 GPU 활용을 끌어올려 처리량 상단을 높이는 것'입니다. 신규 프로그램을 GPU 용량에 비례해서—가능하면 속도·대역폭까지 반영해서—배정하도록 라우터를 확장하는 게 계획입니다.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한계도 솔직히 말씀드립니다. 각 점을 3번만 반복해서 tr의 pause 타이밍에 따른 편차가 남아 있고, F 실험은 합성 워크로드라 실제 분포와 다릅니다. 백엔드별 부하를 prefix-cache 쿼리 수로 근사했는데 이건 재프리필이 섞여서 순수 라우팅된 프로그램 수와는 다릅니다. 또 D의 데이터는 32k 이하로 맞춘 서브셋이라—전체 턴의 92.5%가 32k를 넘어 제외됐거든요—짧은 세션 쪽 편향이 있습니다. SWE-bench 녹화와 cross-node 실험은 다음 미팅 이후로 미뤘고, 다음 단계는 용량 비례 라우팅을 구현해 D와 F를 다시 돌려 검증하는 겁니다.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011680"/>
            <a:ext cx="12191695" cy="27432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0"/>
            <a:ext cx="10698480" cy="1554480"/>
          </a:xfrm>
          <a:prstGeom prst="rect">
            <a:avLst/>
          </a:prstGeom>
          <a:noFill/>
        </p:spPr>
        <p:txBody>
          <a:bodyPr wrap="square">
            <a:spAutoFit/>
          </a:bodyPr>
          <a:lstStyle/>
          <a:p>
            <a:r>
              <a:rPr sz="4000" b="1">
                <a:solidFill>
                  <a:srgbClr val="FFFFFF"/>
                </a:solidFill>
              </a:rPr>
              <a:t>ThunderAgent 이종 GPU 서빙 실험</a:t>
            </a:r>
          </a:p>
          <a:p>
            <a:r>
              <a:rPr sz="1800">
                <a:solidFill>
                  <a:srgbClr val="CFDDEE"/>
                </a:solidFill>
              </a:rPr>
              <a:t>실제 워크로드(TraceLab) 특성 분석 · homo-homo 대비 · 4090+5090 이종 결과</a:t>
            </a:r>
          </a:p>
        </p:txBody>
      </p:sp>
      <p:sp>
        <p:nvSpPr>
          <p:cNvPr id="4" name="TextBox 3"/>
          <p:cNvSpPr txBox="1"/>
          <p:nvPr/>
        </p:nvSpPr>
        <p:spPr>
          <a:xfrm>
            <a:off x="731520" y="5029200"/>
            <a:ext cx="10698480" cy="731520"/>
          </a:xfrm>
          <a:prstGeom prst="rect">
            <a:avLst/>
          </a:prstGeom>
          <a:noFill/>
        </p:spPr>
        <p:txBody>
          <a:bodyPr wrap="none">
            <a:spAutoFit/>
          </a:bodyPr>
          <a:lstStyle/>
          <a:p>
            <a:r>
              <a:rPr sz="1500">
                <a:solidFill>
                  <a:srgbClr val="4A4A4A"/>
                </a:solidFill>
              </a:rPr>
              <a:t>강윤의 · 2026-07-04 · 브랜치 yunuikang/thunderagent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822960"/>
          </a:xfrm>
          <a:prstGeom prst="rect">
            <a:avLst/>
          </a:prstGeom>
          <a:noFill/>
        </p:spPr>
        <p:txBody>
          <a:bodyPr wrap="none">
            <a:spAutoFit/>
          </a:bodyPr>
          <a:lstStyle/>
          <a:p>
            <a:r>
              <a:rPr sz="2600" b="1">
                <a:solidFill>
                  <a:srgbClr val="1B2A4A"/>
                </a:solidFill>
              </a:rPr>
              <a:t>배경 · 목표</a:t>
            </a:r>
          </a:p>
        </p:txBody>
      </p:sp>
      <p:sp>
        <p:nvSpPr>
          <p:cNvPr id="3" name="Rectangle 2"/>
          <p:cNvSpPr/>
          <p:nvPr/>
        </p:nvSpPr>
        <p:spPr>
          <a:xfrm>
            <a:off x="530352" y="1005840"/>
            <a:ext cx="2926080" cy="38100"/>
          </a:xfrm>
          <a:prstGeom prst="rect">
            <a:avLst/>
          </a:prstGeom>
          <a:solidFill>
            <a:srgbClr val="2E6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80160"/>
            <a:ext cx="10972800" cy="5029200"/>
          </a:xfrm>
          <a:prstGeom prst="rect">
            <a:avLst/>
          </a:prstGeom>
          <a:noFill/>
        </p:spPr>
        <p:txBody>
          <a:bodyPr wrap="square">
            <a:spAutoFit/>
          </a:bodyPr>
          <a:lstStyle/>
          <a:p>
            <a:pPr>
              <a:spcAft>
                <a:spcPts val="700"/>
              </a:spcAft>
            </a:pPr>
            <a:r>
              <a:rPr sz="1700" b="1">
                <a:solidFill>
                  <a:srgbClr val="1B2A4A"/>
                </a:solidFill>
              </a:rPr>
              <a:t>ThunderAgent = program-aware KV 캐시 스케줄링 (router tr) vs naive 프록시 (default)</a:t>
            </a:r>
          </a:p>
          <a:p>
            <a:pPr lvl="1">
              <a:spcAft>
                <a:spcPts val="700"/>
              </a:spcAft>
            </a:pPr>
            <a:r>
              <a:rPr sz="1500" b="0">
                <a:solidFill>
                  <a:srgbClr val="4A4A4A"/>
                </a:solidFill>
              </a:rPr>
              <a:t>에이전트 프로그램마다 KV를 sticky하게 유지 → 용량 초과 시 pause/resume으로 스래싱 억제 (핵심 주장)</a:t>
            </a:r>
          </a:p>
          <a:p>
            <a:pPr>
              <a:spcAft>
                <a:spcPts val="700"/>
              </a:spcAft>
            </a:pPr>
            <a:r>
              <a:rPr sz="1700" b="1">
                <a:solidFill>
                  <a:srgbClr val="1B2A4A"/>
                </a:solidFill>
              </a:rPr>
              <a:t>연구 지형: 2×2 (데이터 × GPU)</a:t>
            </a:r>
          </a:p>
          <a:p>
            <a:pPr lvl="1">
              <a:spcAft>
                <a:spcPts val="700"/>
              </a:spcAft>
            </a:pPr>
            <a:r>
              <a:rPr sz="1500" b="0">
                <a:solidFill>
                  <a:srgbClr val="4A4A4A"/>
                </a:solidFill>
              </a:rPr>
              <a:t>✅ homo-homo (합성 × 2×4090) — 기존 §7·§9·§10</a:t>
            </a:r>
          </a:p>
          <a:p>
            <a:pPr lvl="1">
              <a:spcAft>
                <a:spcPts val="700"/>
              </a:spcAft>
            </a:pPr>
            <a:r>
              <a:rPr sz="1500" b="0">
                <a:solidFill>
                  <a:srgbClr val="1E7A3C"/>
                </a:solidFill>
              </a:rPr>
              <a:t>★ 이번: D(실TraceLab×2×4090) + F(합성×이종) + G(실TraceLab×이종) — 2×2 4칸 완성</a:t>
            </a:r>
          </a:p>
          <a:p>
            <a:pPr lvl="1">
              <a:spcAft>
                <a:spcPts val="700"/>
              </a:spcAft>
            </a:pPr>
            <a:r>
              <a:rPr sz="1500" b="0">
                <a:solidFill>
                  <a:srgbClr val="4A4A4A"/>
                </a:solidFill>
              </a:rPr>
              <a:t>🔸 보류(다음 미팅): C·D(SWE-bench 녹화), E(cross-node homo)</a:t>
            </a:r>
          </a:p>
          <a:p>
            <a:pPr>
              <a:spcAft>
                <a:spcPts val="700"/>
              </a:spcAft>
            </a:pPr>
            <a:r>
              <a:rPr sz="1700" b="1">
                <a:solidFill>
                  <a:srgbClr val="1B2A4A"/>
                </a:solidFill>
              </a:rPr>
              <a:t>질문: 실제 데이터·이종 GPU에서 tr의 이득이 유지되는가? 어디서 이기고 어디서 지는가?</a:t>
            </a:r>
          </a:p>
        </p:txBody>
      </p:sp>
      <p:sp>
        <p:nvSpPr>
          <p:cNvPr id="5" name="TextBox 4"/>
          <p:cNvSpPr txBox="1"/>
          <p:nvPr/>
        </p:nvSpPr>
        <p:spPr>
          <a:xfrm>
            <a:off x="640080" y="6419088"/>
            <a:ext cx="11155680" cy="365760"/>
          </a:xfrm>
          <a:prstGeom prst="rect">
            <a:avLst/>
          </a:prstGeom>
          <a:noFill/>
        </p:spPr>
        <p:txBody>
          <a:bodyPr wrap="none">
            <a:spAutoFit/>
          </a:bodyPr>
          <a:lstStyle/>
          <a:p>
            <a:r>
              <a:rPr sz="1100" i="1">
                <a:solidFill>
                  <a:srgbClr val="2E6DB4"/>
                </a:solidFill>
              </a:rPr>
              <a:t>정직·정량·인과 관점: 워크로드 특성으로 결과를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822960"/>
          </a:xfrm>
          <a:prstGeom prst="rect">
            <a:avLst/>
          </a:prstGeom>
          <a:noFill/>
        </p:spPr>
        <p:txBody>
          <a:bodyPr wrap="none">
            <a:spAutoFit/>
          </a:bodyPr>
          <a:lstStyle/>
          <a:p>
            <a:r>
              <a:rPr sz="2600" b="1">
                <a:solidFill>
                  <a:srgbClr val="1B2A4A"/>
                </a:solidFill>
              </a:rPr>
              <a:t>방법 · 셋업</a:t>
            </a:r>
          </a:p>
        </p:txBody>
      </p:sp>
      <p:sp>
        <p:nvSpPr>
          <p:cNvPr id="3" name="Rectangle 2"/>
          <p:cNvSpPr/>
          <p:nvPr/>
        </p:nvSpPr>
        <p:spPr>
          <a:xfrm>
            <a:off x="530352" y="1005840"/>
            <a:ext cx="2926080" cy="38100"/>
          </a:xfrm>
          <a:prstGeom prst="rect">
            <a:avLst/>
          </a:prstGeom>
          <a:solidFill>
            <a:srgbClr val="2E6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80160"/>
            <a:ext cx="10972800" cy="5029200"/>
          </a:xfrm>
          <a:prstGeom prst="rect">
            <a:avLst/>
          </a:prstGeom>
          <a:noFill/>
        </p:spPr>
        <p:txBody>
          <a:bodyPr wrap="square">
            <a:spAutoFit/>
          </a:bodyPr>
          <a:lstStyle/>
          <a:p>
            <a:pPr>
              <a:spcAft>
                <a:spcPts val="700"/>
              </a:spcAft>
            </a:pPr>
            <a:r>
              <a:rPr sz="1700" b="1">
                <a:solidFill>
                  <a:srgbClr val="1B2A4A"/>
                </a:solidFill>
              </a:rPr>
              <a:t>하드웨어 (KV 풀 = 실측 vLLM 로그)</a:t>
            </a:r>
          </a:p>
          <a:p>
            <a:pPr lvl="1">
              <a:spcAft>
                <a:spcPts val="700"/>
              </a:spcAft>
            </a:pPr>
            <a:r>
              <a:rPr sz="1500" b="0">
                <a:solidFill>
                  <a:srgbClr val="4A4A4A"/>
                </a:solidFill>
              </a:rPr>
              <a:t>4090: 43,888 tokens = 6.03 GiB   |   5090: 89,040 tokens = 12.23 GiB  →  2.03×</a:t>
            </a:r>
          </a:p>
          <a:p>
            <a:pPr lvl="1">
              <a:spcAft>
                <a:spcPts val="700"/>
              </a:spcAft>
            </a:pPr>
            <a:r>
              <a:rPr sz="1500" b="0">
                <a:solidFill>
                  <a:srgbClr val="4A4A4A"/>
                </a:solidFill>
              </a:rPr>
              <a:t>Qwen3-8B, KV 144 KiB/token, --max-model-len 32768, gpu-mem-util 0.92</a:t>
            </a:r>
          </a:p>
          <a:p>
            <a:pPr>
              <a:spcAft>
                <a:spcPts val="700"/>
              </a:spcAft>
            </a:pPr>
            <a:r>
              <a:rPr sz="1700" b="1">
                <a:solidFill>
                  <a:srgbClr val="1B2A4A"/>
                </a:solidFill>
              </a:rPr>
              <a:t>비교: router tr (ThunderAgent) vs default (naive 최소부하)</a:t>
            </a:r>
          </a:p>
          <a:p>
            <a:pPr>
              <a:spcAft>
                <a:spcPts val="700"/>
              </a:spcAft>
            </a:pPr>
            <a:r>
              <a:rPr sz="1700" b="1">
                <a:solidFill>
                  <a:srgbClr val="1B2A4A"/>
                </a:solidFill>
              </a:rPr>
              <a:t>워크로드</a:t>
            </a:r>
          </a:p>
          <a:p>
            <a:pPr lvl="1">
              <a:spcAft>
                <a:spcPts val="700"/>
              </a:spcAft>
            </a:pPr>
            <a:r>
              <a:rPr sz="1500" b="0">
                <a:solidFill>
                  <a:srgbClr val="4A4A4A"/>
                </a:solidFill>
              </a:rPr>
              <a:t>D: 실제 TraceLab trace (SyFI 공개, 코딩 에이전트) — fit≤32k 서브셋 982세션</a:t>
            </a:r>
          </a:p>
          <a:p>
            <a:pPr lvl="1">
              <a:spcAft>
                <a:spcPts val="700"/>
              </a:spcAft>
            </a:pPr>
            <a:r>
              <a:rPr sz="1500" b="0">
                <a:solidFill>
                  <a:srgbClr val="4A4A4A"/>
                </a:solidFill>
              </a:rPr>
              <a:t>F: 합성 KV-압박 워크로드 (§9와 동일, ctx=3000·turns=3)</a:t>
            </a:r>
          </a:p>
          <a:p>
            <a:pPr>
              <a:spcAft>
                <a:spcPts val="700"/>
              </a:spcAft>
            </a:pPr>
            <a:r>
              <a:rPr sz="1700" b="1">
                <a:solidFill>
                  <a:srgbClr val="1B2A4A"/>
                </a:solidFill>
              </a:rPr>
              <a:t>지표: throughput(prog/s), KV prefix-cache hit rate, p95 latency, 백엔드별 split·KV usage·pause</a:t>
            </a:r>
          </a:p>
          <a:p>
            <a:pPr lvl="1">
              <a:spcAft>
                <a:spcPts val="700"/>
              </a:spcAft>
            </a:pPr>
            <a:r>
              <a:rPr sz="1500" b="0">
                <a:solidFill>
                  <a:srgbClr val="4A4A4A"/>
                </a:solidFill>
              </a:rPr>
              <a:t>각 점 3회 반복 (에러바). 측정=steady-state 구간.</a:t>
            </a:r>
          </a:p>
        </p:txBody>
      </p:sp>
      <p:sp>
        <p:nvSpPr>
          <p:cNvPr id="5" name="TextBox 4"/>
          <p:cNvSpPr txBox="1"/>
          <p:nvPr/>
        </p:nvSpPr>
        <p:spPr>
          <a:xfrm>
            <a:off x="640080" y="6419088"/>
            <a:ext cx="11155680" cy="365760"/>
          </a:xfrm>
          <a:prstGeom prst="rect">
            <a:avLst/>
          </a:prstGeom>
          <a:noFill/>
        </p:spPr>
        <p:txBody>
          <a:bodyPr wrap="none">
            <a:spAutoFit/>
          </a:bodyPr>
          <a:lstStyle/>
          <a:p>
            <a:r>
              <a:rPr sz="1100" i="1">
                <a:solidFill>
                  <a:srgbClr val="2E6DB4"/>
                </a:solidFill>
              </a:rPr>
              <a:t>guardrail: router.py 로직 미수정(관측만), __init__.py 지연 import 픽스 유지.</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822960"/>
          </a:xfrm>
          <a:prstGeom prst="rect">
            <a:avLst/>
          </a:prstGeom>
          <a:noFill/>
        </p:spPr>
        <p:txBody>
          <a:bodyPr wrap="none">
            <a:spAutoFit/>
          </a:bodyPr>
          <a:lstStyle/>
          <a:p>
            <a:r>
              <a:rPr sz="2600" b="1">
                <a:solidFill>
                  <a:srgbClr val="1B2A4A"/>
                </a:solidFill>
              </a:rPr>
              <a:t>TraceLab은 무엇이 다른가 ① — 토큰 분포</a:t>
            </a:r>
          </a:p>
        </p:txBody>
      </p:sp>
      <p:sp>
        <p:nvSpPr>
          <p:cNvPr id="3" name="Rectangle 2"/>
          <p:cNvSpPr/>
          <p:nvPr/>
        </p:nvSpPr>
        <p:spPr>
          <a:xfrm>
            <a:off x="530352" y="1005840"/>
            <a:ext cx="2926080" cy="38100"/>
          </a:xfrm>
          <a:prstGeom prst="rect">
            <a:avLst/>
          </a:prstGeom>
          <a:solidFill>
            <a:srgbClr val="2E6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972800" cy="1554480"/>
          </a:xfrm>
          <a:prstGeom prst="rect">
            <a:avLst/>
          </a:prstGeom>
          <a:noFill/>
        </p:spPr>
        <p:txBody>
          <a:bodyPr wrap="square">
            <a:spAutoFit/>
          </a:bodyPr>
          <a:lstStyle/>
          <a:p>
            <a:pPr>
              <a:spcAft>
                <a:spcPts val="700"/>
              </a:spcAft>
            </a:pPr>
            <a:r>
              <a:rPr sz="1600" b="1">
                <a:solidFill>
                  <a:srgbClr val="1B2A4A"/>
                </a:solidFill>
              </a:rPr>
              <a:t>실제 코딩 에이전트 trace는 합성과 질적으로 다르다:</a:t>
            </a:r>
          </a:p>
          <a:p>
            <a:pPr lvl="1">
              <a:spcAft>
                <a:spcPts val="700"/>
              </a:spcAft>
            </a:pPr>
            <a:r>
              <a:rPr sz="1400" b="0">
                <a:solidFill>
                  <a:srgbClr val="4A4A4A"/>
                </a:solidFill>
              </a:rPr>
              <a:t>input/turn: median 18,275 (p95 29k) vs 합성 ~14,558 균일 → 크고 가변적</a:t>
            </a:r>
          </a:p>
          <a:p>
            <a:pPr lvl="1">
              <a:spcAft>
                <a:spcPts val="700"/>
              </a:spcAft>
            </a:pPr>
            <a:r>
              <a:rPr sz="1400" b="0">
                <a:solidFill>
                  <a:srgbClr val="4A4A4A"/>
                </a:solidFill>
              </a:rPr>
              <a:t>output/turn: median 144 (max 14,641) vs 합성 ~28.6 고정 → prefill-heavy, 꼬리 큼</a:t>
            </a:r>
          </a:p>
        </p:txBody>
      </p:sp>
      <p:pic>
        <p:nvPicPr>
          <p:cNvPr id="5" name="Picture 4" descr="char_tracelab_tokens.png"/>
          <p:cNvPicPr>
            <a:picLocks noChangeAspect="1"/>
          </p:cNvPicPr>
          <p:nvPr/>
        </p:nvPicPr>
        <p:blipFill>
          <a:blip r:embed="rId2"/>
          <a:stretch>
            <a:fillRect/>
          </a:stretch>
        </p:blipFill>
        <p:spPr>
          <a:xfrm>
            <a:off x="1051560" y="2788920"/>
            <a:ext cx="10058400" cy="4023360"/>
          </a:xfrm>
          <a:prstGeom prst="rect">
            <a:avLst/>
          </a:prstGeom>
        </p:spPr>
      </p:pic>
      <p:sp>
        <p:nvSpPr>
          <p:cNvPr id="6" name="TextBox 5"/>
          <p:cNvSpPr txBox="1"/>
          <p:nvPr/>
        </p:nvSpPr>
        <p:spPr>
          <a:xfrm>
            <a:off x="1051560" y="6080760"/>
            <a:ext cx="10058400" cy="320040"/>
          </a:xfrm>
          <a:prstGeom prst="rect">
            <a:avLst/>
          </a:prstGeom>
          <a:noFill/>
        </p:spPr>
        <p:txBody>
          <a:bodyPr wrap="none">
            <a:spAutoFit/>
          </a:bodyPr>
          <a:lstStyle/>
          <a:p>
            <a:pPr algn="ctr"/>
            <a:r>
              <a:rPr sz="1100" b="1">
                <a:solidFill>
                  <a:srgbClr val="1B2A4A"/>
                </a:solidFill>
              </a:rPr>
              <a:t>input/output 토큰 분포 (빨간 점선 = homo-homo 합성 기준)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822960"/>
          </a:xfrm>
          <a:prstGeom prst="rect">
            <a:avLst/>
          </a:prstGeom>
          <a:noFill/>
        </p:spPr>
        <p:txBody>
          <a:bodyPr wrap="none">
            <a:spAutoFit/>
          </a:bodyPr>
          <a:lstStyle/>
          <a:p>
            <a:r>
              <a:rPr sz="2600" b="1">
                <a:solidFill>
                  <a:srgbClr val="1B2A4A"/>
                </a:solidFill>
              </a:rPr>
              <a:t>TraceLab은 무엇이 다른가 ② — lifetime · turn 분해</a:t>
            </a:r>
          </a:p>
        </p:txBody>
      </p:sp>
      <p:sp>
        <p:nvSpPr>
          <p:cNvPr id="3" name="Rectangle 2"/>
          <p:cNvSpPr/>
          <p:nvPr/>
        </p:nvSpPr>
        <p:spPr>
          <a:xfrm>
            <a:off x="530352" y="1005840"/>
            <a:ext cx="2926080" cy="38100"/>
          </a:xfrm>
          <a:prstGeom prst="rect">
            <a:avLst/>
          </a:prstGeom>
          <a:solidFill>
            <a:srgbClr val="2E6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972800" cy="1188720"/>
          </a:xfrm>
          <a:prstGeom prst="rect">
            <a:avLst/>
          </a:prstGeom>
          <a:noFill/>
        </p:spPr>
        <p:txBody>
          <a:bodyPr wrap="square">
            <a:spAutoFit/>
          </a:bodyPr>
          <a:lstStyle/>
          <a:p>
            <a:pPr>
              <a:spcAft>
                <a:spcPts val="700"/>
              </a:spcAft>
            </a:pPr>
            <a:r>
              <a:rPr sz="1600" b="1">
                <a:solidFill>
                  <a:srgbClr val="1B2A4A"/>
                </a:solidFill>
              </a:rPr>
              <a:t>prefill-heavy + KV locality: turn0만 cold prefill 1.89s, 이후 warm 0.40s (§10과 동일 패턴)</a:t>
            </a:r>
          </a:p>
          <a:p>
            <a:pPr lvl="1">
              <a:spcAft>
                <a:spcPts val="700"/>
              </a:spcAft>
            </a:pPr>
            <a:r>
              <a:rPr sz="1400" b="0">
                <a:solidFill>
                  <a:srgbClr val="4A4A4A"/>
                </a:solidFill>
              </a:rPr>
              <a:t>프로그램 lifetime median 34.6s (c=1). tool 시간이 실제로 큼 (median 0.05s, p95 30s).</a:t>
            </a:r>
          </a:p>
        </p:txBody>
      </p:sp>
      <p:pic>
        <p:nvPicPr>
          <p:cNvPr id="5" name="Picture 4" descr="char_tracelab_lifetime.png"/>
          <p:cNvPicPr>
            <a:picLocks noChangeAspect="1"/>
          </p:cNvPicPr>
          <p:nvPr/>
        </p:nvPicPr>
        <p:blipFill>
          <a:blip r:embed="rId2"/>
          <a:stretch>
            <a:fillRect/>
          </a:stretch>
        </p:blipFill>
        <p:spPr>
          <a:xfrm>
            <a:off x="457200" y="2606040"/>
            <a:ext cx="5669280" cy="3401568"/>
          </a:xfrm>
          <a:prstGeom prst="rect">
            <a:avLst/>
          </a:prstGeom>
        </p:spPr>
      </p:pic>
      <p:sp>
        <p:nvSpPr>
          <p:cNvPr id="6" name="TextBox 5"/>
          <p:cNvSpPr txBox="1"/>
          <p:nvPr/>
        </p:nvSpPr>
        <p:spPr>
          <a:xfrm>
            <a:off x="457200" y="6126480"/>
            <a:ext cx="5669280" cy="320040"/>
          </a:xfrm>
          <a:prstGeom prst="rect">
            <a:avLst/>
          </a:prstGeom>
          <a:noFill/>
        </p:spPr>
        <p:txBody>
          <a:bodyPr wrap="none">
            <a:spAutoFit/>
          </a:bodyPr>
          <a:lstStyle/>
          <a:p>
            <a:pPr algn="ctr"/>
            <a:r>
              <a:rPr sz="1100" b="1">
                <a:solidFill>
                  <a:srgbClr val="1B2A4A"/>
                </a:solidFill>
              </a:rPr>
              <a:t>프로그램 lifetime 분포</a:t>
            </a:r>
          </a:p>
        </p:txBody>
      </p:sp>
      <p:pic>
        <p:nvPicPr>
          <p:cNvPr id="7" name="Picture 6" descr="char_tracelab_turn_breakdown.png"/>
          <p:cNvPicPr>
            <a:picLocks noChangeAspect="1"/>
          </p:cNvPicPr>
          <p:nvPr/>
        </p:nvPicPr>
        <p:blipFill>
          <a:blip r:embed="rId3"/>
          <a:stretch>
            <a:fillRect/>
          </a:stretch>
        </p:blipFill>
        <p:spPr>
          <a:xfrm>
            <a:off x="6355080" y="2514600"/>
            <a:ext cx="5486400" cy="3218688"/>
          </a:xfrm>
          <a:prstGeom prst="rect">
            <a:avLst/>
          </a:prstGeom>
        </p:spPr>
      </p:pic>
      <p:sp>
        <p:nvSpPr>
          <p:cNvPr id="8" name="TextBox 7"/>
          <p:cNvSpPr txBox="1"/>
          <p:nvPr/>
        </p:nvSpPr>
        <p:spPr>
          <a:xfrm>
            <a:off x="6355080" y="6126480"/>
            <a:ext cx="5486400" cy="320040"/>
          </a:xfrm>
          <a:prstGeom prst="rect">
            <a:avLst/>
          </a:prstGeom>
          <a:noFill/>
        </p:spPr>
        <p:txBody>
          <a:bodyPr wrap="none">
            <a:spAutoFit/>
          </a:bodyPr>
          <a:lstStyle/>
          <a:p>
            <a:pPr algn="ctr"/>
            <a:r>
              <a:rPr sz="1100" b="1">
                <a:solidFill>
                  <a:srgbClr val="1B2A4A"/>
                </a:solidFill>
              </a:rPr>
              <a:t>turn별 prefill/decode/tool (c=1)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822960"/>
          </a:xfrm>
          <a:prstGeom prst="rect">
            <a:avLst/>
          </a:prstGeom>
          <a:noFill/>
        </p:spPr>
        <p:txBody>
          <a:bodyPr wrap="none">
            <a:spAutoFit/>
          </a:bodyPr>
          <a:lstStyle/>
          <a:p>
            <a:r>
              <a:rPr sz="2600" b="1">
                <a:solidFill>
                  <a:srgbClr val="1B2A4A"/>
                </a:solidFill>
              </a:rPr>
              <a:t>TraceLab은 무엇이 다른가 ③ — KV 필요량 (D 결과의 원인)</a:t>
            </a:r>
          </a:p>
        </p:txBody>
      </p:sp>
      <p:sp>
        <p:nvSpPr>
          <p:cNvPr id="3" name="Rectangle 2"/>
          <p:cNvSpPr/>
          <p:nvPr/>
        </p:nvSpPr>
        <p:spPr>
          <a:xfrm>
            <a:off x="530352" y="1005840"/>
            <a:ext cx="2926080" cy="38100"/>
          </a:xfrm>
          <a:prstGeom prst="rect">
            <a:avLst/>
          </a:prstGeom>
          <a:solidFill>
            <a:srgbClr val="2E6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972800" cy="1554480"/>
          </a:xfrm>
          <a:prstGeom prst="rect">
            <a:avLst/>
          </a:prstGeom>
          <a:noFill/>
        </p:spPr>
        <p:txBody>
          <a:bodyPr wrap="square">
            <a:spAutoFit/>
          </a:bodyPr>
          <a:lstStyle/>
          <a:p>
            <a:pPr>
              <a:spcAft>
                <a:spcPts val="700"/>
              </a:spcAft>
            </a:pPr>
            <a:r>
              <a:rPr sz="1600" b="1">
                <a:solidFill>
                  <a:srgbClr val="1B2A4A"/>
                </a:solidFill>
              </a:rPr>
              <a:t>프로그램 1개 peak KV = median 2.87 GiB (p95 4.35) — 합성 2.01 GiB보다 크고 가변</a:t>
            </a:r>
          </a:p>
          <a:p>
            <a:pPr lvl="1">
              <a:spcAft>
                <a:spcPts val="700"/>
              </a:spcAft>
            </a:pPr>
            <a:r>
              <a:rPr sz="1400" b="0">
                <a:solidFill>
                  <a:srgbClr val="B12A2A"/>
                </a:solidFill>
              </a:rPr>
              <a:t>→ 4090 풀(6.03 GiB)에 ~2.1개, 5090(12.23)에 ~4.3개만 동시 적재</a:t>
            </a:r>
          </a:p>
          <a:p>
            <a:pPr lvl="1">
              <a:spcAft>
                <a:spcPts val="700"/>
              </a:spcAft>
            </a:pPr>
            <a:r>
              <a:rPr sz="1400" b="0">
                <a:solidFill>
                  <a:srgbClr val="1B2A4A"/>
                </a:solidFill>
              </a:rPr>
              <a:t>이 '프로그램이 KV에 육박' 사실이 D·F 결과를 지배한다 (다음 슬라이드).</a:t>
            </a:r>
          </a:p>
        </p:txBody>
      </p:sp>
      <p:pic>
        <p:nvPicPr>
          <p:cNvPr id="5" name="Picture 4" descr="char_tracelab_kv.png"/>
          <p:cNvPicPr>
            <a:picLocks noChangeAspect="1"/>
          </p:cNvPicPr>
          <p:nvPr/>
        </p:nvPicPr>
        <p:blipFill>
          <a:blip r:embed="rId2"/>
          <a:stretch>
            <a:fillRect/>
          </a:stretch>
        </p:blipFill>
        <p:spPr>
          <a:xfrm>
            <a:off x="3291840" y="2514600"/>
            <a:ext cx="5600700" cy="3520440"/>
          </a:xfrm>
          <a:prstGeom prst="rect">
            <a:avLst/>
          </a:prstGeom>
        </p:spPr>
      </p:pic>
      <p:sp>
        <p:nvSpPr>
          <p:cNvPr id="6" name="TextBox 5"/>
          <p:cNvSpPr txBox="1"/>
          <p:nvPr/>
        </p:nvSpPr>
        <p:spPr>
          <a:xfrm>
            <a:off x="3063240" y="6080760"/>
            <a:ext cx="6035040" cy="320040"/>
          </a:xfrm>
          <a:prstGeom prst="rect">
            <a:avLst/>
          </a:prstGeom>
          <a:noFill/>
        </p:spPr>
        <p:txBody>
          <a:bodyPr wrap="none">
            <a:spAutoFit/>
          </a:bodyPr>
          <a:lstStyle/>
          <a:p>
            <a:pPr algn="ctr"/>
            <a:r>
              <a:rPr sz="1100" b="1">
                <a:solidFill>
                  <a:srgbClr val="1B2A4A"/>
                </a:solidFill>
              </a:rPr>
              <a:t>프로그램별 peak KV vs 4090/5090 풀 (수직선)</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822960"/>
          </a:xfrm>
          <a:prstGeom prst="rect">
            <a:avLst/>
          </a:prstGeom>
          <a:noFill/>
        </p:spPr>
        <p:txBody>
          <a:bodyPr wrap="none">
            <a:spAutoFit/>
          </a:bodyPr>
          <a:lstStyle/>
          <a:p>
            <a:r>
              <a:rPr sz="2600" b="1">
                <a:solidFill>
                  <a:srgbClr val="1B2A4A"/>
                </a:solidFill>
              </a:rPr>
              <a:t>D 결과 ① — KV hit rate: tr이 캐시를 지킨다 (실데이터 재현)</a:t>
            </a:r>
          </a:p>
        </p:txBody>
      </p:sp>
      <p:sp>
        <p:nvSpPr>
          <p:cNvPr id="3" name="Rectangle 2"/>
          <p:cNvSpPr/>
          <p:nvPr/>
        </p:nvSpPr>
        <p:spPr>
          <a:xfrm>
            <a:off x="530352" y="1005840"/>
            <a:ext cx="2926080" cy="38100"/>
          </a:xfrm>
          <a:prstGeom prst="rect">
            <a:avLst/>
          </a:prstGeom>
          <a:solidFill>
            <a:srgbClr val="2E6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34440"/>
            <a:ext cx="4937760" cy="1463040"/>
          </a:xfrm>
          <a:prstGeom prst="rect">
            <a:avLst/>
          </a:prstGeom>
          <a:noFill/>
        </p:spPr>
        <p:txBody>
          <a:bodyPr wrap="square">
            <a:spAutoFit/>
          </a:bodyPr>
          <a:lstStyle/>
          <a:p>
            <a:pPr>
              <a:spcAft>
                <a:spcPts val="700"/>
              </a:spcAft>
            </a:pPr>
            <a:r>
              <a:rPr sz="1500" b="1">
                <a:solidFill>
                  <a:srgbClr val="1B2A4A"/>
                </a:solidFill>
              </a:rPr>
              <a:t>실제 TraceLab × 2×4090</a:t>
            </a:r>
          </a:p>
          <a:p>
            <a:pPr lvl="1">
              <a:spcAft>
                <a:spcPts val="700"/>
              </a:spcAft>
            </a:pPr>
            <a:r>
              <a:rPr sz="1300" b="0">
                <a:solidFill>
                  <a:srgbClr val="1B2A4A"/>
                </a:solidFill>
              </a:rPr>
              <a:t>tr: 0.77~0.80 부하 무관 유지  |  default: 0.82 → 0.026 붕괴</a:t>
            </a:r>
          </a:p>
          <a:p>
            <a:pPr lvl="1">
              <a:spcAft>
                <a:spcPts val="700"/>
              </a:spcAft>
            </a:pPr>
            <a:r>
              <a:rPr sz="1300" b="0">
                <a:solidFill>
                  <a:srgbClr val="1E7A3C"/>
                </a:solidFill>
              </a:rPr>
              <a:t>c=48에서 30× 차이 → 스래싱 억제 실데이터 재현</a:t>
            </a:r>
          </a:p>
        </p:txBody>
      </p:sp>
      <p:graphicFrame>
        <p:nvGraphicFramePr>
          <p:cNvPr id="5" name="Table 4"/>
          <p:cNvGraphicFramePr>
            <a:graphicFrameLocks noGrp="1"/>
          </p:cNvGraphicFramePr>
          <p:nvPr/>
        </p:nvGraphicFramePr>
        <p:xfrm>
          <a:off x="640080" y="2788920"/>
          <a:ext cx="4206240" cy="1920240"/>
        </p:xfrm>
        <a:graphic>
          <a:graphicData uri="http://schemas.openxmlformats.org/drawingml/2006/table">
            <a:tbl>
              <a:tblPr>
                <a:tableStyleId>{5C22544A-7EE6-4342-B048-85BDC9FD1C3A}</a:tableStyleId>
              </a:tblPr>
              <a:tblGrid>
                <a:gridCol w="1097280"/>
                <a:gridCol w="1554480"/>
                <a:gridCol w="1554480"/>
              </a:tblGrid>
              <a:tr h="274320">
                <a:tc>
                  <a:txBody>
                    <a:bodyPr/>
                    <a:lstStyle/>
                    <a:p>
                      <a:pPr algn="ctr"/>
                      <a:r>
                        <a:rPr sz="1200" b="1">
                          <a:solidFill>
                            <a:srgbClr val="FFFFFF"/>
                          </a:solidFill>
                        </a:rPr>
                        <a:t>C</a:t>
                      </a:r>
                    </a:p>
                  </a:txBody>
                  <a:tcPr marT="12700" marB="12700">
                    <a:solidFill>
                      <a:srgbClr val="1B2A4A"/>
                    </a:solidFill>
                  </a:tcPr>
                </a:tc>
                <a:tc>
                  <a:txBody>
                    <a:bodyPr/>
                    <a:lstStyle/>
                    <a:p>
                      <a:pPr algn="ctr"/>
                      <a:r>
                        <a:rPr sz="1200" b="1">
                          <a:solidFill>
                            <a:srgbClr val="FFFFFF"/>
                          </a:solidFill>
                        </a:rPr>
                        <a:t>tr hit</a:t>
                      </a:r>
                    </a:p>
                  </a:txBody>
                  <a:tcPr marT="12700" marB="12700">
                    <a:solidFill>
                      <a:srgbClr val="1B2A4A"/>
                    </a:solidFill>
                  </a:tcPr>
                </a:tc>
                <a:tc>
                  <a:txBody>
                    <a:bodyPr/>
                    <a:lstStyle/>
                    <a:p>
                      <a:pPr algn="ctr"/>
                      <a:r>
                        <a:rPr sz="1200" b="1">
                          <a:solidFill>
                            <a:srgbClr val="FFFFFF"/>
                          </a:solidFill>
                        </a:rPr>
                        <a:t>default hit</a:t>
                      </a:r>
                    </a:p>
                  </a:txBody>
                  <a:tcPr marT="12700" marB="12700">
                    <a:solidFill>
                      <a:srgbClr val="1B2A4A"/>
                    </a:solidFill>
                  </a:tcPr>
                </a:tc>
              </a:tr>
              <a:tr h="274320">
                <a:tc>
                  <a:txBody>
                    <a:bodyPr/>
                    <a:lstStyle/>
                    <a:p>
                      <a:pPr algn="ctr"/>
                      <a:r>
                        <a:rPr sz="1200" b="0">
                          <a:solidFill>
                            <a:srgbClr val="1B2A4A"/>
                          </a:solidFill>
                        </a:rPr>
                        <a:t>2</a:t>
                      </a:r>
                    </a:p>
                  </a:txBody>
                  <a:tcPr marT="12700" marB="12700">
                    <a:solidFill>
                      <a:srgbClr val="FFFFFF"/>
                    </a:solidFill>
                  </a:tcPr>
                </a:tc>
                <a:tc>
                  <a:txBody>
                    <a:bodyPr/>
                    <a:lstStyle/>
                    <a:p>
                      <a:pPr algn="ctr"/>
                      <a:r>
                        <a:rPr sz="1200" b="0">
                          <a:solidFill>
                            <a:srgbClr val="1B2A4A"/>
                          </a:solidFill>
                        </a:rPr>
                        <a:t>0.823</a:t>
                      </a:r>
                    </a:p>
                  </a:txBody>
                  <a:tcPr marT="12700" marB="12700">
                    <a:solidFill>
                      <a:srgbClr val="FFFFFF"/>
                    </a:solidFill>
                  </a:tcPr>
                </a:tc>
                <a:tc>
                  <a:txBody>
                    <a:bodyPr/>
                    <a:lstStyle/>
                    <a:p>
                      <a:pPr algn="ctr"/>
                      <a:r>
                        <a:rPr sz="1200" b="0">
                          <a:solidFill>
                            <a:srgbClr val="1B2A4A"/>
                          </a:solidFill>
                        </a:rPr>
                        <a:t>0.823</a:t>
                      </a:r>
                    </a:p>
                  </a:txBody>
                  <a:tcPr marT="12700" marB="12700">
                    <a:solidFill>
                      <a:srgbClr val="FFFFFF"/>
                    </a:solidFill>
                  </a:tcPr>
                </a:tc>
              </a:tr>
              <a:tr h="274320">
                <a:tc>
                  <a:txBody>
                    <a:bodyPr/>
                    <a:lstStyle/>
                    <a:p>
                      <a:pPr algn="ctr"/>
                      <a:r>
                        <a:rPr sz="1200" b="0">
                          <a:solidFill>
                            <a:srgbClr val="1B2A4A"/>
                          </a:solidFill>
                        </a:rPr>
                        <a:t>4</a:t>
                      </a:r>
                    </a:p>
                  </a:txBody>
                  <a:tcPr marT="12700" marB="12700">
                    <a:solidFill>
                      <a:srgbClr val="FFFFFF"/>
                    </a:solidFill>
                  </a:tcPr>
                </a:tc>
                <a:tc>
                  <a:txBody>
                    <a:bodyPr/>
                    <a:lstStyle/>
                    <a:p>
                      <a:pPr algn="ctr"/>
                      <a:r>
                        <a:rPr sz="1200" b="0">
                          <a:solidFill>
                            <a:srgbClr val="1B2A4A"/>
                          </a:solidFill>
                        </a:rPr>
                        <a:t>0.786</a:t>
                      </a:r>
                    </a:p>
                  </a:txBody>
                  <a:tcPr marT="12700" marB="12700">
                    <a:solidFill>
                      <a:srgbClr val="FFFFFF"/>
                    </a:solidFill>
                  </a:tcPr>
                </a:tc>
                <a:tc>
                  <a:txBody>
                    <a:bodyPr/>
                    <a:lstStyle/>
                    <a:p>
                      <a:pPr algn="ctr"/>
                      <a:r>
                        <a:rPr sz="1200" b="0">
                          <a:solidFill>
                            <a:srgbClr val="1B2A4A"/>
                          </a:solidFill>
                        </a:rPr>
                        <a:t>0.611</a:t>
                      </a:r>
                    </a:p>
                  </a:txBody>
                  <a:tcPr marT="12700" marB="12700">
                    <a:solidFill>
                      <a:srgbClr val="FFFFFF"/>
                    </a:solidFill>
                  </a:tcPr>
                </a:tc>
              </a:tr>
              <a:tr h="274320">
                <a:tc>
                  <a:txBody>
                    <a:bodyPr/>
                    <a:lstStyle/>
                    <a:p>
                      <a:pPr algn="ctr"/>
                      <a:r>
                        <a:rPr sz="1200" b="0">
                          <a:solidFill>
                            <a:srgbClr val="1B2A4A"/>
                          </a:solidFill>
                        </a:rPr>
                        <a:t>8</a:t>
                      </a:r>
                    </a:p>
                  </a:txBody>
                  <a:tcPr marT="12700" marB="12700">
                    <a:solidFill>
                      <a:srgbClr val="FFFFFF"/>
                    </a:solidFill>
                  </a:tcPr>
                </a:tc>
                <a:tc>
                  <a:txBody>
                    <a:bodyPr/>
                    <a:lstStyle/>
                    <a:p>
                      <a:pPr algn="ctr"/>
                      <a:r>
                        <a:rPr sz="1200" b="0">
                          <a:solidFill>
                            <a:srgbClr val="1B2A4A"/>
                          </a:solidFill>
                        </a:rPr>
                        <a:t>0.800</a:t>
                      </a:r>
                    </a:p>
                  </a:txBody>
                  <a:tcPr marT="12700" marB="12700">
                    <a:solidFill>
                      <a:srgbClr val="FFFFFF"/>
                    </a:solidFill>
                  </a:tcPr>
                </a:tc>
                <a:tc>
                  <a:txBody>
                    <a:bodyPr/>
                    <a:lstStyle/>
                    <a:p>
                      <a:pPr algn="ctr"/>
                      <a:r>
                        <a:rPr sz="1200" b="0">
                          <a:solidFill>
                            <a:srgbClr val="1B2A4A"/>
                          </a:solidFill>
                        </a:rPr>
                        <a:t>0.210</a:t>
                      </a:r>
                    </a:p>
                  </a:txBody>
                  <a:tcPr marT="12700" marB="12700">
                    <a:solidFill>
                      <a:srgbClr val="FFFFFF"/>
                    </a:solidFill>
                  </a:tcPr>
                </a:tc>
              </a:tr>
              <a:tr h="274320">
                <a:tc>
                  <a:txBody>
                    <a:bodyPr/>
                    <a:lstStyle/>
                    <a:p>
                      <a:pPr algn="ctr"/>
                      <a:r>
                        <a:rPr sz="1200" b="0">
                          <a:solidFill>
                            <a:srgbClr val="1B2A4A"/>
                          </a:solidFill>
                        </a:rPr>
                        <a:t>16</a:t>
                      </a:r>
                    </a:p>
                  </a:txBody>
                  <a:tcPr marT="12700" marB="12700">
                    <a:solidFill>
                      <a:srgbClr val="FFFFFF"/>
                    </a:solidFill>
                  </a:tcPr>
                </a:tc>
                <a:tc>
                  <a:txBody>
                    <a:bodyPr/>
                    <a:lstStyle/>
                    <a:p>
                      <a:pPr algn="ctr"/>
                      <a:r>
                        <a:rPr sz="1200" b="0">
                          <a:solidFill>
                            <a:srgbClr val="1B2A4A"/>
                          </a:solidFill>
                        </a:rPr>
                        <a:t>0.799</a:t>
                      </a:r>
                    </a:p>
                  </a:txBody>
                  <a:tcPr marT="12700" marB="12700">
                    <a:solidFill>
                      <a:srgbClr val="FFFFFF"/>
                    </a:solidFill>
                  </a:tcPr>
                </a:tc>
                <a:tc>
                  <a:txBody>
                    <a:bodyPr/>
                    <a:lstStyle/>
                    <a:p>
                      <a:pPr algn="ctr"/>
                      <a:r>
                        <a:rPr sz="1200" b="1">
                          <a:solidFill>
                            <a:srgbClr val="B12A2A"/>
                          </a:solidFill>
                        </a:rPr>
                        <a:t>0.047</a:t>
                      </a:r>
                    </a:p>
                  </a:txBody>
                  <a:tcPr marT="12700" marB="12700">
                    <a:solidFill>
                      <a:srgbClr val="FFFFFF"/>
                    </a:solidFill>
                  </a:tcPr>
                </a:tc>
              </a:tr>
              <a:tr h="274320">
                <a:tc>
                  <a:txBody>
                    <a:bodyPr/>
                    <a:lstStyle/>
                    <a:p>
                      <a:pPr algn="ctr"/>
                      <a:r>
                        <a:rPr sz="1200" b="0">
                          <a:solidFill>
                            <a:srgbClr val="1B2A4A"/>
                          </a:solidFill>
                        </a:rPr>
                        <a:t>32</a:t>
                      </a:r>
                    </a:p>
                  </a:txBody>
                  <a:tcPr marT="12700" marB="12700">
                    <a:solidFill>
                      <a:srgbClr val="FFFFFF"/>
                    </a:solidFill>
                  </a:tcPr>
                </a:tc>
                <a:tc>
                  <a:txBody>
                    <a:bodyPr/>
                    <a:lstStyle/>
                    <a:p>
                      <a:pPr algn="ctr"/>
                      <a:r>
                        <a:rPr sz="1200" b="0">
                          <a:solidFill>
                            <a:srgbClr val="1B2A4A"/>
                          </a:solidFill>
                        </a:rPr>
                        <a:t>0.774</a:t>
                      </a:r>
                    </a:p>
                  </a:txBody>
                  <a:tcPr marT="12700" marB="12700">
                    <a:solidFill>
                      <a:srgbClr val="FFFFFF"/>
                    </a:solidFill>
                  </a:tcPr>
                </a:tc>
                <a:tc>
                  <a:txBody>
                    <a:bodyPr/>
                    <a:lstStyle/>
                    <a:p>
                      <a:pPr algn="ctr"/>
                      <a:r>
                        <a:rPr sz="1200" b="1">
                          <a:solidFill>
                            <a:srgbClr val="B12A2A"/>
                          </a:solidFill>
                        </a:rPr>
                        <a:t>0.032</a:t>
                      </a:r>
                    </a:p>
                  </a:txBody>
                  <a:tcPr marT="12700" marB="12700">
                    <a:solidFill>
                      <a:srgbClr val="FFFFFF"/>
                    </a:solidFill>
                  </a:tcPr>
                </a:tc>
              </a:tr>
              <a:tr h="274320">
                <a:tc>
                  <a:txBody>
                    <a:bodyPr/>
                    <a:lstStyle/>
                    <a:p>
                      <a:pPr algn="ctr"/>
                      <a:r>
                        <a:rPr sz="1200" b="0">
                          <a:solidFill>
                            <a:srgbClr val="1B2A4A"/>
                          </a:solidFill>
                        </a:rPr>
                        <a:t>48</a:t>
                      </a:r>
                    </a:p>
                  </a:txBody>
                  <a:tcPr marT="12700" marB="12700">
                    <a:solidFill>
                      <a:srgbClr val="FFFFFF"/>
                    </a:solidFill>
                  </a:tcPr>
                </a:tc>
                <a:tc>
                  <a:txBody>
                    <a:bodyPr/>
                    <a:lstStyle/>
                    <a:p>
                      <a:pPr algn="ctr"/>
                      <a:r>
                        <a:rPr sz="1200" b="0">
                          <a:solidFill>
                            <a:srgbClr val="1B2A4A"/>
                          </a:solidFill>
                        </a:rPr>
                        <a:t>0.772</a:t>
                      </a:r>
                    </a:p>
                  </a:txBody>
                  <a:tcPr marT="12700" marB="12700">
                    <a:solidFill>
                      <a:srgbClr val="FFFFFF"/>
                    </a:solidFill>
                  </a:tcPr>
                </a:tc>
                <a:tc>
                  <a:txBody>
                    <a:bodyPr/>
                    <a:lstStyle/>
                    <a:p>
                      <a:pPr algn="ctr"/>
                      <a:r>
                        <a:rPr sz="1200" b="1">
                          <a:solidFill>
                            <a:srgbClr val="B12A2A"/>
                          </a:solidFill>
                        </a:rPr>
                        <a:t>0.026</a:t>
                      </a:r>
                    </a:p>
                  </a:txBody>
                  <a:tcPr marT="12700" marB="12700">
                    <a:solidFill>
                      <a:srgbClr val="FFFFFF"/>
                    </a:solidFill>
                  </a:tcPr>
                </a:tc>
              </a:tr>
            </a:tbl>
          </a:graphicData>
        </a:graphic>
      </p:graphicFrame>
      <p:sp>
        <p:nvSpPr>
          <p:cNvPr id="6" name="TextBox 5"/>
          <p:cNvSpPr txBox="1"/>
          <p:nvPr/>
        </p:nvSpPr>
        <p:spPr>
          <a:xfrm>
            <a:off x="640080" y="4846320"/>
            <a:ext cx="4206240" cy="320040"/>
          </a:xfrm>
          <a:prstGeom prst="rect">
            <a:avLst/>
          </a:prstGeom>
          <a:noFill/>
        </p:spPr>
        <p:txBody>
          <a:bodyPr wrap="none">
            <a:spAutoFit/>
          </a:bodyPr>
          <a:lstStyle/>
          <a:p>
            <a:pPr algn="ctr"/>
            <a:r>
              <a:rPr sz="1100" b="1">
                <a:solidFill>
                  <a:srgbClr val="1B2A4A"/>
                </a:solidFill>
              </a:rPr>
              <a:t>KV hit rate, C=2~48 (3회 평균)</a:t>
            </a:r>
          </a:p>
        </p:txBody>
      </p:sp>
      <p:pic>
        <p:nvPicPr>
          <p:cNvPr id="7" name="Picture 6" descr="hetero_homo_tracelab_hit_rate.png"/>
          <p:cNvPicPr>
            <a:picLocks noChangeAspect="1"/>
          </p:cNvPicPr>
          <p:nvPr/>
        </p:nvPicPr>
        <p:blipFill>
          <a:blip r:embed="rId2"/>
          <a:stretch>
            <a:fillRect/>
          </a:stretch>
        </p:blipFill>
        <p:spPr>
          <a:xfrm>
            <a:off x="5394960" y="1600200"/>
            <a:ext cx="6492240" cy="4397969"/>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822960"/>
          </a:xfrm>
          <a:prstGeom prst="rect">
            <a:avLst/>
          </a:prstGeom>
          <a:noFill/>
        </p:spPr>
        <p:txBody>
          <a:bodyPr wrap="none">
            <a:spAutoFit/>
          </a:bodyPr>
          <a:lstStyle/>
          <a:p>
            <a:r>
              <a:rPr sz="2600" b="1">
                <a:solidFill>
                  <a:srgbClr val="1B2A4A"/>
                </a:solidFill>
              </a:rPr>
              <a:t>D 결과 ② — 반전: throughput·p95는 tr이 불리</a:t>
            </a:r>
          </a:p>
        </p:txBody>
      </p:sp>
      <p:sp>
        <p:nvSpPr>
          <p:cNvPr id="3" name="Rectangle 2"/>
          <p:cNvSpPr/>
          <p:nvPr/>
        </p:nvSpPr>
        <p:spPr>
          <a:xfrm>
            <a:off x="530352" y="1005840"/>
            <a:ext cx="2926080" cy="38100"/>
          </a:xfrm>
          <a:prstGeom prst="rect">
            <a:avLst/>
          </a:prstGeom>
          <a:solidFill>
            <a:srgbClr val="2E6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34440"/>
            <a:ext cx="5577840" cy="1737360"/>
          </a:xfrm>
          <a:prstGeom prst="rect">
            <a:avLst/>
          </a:prstGeom>
          <a:noFill/>
        </p:spPr>
        <p:txBody>
          <a:bodyPr wrap="square">
            <a:spAutoFit/>
          </a:bodyPr>
          <a:lstStyle/>
          <a:p>
            <a:pPr>
              <a:spcAft>
                <a:spcPts val="700"/>
              </a:spcAft>
            </a:pPr>
            <a:r>
              <a:rPr sz="1400" b="1">
                <a:solidFill>
                  <a:srgbClr val="1B2A4A"/>
                </a:solidFill>
              </a:rPr>
              <a:t>같은 실험인데 throughput/latency는 default가 더 좋다 (반전):</a:t>
            </a:r>
          </a:p>
          <a:p>
            <a:pPr lvl="1">
              <a:spcAft>
                <a:spcPts val="700"/>
              </a:spcAft>
            </a:pPr>
            <a:r>
              <a:rPr sz="1200" b="0">
                <a:solidFill>
                  <a:srgbClr val="1B2A4A"/>
                </a:solidFill>
              </a:rPr>
              <a:t>원인=슬6: 프로그램이 4090 KV에 육박(~2개). tr은 초과분 pause→병렬성 희생, default는 스래싱하며 다 돌림</a:t>
            </a:r>
          </a:p>
          <a:p>
            <a:pPr>
              <a:spcAft>
                <a:spcPts val="700"/>
              </a:spcAft>
            </a:pPr>
            <a:r>
              <a:rPr sz="1400" b="1">
                <a:solidFill>
                  <a:srgbClr val="1B2A4A"/>
                </a:solidFill>
              </a:rPr>
              <a:t>합성 §9(tr +57%)와 정반대 → tr 이득은 '프로그램/KV 비율'에 좌우됨.</a:t>
            </a:r>
          </a:p>
        </p:txBody>
      </p:sp>
      <p:graphicFrame>
        <p:nvGraphicFramePr>
          <p:cNvPr id="5" name="Table 4"/>
          <p:cNvGraphicFramePr>
            <a:graphicFrameLocks noGrp="1"/>
          </p:cNvGraphicFramePr>
          <p:nvPr/>
        </p:nvGraphicFramePr>
        <p:xfrm>
          <a:off x="502920" y="2971800"/>
          <a:ext cx="5669280" cy="1920240"/>
        </p:xfrm>
        <a:graphic>
          <a:graphicData uri="http://schemas.openxmlformats.org/drawingml/2006/table">
            <a:tbl>
              <a:tblPr>
                <a:tableStyleId>{5C22544A-7EE6-4342-B048-85BDC9FD1C3A}</a:tableStyleId>
              </a:tblPr>
              <a:tblGrid>
                <a:gridCol w="731520"/>
                <a:gridCol w="1234440"/>
                <a:gridCol w="1234440"/>
                <a:gridCol w="1234440"/>
                <a:gridCol w="1234440"/>
              </a:tblGrid>
              <a:tr h="274320">
                <a:tc>
                  <a:txBody>
                    <a:bodyPr/>
                    <a:lstStyle/>
                    <a:p>
                      <a:pPr algn="ctr"/>
                      <a:r>
                        <a:rPr sz="1200" b="1">
                          <a:solidFill>
                            <a:srgbClr val="FFFFFF"/>
                          </a:solidFill>
                        </a:rPr>
                        <a:t>C</a:t>
                      </a:r>
                    </a:p>
                  </a:txBody>
                  <a:tcPr marT="12700" marB="12700">
                    <a:solidFill>
                      <a:srgbClr val="1B2A4A"/>
                    </a:solidFill>
                  </a:tcPr>
                </a:tc>
                <a:tc>
                  <a:txBody>
                    <a:bodyPr/>
                    <a:lstStyle/>
                    <a:p>
                      <a:pPr algn="ctr"/>
                      <a:r>
                        <a:rPr sz="1200" b="1">
                          <a:solidFill>
                            <a:srgbClr val="FFFFFF"/>
                          </a:solidFill>
                        </a:rPr>
                        <a:t>thru tr</a:t>
                      </a:r>
                    </a:p>
                  </a:txBody>
                  <a:tcPr marT="12700" marB="12700">
                    <a:solidFill>
                      <a:srgbClr val="1B2A4A"/>
                    </a:solidFill>
                  </a:tcPr>
                </a:tc>
                <a:tc>
                  <a:txBody>
                    <a:bodyPr/>
                    <a:lstStyle/>
                    <a:p>
                      <a:pPr algn="ctr"/>
                      <a:r>
                        <a:rPr sz="1200" b="1">
                          <a:solidFill>
                            <a:srgbClr val="FFFFFF"/>
                          </a:solidFill>
                        </a:rPr>
                        <a:t>thru def</a:t>
                      </a:r>
                    </a:p>
                  </a:txBody>
                  <a:tcPr marT="12700" marB="12700">
                    <a:solidFill>
                      <a:srgbClr val="1B2A4A"/>
                    </a:solidFill>
                  </a:tcPr>
                </a:tc>
                <a:tc>
                  <a:txBody>
                    <a:bodyPr/>
                    <a:lstStyle/>
                    <a:p>
                      <a:pPr algn="ctr"/>
                      <a:r>
                        <a:rPr sz="1200" b="1">
                          <a:solidFill>
                            <a:srgbClr val="FFFFFF"/>
                          </a:solidFill>
                        </a:rPr>
                        <a:t>p95 tr</a:t>
                      </a:r>
                    </a:p>
                  </a:txBody>
                  <a:tcPr marT="12700" marB="12700">
                    <a:solidFill>
                      <a:srgbClr val="1B2A4A"/>
                    </a:solidFill>
                  </a:tcPr>
                </a:tc>
                <a:tc>
                  <a:txBody>
                    <a:bodyPr/>
                    <a:lstStyle/>
                    <a:p>
                      <a:pPr algn="ctr"/>
                      <a:r>
                        <a:rPr sz="1200" b="1">
                          <a:solidFill>
                            <a:srgbClr val="FFFFFF"/>
                          </a:solidFill>
                        </a:rPr>
                        <a:t>p95 def</a:t>
                      </a:r>
                    </a:p>
                  </a:txBody>
                  <a:tcPr marT="12700" marB="12700">
                    <a:solidFill>
                      <a:srgbClr val="1B2A4A"/>
                    </a:solidFill>
                  </a:tcPr>
                </a:tc>
              </a:tr>
              <a:tr h="274320">
                <a:tc>
                  <a:txBody>
                    <a:bodyPr/>
                    <a:lstStyle/>
                    <a:p>
                      <a:pPr algn="ctr"/>
                      <a:r>
                        <a:rPr sz="1200" b="0">
                          <a:solidFill>
                            <a:srgbClr val="1B2A4A"/>
                          </a:solidFill>
                        </a:rPr>
                        <a:t>2</a:t>
                      </a:r>
                    </a:p>
                  </a:txBody>
                  <a:tcPr marT="12700" marB="12700">
                    <a:solidFill>
                      <a:srgbClr val="FFFFFF"/>
                    </a:solidFill>
                  </a:tcPr>
                </a:tc>
                <a:tc>
                  <a:txBody>
                    <a:bodyPr/>
                    <a:lstStyle/>
                    <a:p>
                      <a:pPr algn="ctr"/>
                      <a:r>
                        <a:rPr sz="1200" b="0">
                          <a:solidFill>
                            <a:srgbClr val="1B2A4A"/>
                          </a:solidFill>
                        </a:rPr>
                        <a:t>0.048</a:t>
                      </a:r>
                    </a:p>
                  </a:txBody>
                  <a:tcPr marT="12700" marB="12700">
                    <a:solidFill>
                      <a:srgbClr val="FFFFFF"/>
                    </a:solidFill>
                  </a:tcPr>
                </a:tc>
                <a:tc>
                  <a:txBody>
                    <a:bodyPr/>
                    <a:lstStyle/>
                    <a:p>
                      <a:pPr algn="ctr"/>
                      <a:r>
                        <a:rPr sz="1200" b="0">
                          <a:solidFill>
                            <a:srgbClr val="1B2A4A"/>
                          </a:solidFill>
                        </a:rPr>
                        <a:t>0.048</a:t>
                      </a:r>
                    </a:p>
                  </a:txBody>
                  <a:tcPr marT="12700" marB="12700">
                    <a:solidFill>
                      <a:srgbClr val="FFFFFF"/>
                    </a:solidFill>
                  </a:tcPr>
                </a:tc>
                <a:tc>
                  <a:txBody>
                    <a:bodyPr/>
                    <a:lstStyle/>
                    <a:p>
                      <a:pPr algn="ctr"/>
                      <a:r>
                        <a:rPr sz="1200" b="0">
                          <a:solidFill>
                            <a:srgbClr val="1B2A4A"/>
                          </a:solidFill>
                        </a:rPr>
                        <a:t>110s</a:t>
                      </a:r>
                    </a:p>
                  </a:txBody>
                  <a:tcPr marT="12700" marB="12700">
                    <a:solidFill>
                      <a:srgbClr val="FFFFFF"/>
                    </a:solidFill>
                  </a:tcPr>
                </a:tc>
                <a:tc>
                  <a:txBody>
                    <a:bodyPr/>
                    <a:lstStyle/>
                    <a:p>
                      <a:pPr algn="ctr"/>
                      <a:r>
                        <a:rPr sz="1200" b="0">
                          <a:solidFill>
                            <a:srgbClr val="1B2A4A"/>
                          </a:solidFill>
                        </a:rPr>
                        <a:t>110s</a:t>
                      </a:r>
                    </a:p>
                  </a:txBody>
                  <a:tcPr marT="12700" marB="12700">
                    <a:solidFill>
                      <a:srgbClr val="FFFFFF"/>
                    </a:solidFill>
                  </a:tcPr>
                </a:tc>
              </a:tr>
              <a:tr h="274320">
                <a:tc>
                  <a:txBody>
                    <a:bodyPr/>
                    <a:lstStyle/>
                    <a:p>
                      <a:pPr algn="ctr"/>
                      <a:r>
                        <a:rPr sz="1200" b="0">
                          <a:solidFill>
                            <a:srgbClr val="1B2A4A"/>
                          </a:solidFill>
                        </a:rPr>
                        <a:t>4</a:t>
                      </a:r>
                    </a:p>
                  </a:txBody>
                  <a:tcPr marT="12700" marB="12700">
                    <a:solidFill>
                      <a:srgbClr val="FFFFFF"/>
                    </a:solidFill>
                  </a:tcPr>
                </a:tc>
                <a:tc>
                  <a:txBody>
                    <a:bodyPr/>
                    <a:lstStyle/>
                    <a:p>
                      <a:pPr algn="ctr"/>
                      <a:r>
                        <a:rPr sz="1200" b="0">
                          <a:solidFill>
                            <a:srgbClr val="1B2A4A"/>
                          </a:solidFill>
                        </a:rPr>
                        <a:t>0.084</a:t>
                      </a:r>
                    </a:p>
                  </a:txBody>
                  <a:tcPr marT="12700" marB="12700">
                    <a:solidFill>
                      <a:srgbClr val="FFFFFF"/>
                    </a:solidFill>
                  </a:tcPr>
                </a:tc>
                <a:tc>
                  <a:txBody>
                    <a:bodyPr/>
                    <a:lstStyle/>
                    <a:p>
                      <a:pPr algn="ctr"/>
                      <a:r>
                        <a:rPr sz="1200" b="0">
                          <a:solidFill>
                            <a:srgbClr val="1B2A4A"/>
                          </a:solidFill>
                        </a:rPr>
                        <a:t>0.093</a:t>
                      </a:r>
                    </a:p>
                  </a:txBody>
                  <a:tcPr marT="12700" marB="12700">
                    <a:solidFill>
                      <a:srgbClr val="FFFFFF"/>
                    </a:solidFill>
                  </a:tcPr>
                </a:tc>
                <a:tc>
                  <a:txBody>
                    <a:bodyPr/>
                    <a:lstStyle/>
                    <a:p>
                      <a:pPr algn="ctr"/>
                      <a:r>
                        <a:rPr sz="1200" b="0">
                          <a:solidFill>
                            <a:srgbClr val="1B2A4A"/>
                          </a:solidFill>
                        </a:rPr>
                        <a:t>132s</a:t>
                      </a:r>
                    </a:p>
                  </a:txBody>
                  <a:tcPr marT="12700" marB="12700">
                    <a:solidFill>
                      <a:srgbClr val="FFFFFF"/>
                    </a:solidFill>
                  </a:tcPr>
                </a:tc>
                <a:tc>
                  <a:txBody>
                    <a:bodyPr/>
                    <a:lstStyle/>
                    <a:p>
                      <a:pPr algn="ctr"/>
                      <a:r>
                        <a:rPr sz="1200" b="0">
                          <a:solidFill>
                            <a:srgbClr val="1B2A4A"/>
                          </a:solidFill>
                        </a:rPr>
                        <a:t>113s</a:t>
                      </a:r>
                    </a:p>
                  </a:txBody>
                  <a:tcPr marT="12700" marB="12700">
                    <a:solidFill>
                      <a:srgbClr val="FFFFFF"/>
                    </a:solidFill>
                  </a:tcPr>
                </a:tc>
              </a:tr>
              <a:tr h="274320">
                <a:tc>
                  <a:txBody>
                    <a:bodyPr/>
                    <a:lstStyle/>
                    <a:p>
                      <a:pPr algn="ctr"/>
                      <a:r>
                        <a:rPr sz="1200" b="0">
                          <a:solidFill>
                            <a:srgbClr val="1B2A4A"/>
                          </a:solidFill>
                        </a:rPr>
                        <a:t>8</a:t>
                      </a:r>
                    </a:p>
                  </a:txBody>
                  <a:tcPr marT="12700" marB="12700">
                    <a:solidFill>
                      <a:srgbClr val="FFFFFF"/>
                    </a:solidFill>
                  </a:tcPr>
                </a:tc>
                <a:tc>
                  <a:txBody>
                    <a:bodyPr/>
                    <a:lstStyle/>
                    <a:p>
                      <a:pPr algn="ctr"/>
                      <a:r>
                        <a:rPr sz="1200" b="1">
                          <a:solidFill>
                            <a:srgbClr val="B12A2A"/>
                          </a:solidFill>
                        </a:rPr>
                        <a:t>0.078</a:t>
                      </a:r>
                    </a:p>
                  </a:txBody>
                  <a:tcPr marT="12700" marB="12700">
                    <a:solidFill>
                      <a:srgbClr val="FFFFFF"/>
                    </a:solidFill>
                  </a:tcPr>
                </a:tc>
                <a:tc>
                  <a:txBody>
                    <a:bodyPr/>
                    <a:lstStyle/>
                    <a:p>
                      <a:pPr algn="ctr"/>
                      <a:r>
                        <a:rPr sz="1200" b="0">
                          <a:solidFill>
                            <a:srgbClr val="1B2A4A"/>
                          </a:solidFill>
                        </a:rPr>
                        <a:t>0.120</a:t>
                      </a:r>
                    </a:p>
                  </a:txBody>
                  <a:tcPr marT="12700" marB="12700">
                    <a:solidFill>
                      <a:srgbClr val="FFFFFF"/>
                    </a:solidFill>
                  </a:tcPr>
                </a:tc>
                <a:tc>
                  <a:txBody>
                    <a:bodyPr/>
                    <a:lstStyle/>
                    <a:p>
                      <a:pPr algn="ctr"/>
                      <a:r>
                        <a:rPr sz="1200" b="1">
                          <a:solidFill>
                            <a:srgbClr val="B12A2A"/>
                          </a:solidFill>
                        </a:rPr>
                        <a:t>184s</a:t>
                      </a:r>
                    </a:p>
                  </a:txBody>
                  <a:tcPr marT="12700" marB="12700">
                    <a:solidFill>
                      <a:srgbClr val="FFFFFF"/>
                    </a:solidFill>
                  </a:tcPr>
                </a:tc>
                <a:tc>
                  <a:txBody>
                    <a:bodyPr/>
                    <a:lstStyle/>
                    <a:p>
                      <a:pPr algn="ctr"/>
                      <a:r>
                        <a:rPr sz="1200" b="0">
                          <a:solidFill>
                            <a:srgbClr val="1B2A4A"/>
                          </a:solidFill>
                        </a:rPr>
                        <a:t>153s</a:t>
                      </a:r>
                    </a:p>
                  </a:txBody>
                  <a:tcPr marT="12700" marB="12700">
                    <a:solidFill>
                      <a:srgbClr val="FFFFFF"/>
                    </a:solidFill>
                  </a:tcPr>
                </a:tc>
              </a:tr>
              <a:tr h="274320">
                <a:tc>
                  <a:txBody>
                    <a:bodyPr/>
                    <a:lstStyle/>
                    <a:p>
                      <a:pPr algn="ctr"/>
                      <a:r>
                        <a:rPr sz="1200" b="0">
                          <a:solidFill>
                            <a:srgbClr val="1B2A4A"/>
                          </a:solidFill>
                        </a:rPr>
                        <a:t>16</a:t>
                      </a:r>
                    </a:p>
                  </a:txBody>
                  <a:tcPr marT="12700" marB="12700">
                    <a:solidFill>
                      <a:srgbClr val="FFFFFF"/>
                    </a:solidFill>
                  </a:tcPr>
                </a:tc>
                <a:tc>
                  <a:txBody>
                    <a:bodyPr/>
                    <a:lstStyle/>
                    <a:p>
                      <a:pPr algn="ctr"/>
                      <a:r>
                        <a:rPr sz="1200" b="1">
                          <a:solidFill>
                            <a:srgbClr val="B12A2A"/>
                          </a:solidFill>
                        </a:rPr>
                        <a:t>0.073</a:t>
                      </a:r>
                    </a:p>
                  </a:txBody>
                  <a:tcPr marT="12700" marB="12700">
                    <a:solidFill>
                      <a:srgbClr val="FFFFFF"/>
                    </a:solidFill>
                  </a:tcPr>
                </a:tc>
                <a:tc>
                  <a:txBody>
                    <a:bodyPr/>
                    <a:lstStyle/>
                    <a:p>
                      <a:pPr algn="ctr"/>
                      <a:r>
                        <a:rPr sz="1200" b="0">
                          <a:solidFill>
                            <a:srgbClr val="1B2A4A"/>
                          </a:solidFill>
                        </a:rPr>
                        <a:t>0.107</a:t>
                      </a:r>
                    </a:p>
                  </a:txBody>
                  <a:tcPr marT="12700" marB="12700">
                    <a:solidFill>
                      <a:srgbClr val="FFFFFF"/>
                    </a:solidFill>
                  </a:tcPr>
                </a:tc>
                <a:tc>
                  <a:txBody>
                    <a:bodyPr/>
                    <a:lstStyle/>
                    <a:p>
                      <a:pPr algn="ctr"/>
                      <a:r>
                        <a:rPr sz="1200" b="1">
                          <a:solidFill>
                            <a:srgbClr val="B12A2A"/>
                          </a:solidFill>
                        </a:rPr>
                        <a:t>595s</a:t>
                      </a:r>
                    </a:p>
                  </a:txBody>
                  <a:tcPr marT="12700" marB="12700">
                    <a:solidFill>
                      <a:srgbClr val="FFFFFF"/>
                    </a:solidFill>
                  </a:tcPr>
                </a:tc>
                <a:tc>
                  <a:txBody>
                    <a:bodyPr/>
                    <a:lstStyle/>
                    <a:p>
                      <a:pPr algn="ctr"/>
                      <a:r>
                        <a:rPr sz="1200" b="0">
                          <a:solidFill>
                            <a:srgbClr val="1B2A4A"/>
                          </a:solidFill>
                        </a:rPr>
                        <a:t>289s</a:t>
                      </a:r>
                    </a:p>
                  </a:txBody>
                  <a:tcPr marT="12700" marB="12700">
                    <a:solidFill>
                      <a:srgbClr val="FFFFFF"/>
                    </a:solidFill>
                  </a:tcPr>
                </a:tc>
              </a:tr>
              <a:tr h="274320">
                <a:tc>
                  <a:txBody>
                    <a:bodyPr/>
                    <a:lstStyle/>
                    <a:p>
                      <a:pPr algn="ctr"/>
                      <a:r>
                        <a:rPr sz="1200" b="0">
                          <a:solidFill>
                            <a:srgbClr val="1B2A4A"/>
                          </a:solidFill>
                        </a:rPr>
                        <a:t>32</a:t>
                      </a:r>
                    </a:p>
                  </a:txBody>
                  <a:tcPr marT="12700" marB="12700">
                    <a:solidFill>
                      <a:srgbClr val="FFFFFF"/>
                    </a:solidFill>
                  </a:tcPr>
                </a:tc>
                <a:tc>
                  <a:txBody>
                    <a:bodyPr/>
                    <a:lstStyle/>
                    <a:p>
                      <a:pPr algn="ctr"/>
                      <a:r>
                        <a:rPr sz="1200" b="1">
                          <a:solidFill>
                            <a:srgbClr val="B12A2A"/>
                          </a:solidFill>
                        </a:rPr>
                        <a:t>0.069</a:t>
                      </a:r>
                    </a:p>
                  </a:txBody>
                  <a:tcPr marT="12700" marB="12700">
                    <a:solidFill>
                      <a:srgbClr val="FFFFFF"/>
                    </a:solidFill>
                  </a:tcPr>
                </a:tc>
                <a:tc>
                  <a:txBody>
                    <a:bodyPr/>
                    <a:lstStyle/>
                    <a:p>
                      <a:pPr algn="ctr"/>
                      <a:r>
                        <a:rPr sz="1200" b="0">
                          <a:solidFill>
                            <a:srgbClr val="1B2A4A"/>
                          </a:solidFill>
                        </a:rPr>
                        <a:t>0.108</a:t>
                      </a:r>
                    </a:p>
                  </a:txBody>
                  <a:tcPr marT="12700" marB="12700">
                    <a:solidFill>
                      <a:srgbClr val="FFFFFF"/>
                    </a:solidFill>
                  </a:tcPr>
                </a:tc>
                <a:tc>
                  <a:txBody>
                    <a:bodyPr/>
                    <a:lstStyle/>
                    <a:p>
                      <a:pPr algn="ctr"/>
                      <a:r>
                        <a:rPr sz="1200" b="1">
                          <a:solidFill>
                            <a:srgbClr val="B12A2A"/>
                          </a:solidFill>
                        </a:rPr>
                        <a:t>660s</a:t>
                      </a:r>
                    </a:p>
                  </a:txBody>
                  <a:tcPr marT="12700" marB="12700">
                    <a:solidFill>
                      <a:srgbClr val="FFFFFF"/>
                    </a:solidFill>
                  </a:tcPr>
                </a:tc>
                <a:tc>
                  <a:txBody>
                    <a:bodyPr/>
                    <a:lstStyle/>
                    <a:p>
                      <a:pPr algn="ctr"/>
                      <a:r>
                        <a:rPr sz="1200" b="0">
                          <a:solidFill>
                            <a:srgbClr val="1B2A4A"/>
                          </a:solidFill>
                        </a:rPr>
                        <a:t>418s</a:t>
                      </a:r>
                    </a:p>
                  </a:txBody>
                  <a:tcPr marT="12700" marB="12700">
                    <a:solidFill>
                      <a:srgbClr val="FFFFFF"/>
                    </a:solidFill>
                  </a:tcPr>
                </a:tc>
              </a:tr>
              <a:tr h="274320">
                <a:tc>
                  <a:txBody>
                    <a:bodyPr/>
                    <a:lstStyle/>
                    <a:p>
                      <a:pPr algn="ctr"/>
                      <a:r>
                        <a:rPr sz="1200" b="0">
                          <a:solidFill>
                            <a:srgbClr val="1B2A4A"/>
                          </a:solidFill>
                        </a:rPr>
                        <a:t>48</a:t>
                      </a:r>
                    </a:p>
                  </a:txBody>
                  <a:tcPr marT="12700" marB="12700">
                    <a:solidFill>
                      <a:srgbClr val="FFFFFF"/>
                    </a:solidFill>
                  </a:tcPr>
                </a:tc>
                <a:tc>
                  <a:txBody>
                    <a:bodyPr/>
                    <a:lstStyle/>
                    <a:p>
                      <a:pPr algn="ctr"/>
                      <a:r>
                        <a:rPr sz="1200" b="1">
                          <a:solidFill>
                            <a:srgbClr val="B12A2A"/>
                          </a:solidFill>
                        </a:rPr>
                        <a:t>0.067</a:t>
                      </a:r>
                    </a:p>
                  </a:txBody>
                  <a:tcPr marT="12700" marB="12700">
                    <a:solidFill>
                      <a:srgbClr val="FFFFFF"/>
                    </a:solidFill>
                  </a:tcPr>
                </a:tc>
                <a:tc>
                  <a:txBody>
                    <a:bodyPr/>
                    <a:lstStyle/>
                    <a:p>
                      <a:pPr algn="ctr"/>
                      <a:r>
                        <a:rPr sz="1200" b="0">
                          <a:solidFill>
                            <a:srgbClr val="1B2A4A"/>
                          </a:solidFill>
                        </a:rPr>
                        <a:t>0.102</a:t>
                      </a:r>
                    </a:p>
                  </a:txBody>
                  <a:tcPr marT="12700" marB="12700">
                    <a:solidFill>
                      <a:srgbClr val="FFFFFF"/>
                    </a:solidFill>
                  </a:tcPr>
                </a:tc>
                <a:tc>
                  <a:txBody>
                    <a:bodyPr/>
                    <a:lstStyle/>
                    <a:p>
                      <a:pPr algn="ctr"/>
                      <a:r>
                        <a:rPr sz="1200" b="1">
                          <a:solidFill>
                            <a:srgbClr val="B12A2A"/>
                          </a:solidFill>
                        </a:rPr>
                        <a:t>727s</a:t>
                      </a:r>
                    </a:p>
                  </a:txBody>
                  <a:tcPr marT="12700" marB="12700">
                    <a:solidFill>
                      <a:srgbClr val="FFFFFF"/>
                    </a:solidFill>
                  </a:tcPr>
                </a:tc>
                <a:tc>
                  <a:txBody>
                    <a:bodyPr/>
                    <a:lstStyle/>
                    <a:p>
                      <a:pPr algn="ctr"/>
                      <a:r>
                        <a:rPr sz="1200" b="0">
                          <a:solidFill>
                            <a:srgbClr val="1B2A4A"/>
                          </a:solidFill>
                        </a:rPr>
                        <a:t>481s</a:t>
                      </a:r>
                    </a:p>
                  </a:txBody>
                  <a:tcPr marT="12700" marB="12700">
                    <a:solidFill>
                      <a:srgbClr val="FFFFFF"/>
                    </a:solidFill>
                  </a:tcPr>
                </a:tc>
              </a:tr>
            </a:tbl>
          </a:graphicData>
        </a:graphic>
      </p:graphicFrame>
      <p:sp>
        <p:nvSpPr>
          <p:cNvPr id="6" name="TextBox 5"/>
          <p:cNvSpPr txBox="1"/>
          <p:nvPr/>
        </p:nvSpPr>
        <p:spPr>
          <a:xfrm>
            <a:off x="502920" y="5120640"/>
            <a:ext cx="5669280" cy="320040"/>
          </a:xfrm>
          <a:prstGeom prst="rect">
            <a:avLst/>
          </a:prstGeom>
          <a:noFill/>
        </p:spPr>
        <p:txBody>
          <a:bodyPr wrap="none">
            <a:spAutoFit/>
          </a:bodyPr>
          <a:lstStyle/>
          <a:p>
            <a:pPr algn="ctr"/>
            <a:r>
              <a:rPr sz="1100" b="1">
                <a:solidFill>
                  <a:srgbClr val="1B2A4A"/>
                </a:solidFill>
              </a:rPr>
              <a:t>throughput(p/s)·p95, C=2~48 — tr(빨강)이 열세</a:t>
            </a:r>
          </a:p>
        </p:txBody>
      </p:sp>
      <p:pic>
        <p:nvPicPr>
          <p:cNvPr id="7" name="Picture 6" descr="hetero_homo_tracelab_throughput.png"/>
          <p:cNvPicPr>
            <a:picLocks noChangeAspect="1"/>
          </p:cNvPicPr>
          <p:nvPr/>
        </p:nvPicPr>
        <p:blipFill>
          <a:blip r:embed="rId2"/>
          <a:stretch>
            <a:fillRect/>
          </a:stretch>
        </p:blipFill>
        <p:spPr>
          <a:xfrm>
            <a:off x="6400800" y="1554480"/>
            <a:ext cx="5577840" cy="3778537"/>
          </a:xfrm>
          <a:prstGeom prst="rect">
            <a:avLst/>
          </a:prstGeom>
        </p:spPr>
      </p:pic>
      <p:sp>
        <p:nvSpPr>
          <p:cNvPr id="8" name="TextBox 7"/>
          <p:cNvSpPr txBox="1"/>
          <p:nvPr/>
        </p:nvSpPr>
        <p:spPr>
          <a:xfrm>
            <a:off x="6400800" y="5806440"/>
            <a:ext cx="5577840" cy="320040"/>
          </a:xfrm>
          <a:prstGeom prst="rect">
            <a:avLst/>
          </a:prstGeom>
          <a:noFill/>
        </p:spPr>
        <p:txBody>
          <a:bodyPr wrap="none">
            <a:spAutoFit/>
          </a:bodyPr>
          <a:lstStyle/>
          <a:p>
            <a:pPr algn="ctr"/>
            <a:r>
              <a:rPr sz="1100" b="1">
                <a:solidFill>
                  <a:srgbClr val="1B2A4A"/>
                </a:solidFill>
              </a:rPr>
              <a:t>throughput vs concurrency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822960"/>
          </a:xfrm>
          <a:prstGeom prst="rect">
            <a:avLst/>
          </a:prstGeom>
          <a:noFill/>
        </p:spPr>
        <p:txBody>
          <a:bodyPr wrap="none">
            <a:spAutoFit/>
          </a:bodyPr>
          <a:lstStyle/>
          <a:p>
            <a:r>
              <a:rPr sz="2600" b="1">
                <a:solidFill>
                  <a:srgbClr val="1B2A4A"/>
                </a:solidFill>
              </a:rPr>
              <a:t>F 결과 ① — 이종 4090+5090, 전역: tr이 throughput·p95 모두 우세</a:t>
            </a:r>
          </a:p>
        </p:txBody>
      </p:sp>
      <p:sp>
        <p:nvSpPr>
          <p:cNvPr id="3" name="Rectangle 2"/>
          <p:cNvSpPr/>
          <p:nvPr/>
        </p:nvSpPr>
        <p:spPr>
          <a:xfrm>
            <a:off x="530352" y="1005840"/>
            <a:ext cx="2926080" cy="38100"/>
          </a:xfrm>
          <a:prstGeom prst="rect">
            <a:avLst/>
          </a:prstGeom>
          <a:solidFill>
            <a:srgbClr val="2E6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88720"/>
            <a:ext cx="5760720" cy="1737360"/>
          </a:xfrm>
          <a:prstGeom prst="rect">
            <a:avLst/>
          </a:prstGeom>
          <a:noFill/>
        </p:spPr>
        <p:txBody>
          <a:bodyPr wrap="square">
            <a:spAutoFit/>
          </a:bodyPr>
          <a:lstStyle/>
          <a:p>
            <a:pPr>
              <a:spcAft>
                <a:spcPts val="700"/>
              </a:spcAft>
            </a:pPr>
            <a:r>
              <a:rPr sz="1400" b="1">
                <a:solidFill>
                  <a:srgbClr val="1B2A4A"/>
                </a:solidFill>
              </a:rPr>
              <a:t>합성 KV-압박 워크로드, 4090+5090 (F의 concurrency 축 = 8·16·24·32·48)</a:t>
            </a:r>
          </a:p>
          <a:p>
            <a:pPr lvl="1">
              <a:spcAft>
                <a:spcPts val="700"/>
              </a:spcAft>
            </a:pPr>
            <a:r>
              <a:rPr sz="1200" b="0">
                <a:solidFill>
                  <a:srgbClr val="1E7A3C"/>
                </a:solidFill>
              </a:rPr>
              <a:t>고부하 throughput tr≈2×, hit 0.67 vs 0.02, p95도 tr이 절반 이하(c48 70 vs 149s)</a:t>
            </a:r>
          </a:p>
          <a:p>
            <a:pPr>
              <a:spcAft>
                <a:spcPts val="700"/>
              </a:spcAft>
            </a:pPr>
            <a:r>
              <a:rPr sz="1400" b="1">
                <a:solidFill>
                  <a:srgbClr val="1B2A4A"/>
                </a:solidFill>
              </a:rPr>
              <a:t>합성에선 이종에서도 tr 우세 (실데이터 D와 대조; D는 tr이 p95 열세였음).</a:t>
            </a:r>
          </a:p>
        </p:txBody>
      </p:sp>
      <p:pic>
        <p:nvPicPr>
          <p:cNvPr id="5" name="Picture 4" descr="homo_hetero_throughput.png"/>
          <p:cNvPicPr>
            <a:picLocks noChangeAspect="1"/>
          </p:cNvPicPr>
          <p:nvPr/>
        </p:nvPicPr>
        <p:blipFill>
          <a:blip r:embed="rId2"/>
          <a:stretch>
            <a:fillRect/>
          </a:stretch>
        </p:blipFill>
        <p:spPr>
          <a:xfrm>
            <a:off x="6720840" y="1371600"/>
            <a:ext cx="5029200" cy="3406877"/>
          </a:xfrm>
          <a:prstGeom prst="rect">
            <a:avLst/>
          </a:prstGeom>
        </p:spPr>
      </p:pic>
      <p:graphicFrame>
        <p:nvGraphicFramePr>
          <p:cNvPr id="6" name="Table 5"/>
          <p:cNvGraphicFramePr>
            <a:graphicFrameLocks noGrp="1"/>
          </p:cNvGraphicFramePr>
          <p:nvPr/>
        </p:nvGraphicFramePr>
        <p:xfrm>
          <a:off x="365760" y="4892040"/>
          <a:ext cx="11429999" cy="1536192"/>
        </p:xfrm>
        <a:graphic>
          <a:graphicData uri="http://schemas.openxmlformats.org/drawingml/2006/table">
            <a:tbl>
              <a:tblPr>
                <a:tableStyleId>{5C22544A-7EE6-4342-B048-85BDC9FD1C3A}</a:tableStyleId>
              </a:tblPr>
              <a:tblGrid>
                <a:gridCol w="822960"/>
                <a:gridCol w="1737360"/>
                <a:gridCol w="1737360"/>
                <a:gridCol w="1737360"/>
                <a:gridCol w="1737360"/>
                <a:gridCol w="1783080"/>
                <a:gridCol w="1874519"/>
              </a:tblGrid>
              <a:tr h="256032">
                <a:tc>
                  <a:txBody>
                    <a:bodyPr/>
                    <a:lstStyle/>
                    <a:p>
                      <a:pPr algn="ctr"/>
                      <a:r>
                        <a:rPr sz="1200" b="1">
                          <a:solidFill>
                            <a:srgbClr val="FFFFFF"/>
                          </a:solidFill>
                        </a:rPr>
                        <a:t>C</a:t>
                      </a:r>
                    </a:p>
                  </a:txBody>
                  <a:tcPr marT="12700" marB="12700">
                    <a:solidFill>
                      <a:srgbClr val="1B2A4A"/>
                    </a:solidFill>
                  </a:tcPr>
                </a:tc>
                <a:tc>
                  <a:txBody>
                    <a:bodyPr/>
                    <a:lstStyle/>
                    <a:p>
                      <a:pPr algn="ctr"/>
                      <a:r>
                        <a:rPr sz="1200" b="1">
                          <a:solidFill>
                            <a:srgbClr val="FFFFFF"/>
                          </a:solidFill>
                        </a:rPr>
                        <a:t>thru tr</a:t>
                      </a:r>
                    </a:p>
                  </a:txBody>
                  <a:tcPr marT="12700" marB="12700">
                    <a:solidFill>
                      <a:srgbClr val="1B2A4A"/>
                    </a:solidFill>
                  </a:tcPr>
                </a:tc>
                <a:tc>
                  <a:txBody>
                    <a:bodyPr/>
                    <a:lstStyle/>
                    <a:p>
                      <a:pPr algn="ctr"/>
                      <a:r>
                        <a:rPr sz="1200" b="1">
                          <a:solidFill>
                            <a:srgbClr val="FFFFFF"/>
                          </a:solidFill>
                        </a:rPr>
                        <a:t>thru def</a:t>
                      </a:r>
                    </a:p>
                  </a:txBody>
                  <a:tcPr marT="12700" marB="12700">
                    <a:solidFill>
                      <a:srgbClr val="1B2A4A"/>
                    </a:solidFill>
                  </a:tcPr>
                </a:tc>
                <a:tc>
                  <a:txBody>
                    <a:bodyPr/>
                    <a:lstStyle/>
                    <a:p>
                      <a:pPr algn="ctr"/>
                      <a:r>
                        <a:rPr sz="1200" b="1">
                          <a:solidFill>
                            <a:srgbClr val="FFFFFF"/>
                          </a:solidFill>
                        </a:rPr>
                        <a:t>hit tr</a:t>
                      </a:r>
                    </a:p>
                  </a:txBody>
                  <a:tcPr marT="12700" marB="12700">
                    <a:solidFill>
                      <a:srgbClr val="1B2A4A"/>
                    </a:solidFill>
                  </a:tcPr>
                </a:tc>
                <a:tc>
                  <a:txBody>
                    <a:bodyPr/>
                    <a:lstStyle/>
                    <a:p>
                      <a:pPr algn="ctr"/>
                      <a:r>
                        <a:rPr sz="1200" b="1">
                          <a:solidFill>
                            <a:srgbClr val="FFFFFF"/>
                          </a:solidFill>
                        </a:rPr>
                        <a:t>hit def</a:t>
                      </a:r>
                    </a:p>
                  </a:txBody>
                  <a:tcPr marT="12700" marB="12700">
                    <a:solidFill>
                      <a:srgbClr val="1B2A4A"/>
                    </a:solidFill>
                  </a:tcPr>
                </a:tc>
                <a:tc>
                  <a:txBody>
                    <a:bodyPr/>
                    <a:lstStyle/>
                    <a:p>
                      <a:pPr algn="ctr"/>
                      <a:r>
                        <a:rPr sz="1200" b="1">
                          <a:solidFill>
                            <a:srgbClr val="FFFFFF"/>
                          </a:solidFill>
                        </a:rPr>
                        <a:t>p95 tr</a:t>
                      </a:r>
                    </a:p>
                  </a:txBody>
                  <a:tcPr marT="12700" marB="12700">
                    <a:solidFill>
                      <a:srgbClr val="1B2A4A"/>
                    </a:solidFill>
                  </a:tcPr>
                </a:tc>
                <a:tc>
                  <a:txBody>
                    <a:bodyPr/>
                    <a:lstStyle/>
                    <a:p>
                      <a:pPr algn="ctr"/>
                      <a:r>
                        <a:rPr sz="1200" b="1">
                          <a:solidFill>
                            <a:srgbClr val="FFFFFF"/>
                          </a:solidFill>
                        </a:rPr>
                        <a:t>p95 def</a:t>
                      </a:r>
                    </a:p>
                  </a:txBody>
                  <a:tcPr marT="12700" marB="12700">
                    <a:solidFill>
                      <a:srgbClr val="1B2A4A"/>
                    </a:solidFill>
                  </a:tcPr>
                </a:tc>
              </a:tr>
              <a:tr h="256032">
                <a:tc>
                  <a:txBody>
                    <a:bodyPr/>
                    <a:lstStyle/>
                    <a:p>
                      <a:pPr algn="ctr"/>
                      <a:r>
                        <a:rPr sz="1200" b="0">
                          <a:solidFill>
                            <a:srgbClr val="1B2A4A"/>
                          </a:solidFill>
                        </a:rPr>
                        <a:t>8</a:t>
                      </a:r>
                    </a:p>
                  </a:txBody>
                  <a:tcPr marT="12700" marB="12700">
                    <a:solidFill>
                      <a:srgbClr val="FFFFFF"/>
                    </a:solidFill>
                  </a:tcPr>
                </a:tc>
                <a:tc>
                  <a:txBody>
                    <a:bodyPr/>
                    <a:lstStyle/>
                    <a:p>
                      <a:pPr algn="ctr"/>
                      <a:r>
                        <a:rPr sz="1200" b="0">
                          <a:solidFill>
                            <a:srgbClr val="1B2A4A"/>
                          </a:solidFill>
                        </a:rPr>
                        <a:t>0.67</a:t>
                      </a:r>
                    </a:p>
                  </a:txBody>
                  <a:tcPr marT="12700" marB="12700">
                    <a:solidFill>
                      <a:srgbClr val="FFFFFF"/>
                    </a:solidFill>
                  </a:tcPr>
                </a:tc>
                <a:tc>
                  <a:txBody>
                    <a:bodyPr/>
                    <a:lstStyle/>
                    <a:p>
                      <a:pPr algn="ctr"/>
                      <a:r>
                        <a:rPr sz="1200" b="0">
                          <a:solidFill>
                            <a:srgbClr val="1B2A4A"/>
                          </a:solidFill>
                        </a:rPr>
                        <a:t>0.62</a:t>
                      </a:r>
                    </a:p>
                  </a:txBody>
                  <a:tcPr marT="12700" marB="12700">
                    <a:solidFill>
                      <a:srgbClr val="FFFFFF"/>
                    </a:solidFill>
                  </a:tcPr>
                </a:tc>
                <a:tc>
                  <a:txBody>
                    <a:bodyPr/>
                    <a:lstStyle/>
                    <a:p>
                      <a:pPr algn="ctr"/>
                      <a:r>
                        <a:rPr sz="1200" b="0">
                          <a:solidFill>
                            <a:srgbClr val="1B2A4A"/>
                          </a:solidFill>
                        </a:rPr>
                        <a:t>0.56</a:t>
                      </a:r>
                    </a:p>
                  </a:txBody>
                  <a:tcPr marT="12700" marB="12700">
                    <a:solidFill>
                      <a:srgbClr val="FFFFFF"/>
                    </a:solidFill>
                  </a:tcPr>
                </a:tc>
                <a:tc>
                  <a:txBody>
                    <a:bodyPr/>
                    <a:lstStyle/>
                    <a:p>
                      <a:pPr algn="ctr"/>
                      <a:r>
                        <a:rPr sz="1200" b="0">
                          <a:solidFill>
                            <a:srgbClr val="1B2A4A"/>
                          </a:solidFill>
                        </a:rPr>
                        <a:t>0.23</a:t>
                      </a:r>
                    </a:p>
                  </a:txBody>
                  <a:tcPr marT="12700" marB="12700">
                    <a:solidFill>
                      <a:srgbClr val="FFFFFF"/>
                    </a:solidFill>
                  </a:tcPr>
                </a:tc>
                <a:tc>
                  <a:txBody>
                    <a:bodyPr/>
                    <a:lstStyle/>
                    <a:p>
                      <a:pPr algn="ctr"/>
                      <a:r>
                        <a:rPr sz="1200" b="0">
                          <a:solidFill>
                            <a:srgbClr val="1B2A4A"/>
                          </a:solidFill>
                        </a:rPr>
                        <a:t>20.6s</a:t>
                      </a:r>
                    </a:p>
                  </a:txBody>
                  <a:tcPr marT="12700" marB="12700">
                    <a:solidFill>
                      <a:srgbClr val="FFFFFF"/>
                    </a:solidFill>
                  </a:tcPr>
                </a:tc>
                <a:tc>
                  <a:txBody>
                    <a:bodyPr/>
                    <a:lstStyle/>
                    <a:p>
                      <a:pPr algn="ctr"/>
                      <a:r>
                        <a:rPr sz="1200" b="0">
                          <a:solidFill>
                            <a:srgbClr val="1B2A4A"/>
                          </a:solidFill>
                        </a:rPr>
                        <a:t>25.7s</a:t>
                      </a:r>
                    </a:p>
                  </a:txBody>
                  <a:tcPr marT="12700" marB="12700">
                    <a:solidFill>
                      <a:srgbClr val="FFFFFF"/>
                    </a:solidFill>
                  </a:tcPr>
                </a:tc>
              </a:tr>
              <a:tr h="256032">
                <a:tc>
                  <a:txBody>
                    <a:bodyPr/>
                    <a:lstStyle/>
                    <a:p>
                      <a:pPr algn="ctr"/>
                      <a:r>
                        <a:rPr sz="1200" b="0">
                          <a:solidFill>
                            <a:srgbClr val="1B2A4A"/>
                          </a:solidFill>
                        </a:rPr>
                        <a:t>16</a:t>
                      </a:r>
                    </a:p>
                  </a:txBody>
                  <a:tcPr marT="12700" marB="12700">
                    <a:solidFill>
                      <a:srgbClr val="FFFFFF"/>
                    </a:solidFill>
                  </a:tcPr>
                </a:tc>
                <a:tc>
                  <a:txBody>
                    <a:bodyPr/>
                    <a:lstStyle/>
                    <a:p>
                      <a:pPr algn="ctr"/>
                      <a:r>
                        <a:rPr sz="1200" b="0">
                          <a:solidFill>
                            <a:srgbClr val="1B2A4A"/>
                          </a:solidFill>
                        </a:rPr>
                        <a:t>0.64</a:t>
                      </a:r>
                    </a:p>
                  </a:txBody>
                  <a:tcPr marT="12700" marB="12700">
                    <a:solidFill>
                      <a:srgbClr val="FFFFFF"/>
                    </a:solidFill>
                  </a:tcPr>
                </a:tc>
                <a:tc>
                  <a:txBody>
                    <a:bodyPr/>
                    <a:lstStyle/>
                    <a:p>
                      <a:pPr algn="ctr"/>
                      <a:r>
                        <a:rPr sz="1200" b="1">
                          <a:solidFill>
                            <a:srgbClr val="B12A2A"/>
                          </a:solidFill>
                        </a:rPr>
                        <a:t>0.34</a:t>
                      </a:r>
                    </a:p>
                  </a:txBody>
                  <a:tcPr marT="12700" marB="12700">
                    <a:solidFill>
                      <a:srgbClr val="FFFFFF"/>
                    </a:solidFill>
                  </a:tcPr>
                </a:tc>
                <a:tc>
                  <a:txBody>
                    <a:bodyPr/>
                    <a:lstStyle/>
                    <a:p>
                      <a:pPr algn="ctr"/>
                      <a:r>
                        <a:rPr sz="1200" b="0">
                          <a:solidFill>
                            <a:srgbClr val="1B2A4A"/>
                          </a:solidFill>
                        </a:rPr>
                        <a:t>0.67</a:t>
                      </a:r>
                    </a:p>
                  </a:txBody>
                  <a:tcPr marT="12700" marB="12700">
                    <a:solidFill>
                      <a:srgbClr val="FFFFFF"/>
                    </a:solidFill>
                  </a:tcPr>
                </a:tc>
                <a:tc>
                  <a:txBody>
                    <a:bodyPr/>
                    <a:lstStyle/>
                    <a:p>
                      <a:pPr algn="ctr"/>
                      <a:r>
                        <a:rPr sz="1200" b="1">
                          <a:solidFill>
                            <a:srgbClr val="B12A2A"/>
                          </a:solidFill>
                        </a:rPr>
                        <a:t>0.03</a:t>
                      </a:r>
                    </a:p>
                  </a:txBody>
                  <a:tcPr marT="12700" marB="12700">
                    <a:solidFill>
                      <a:srgbClr val="FFFFFF"/>
                    </a:solidFill>
                  </a:tcPr>
                </a:tc>
                <a:tc>
                  <a:txBody>
                    <a:bodyPr/>
                    <a:lstStyle/>
                    <a:p>
                      <a:pPr algn="ctr"/>
                      <a:r>
                        <a:rPr sz="1200" b="0">
                          <a:solidFill>
                            <a:srgbClr val="1B2A4A"/>
                          </a:solidFill>
                        </a:rPr>
                        <a:t>34.9s</a:t>
                      </a:r>
                    </a:p>
                  </a:txBody>
                  <a:tcPr marT="12700" marB="12700">
                    <a:solidFill>
                      <a:srgbClr val="FFFFFF"/>
                    </a:solidFill>
                  </a:tcPr>
                </a:tc>
                <a:tc>
                  <a:txBody>
                    <a:bodyPr/>
                    <a:lstStyle/>
                    <a:p>
                      <a:pPr algn="ctr"/>
                      <a:r>
                        <a:rPr sz="1200" b="0">
                          <a:solidFill>
                            <a:srgbClr val="1B2A4A"/>
                          </a:solidFill>
                        </a:rPr>
                        <a:t>52.2s</a:t>
                      </a:r>
                    </a:p>
                  </a:txBody>
                  <a:tcPr marT="12700" marB="12700">
                    <a:solidFill>
                      <a:srgbClr val="FFFFFF"/>
                    </a:solidFill>
                  </a:tcPr>
                </a:tc>
              </a:tr>
              <a:tr h="256032">
                <a:tc>
                  <a:txBody>
                    <a:bodyPr/>
                    <a:lstStyle/>
                    <a:p>
                      <a:pPr algn="ctr"/>
                      <a:r>
                        <a:rPr sz="1200" b="0">
                          <a:solidFill>
                            <a:srgbClr val="1B2A4A"/>
                          </a:solidFill>
                        </a:rPr>
                        <a:t>24</a:t>
                      </a:r>
                    </a:p>
                  </a:txBody>
                  <a:tcPr marT="12700" marB="12700">
                    <a:solidFill>
                      <a:srgbClr val="FFFFFF"/>
                    </a:solidFill>
                  </a:tcPr>
                </a:tc>
                <a:tc>
                  <a:txBody>
                    <a:bodyPr/>
                    <a:lstStyle/>
                    <a:p>
                      <a:pPr algn="ctr"/>
                      <a:r>
                        <a:rPr sz="1200" b="0">
                          <a:solidFill>
                            <a:srgbClr val="1B2A4A"/>
                          </a:solidFill>
                        </a:rPr>
                        <a:t>0.63</a:t>
                      </a:r>
                    </a:p>
                  </a:txBody>
                  <a:tcPr marT="12700" marB="12700">
                    <a:solidFill>
                      <a:srgbClr val="FFFFFF"/>
                    </a:solidFill>
                  </a:tcPr>
                </a:tc>
                <a:tc>
                  <a:txBody>
                    <a:bodyPr/>
                    <a:lstStyle/>
                    <a:p>
                      <a:pPr algn="ctr"/>
                      <a:r>
                        <a:rPr sz="1200" b="1">
                          <a:solidFill>
                            <a:srgbClr val="B12A2A"/>
                          </a:solidFill>
                        </a:rPr>
                        <a:t>0.32</a:t>
                      </a:r>
                    </a:p>
                  </a:txBody>
                  <a:tcPr marT="12700" marB="12700">
                    <a:solidFill>
                      <a:srgbClr val="FFFFFF"/>
                    </a:solidFill>
                  </a:tcPr>
                </a:tc>
                <a:tc>
                  <a:txBody>
                    <a:bodyPr/>
                    <a:lstStyle/>
                    <a:p>
                      <a:pPr algn="ctr"/>
                      <a:r>
                        <a:rPr sz="1200" b="0">
                          <a:solidFill>
                            <a:srgbClr val="1B2A4A"/>
                          </a:solidFill>
                        </a:rPr>
                        <a:t>0.67</a:t>
                      </a:r>
                    </a:p>
                  </a:txBody>
                  <a:tcPr marT="12700" marB="12700">
                    <a:solidFill>
                      <a:srgbClr val="FFFFFF"/>
                    </a:solidFill>
                  </a:tcPr>
                </a:tc>
                <a:tc>
                  <a:txBody>
                    <a:bodyPr/>
                    <a:lstStyle/>
                    <a:p>
                      <a:pPr algn="ctr"/>
                      <a:r>
                        <a:rPr sz="1200" b="1">
                          <a:solidFill>
                            <a:srgbClr val="B12A2A"/>
                          </a:solidFill>
                        </a:rPr>
                        <a:t>0.02</a:t>
                      </a:r>
                    </a:p>
                  </a:txBody>
                  <a:tcPr marT="12700" marB="12700">
                    <a:solidFill>
                      <a:srgbClr val="FFFFFF"/>
                    </a:solidFill>
                  </a:tcPr>
                </a:tc>
                <a:tc>
                  <a:txBody>
                    <a:bodyPr/>
                    <a:lstStyle/>
                    <a:p>
                      <a:pPr algn="ctr"/>
                      <a:r>
                        <a:rPr sz="1200" b="0">
                          <a:solidFill>
                            <a:srgbClr val="1B2A4A"/>
                          </a:solidFill>
                        </a:rPr>
                        <a:t>48.9s</a:t>
                      </a:r>
                    </a:p>
                  </a:txBody>
                  <a:tcPr marT="12700" marB="12700">
                    <a:solidFill>
                      <a:srgbClr val="FFFFFF"/>
                    </a:solidFill>
                  </a:tcPr>
                </a:tc>
                <a:tc>
                  <a:txBody>
                    <a:bodyPr/>
                    <a:lstStyle/>
                    <a:p>
                      <a:pPr algn="ctr"/>
                      <a:r>
                        <a:rPr sz="1200" b="0">
                          <a:solidFill>
                            <a:srgbClr val="1B2A4A"/>
                          </a:solidFill>
                        </a:rPr>
                        <a:t>77.3s</a:t>
                      </a:r>
                    </a:p>
                  </a:txBody>
                  <a:tcPr marT="12700" marB="12700">
                    <a:solidFill>
                      <a:srgbClr val="FFFFFF"/>
                    </a:solidFill>
                  </a:tcPr>
                </a:tc>
              </a:tr>
              <a:tr h="256032">
                <a:tc>
                  <a:txBody>
                    <a:bodyPr/>
                    <a:lstStyle/>
                    <a:p>
                      <a:pPr algn="ctr"/>
                      <a:r>
                        <a:rPr sz="1200" b="0">
                          <a:solidFill>
                            <a:srgbClr val="1B2A4A"/>
                          </a:solidFill>
                        </a:rPr>
                        <a:t>32</a:t>
                      </a:r>
                    </a:p>
                  </a:txBody>
                  <a:tcPr marT="12700" marB="12700">
                    <a:solidFill>
                      <a:srgbClr val="FFFFFF"/>
                    </a:solidFill>
                  </a:tcPr>
                </a:tc>
                <a:tc>
                  <a:txBody>
                    <a:bodyPr/>
                    <a:lstStyle/>
                    <a:p>
                      <a:pPr algn="ctr"/>
                      <a:r>
                        <a:rPr sz="1200" b="0">
                          <a:solidFill>
                            <a:srgbClr val="1B2A4A"/>
                          </a:solidFill>
                        </a:rPr>
                        <a:t>0.64</a:t>
                      </a:r>
                    </a:p>
                  </a:txBody>
                  <a:tcPr marT="12700" marB="12700">
                    <a:solidFill>
                      <a:srgbClr val="FFFFFF"/>
                    </a:solidFill>
                  </a:tcPr>
                </a:tc>
                <a:tc>
                  <a:txBody>
                    <a:bodyPr/>
                    <a:lstStyle/>
                    <a:p>
                      <a:pPr algn="ctr"/>
                      <a:r>
                        <a:rPr sz="1200" b="1">
                          <a:solidFill>
                            <a:srgbClr val="B12A2A"/>
                          </a:solidFill>
                        </a:rPr>
                        <a:t>0.35</a:t>
                      </a:r>
                    </a:p>
                  </a:txBody>
                  <a:tcPr marT="12700" marB="12700">
                    <a:solidFill>
                      <a:srgbClr val="FFFFFF"/>
                    </a:solidFill>
                  </a:tcPr>
                </a:tc>
                <a:tc>
                  <a:txBody>
                    <a:bodyPr/>
                    <a:lstStyle/>
                    <a:p>
                      <a:pPr algn="ctr"/>
                      <a:r>
                        <a:rPr sz="1200" b="0">
                          <a:solidFill>
                            <a:srgbClr val="1B2A4A"/>
                          </a:solidFill>
                        </a:rPr>
                        <a:t>0.67</a:t>
                      </a:r>
                    </a:p>
                  </a:txBody>
                  <a:tcPr marT="12700" marB="12700">
                    <a:solidFill>
                      <a:srgbClr val="FFFFFF"/>
                    </a:solidFill>
                  </a:tcPr>
                </a:tc>
                <a:tc>
                  <a:txBody>
                    <a:bodyPr/>
                    <a:lstStyle/>
                    <a:p>
                      <a:pPr algn="ctr"/>
                      <a:r>
                        <a:rPr sz="1200" b="1">
                          <a:solidFill>
                            <a:srgbClr val="B12A2A"/>
                          </a:solidFill>
                        </a:rPr>
                        <a:t>0.03</a:t>
                      </a:r>
                    </a:p>
                  </a:txBody>
                  <a:tcPr marT="12700" marB="12700">
                    <a:solidFill>
                      <a:srgbClr val="FFFFFF"/>
                    </a:solidFill>
                  </a:tcPr>
                </a:tc>
                <a:tc>
                  <a:txBody>
                    <a:bodyPr/>
                    <a:lstStyle/>
                    <a:p>
                      <a:pPr algn="ctr"/>
                      <a:r>
                        <a:rPr sz="1200" b="0">
                          <a:solidFill>
                            <a:srgbClr val="1B2A4A"/>
                          </a:solidFill>
                        </a:rPr>
                        <a:t>55.1s</a:t>
                      </a:r>
                    </a:p>
                  </a:txBody>
                  <a:tcPr marT="12700" marB="12700">
                    <a:solidFill>
                      <a:srgbClr val="FFFFFF"/>
                    </a:solidFill>
                  </a:tcPr>
                </a:tc>
                <a:tc>
                  <a:txBody>
                    <a:bodyPr/>
                    <a:lstStyle/>
                    <a:p>
                      <a:pPr algn="ctr"/>
                      <a:r>
                        <a:rPr sz="1200" b="0">
                          <a:solidFill>
                            <a:srgbClr val="1B2A4A"/>
                          </a:solidFill>
                        </a:rPr>
                        <a:t>99.0s</a:t>
                      </a:r>
                    </a:p>
                  </a:txBody>
                  <a:tcPr marT="12700" marB="12700">
                    <a:solidFill>
                      <a:srgbClr val="FFFFFF"/>
                    </a:solidFill>
                  </a:tcPr>
                </a:tc>
              </a:tr>
              <a:tr h="256032">
                <a:tc>
                  <a:txBody>
                    <a:bodyPr/>
                    <a:lstStyle/>
                    <a:p>
                      <a:pPr algn="ctr"/>
                      <a:r>
                        <a:rPr sz="1200" b="0">
                          <a:solidFill>
                            <a:srgbClr val="1B2A4A"/>
                          </a:solidFill>
                        </a:rPr>
                        <a:t>48</a:t>
                      </a:r>
                    </a:p>
                  </a:txBody>
                  <a:tcPr marT="12700" marB="12700">
                    <a:solidFill>
                      <a:srgbClr val="FFFFFF"/>
                    </a:solidFill>
                  </a:tcPr>
                </a:tc>
                <a:tc>
                  <a:txBody>
                    <a:bodyPr/>
                    <a:lstStyle/>
                    <a:p>
                      <a:pPr algn="ctr"/>
                      <a:r>
                        <a:rPr sz="1200" b="0">
                          <a:solidFill>
                            <a:srgbClr val="1B2A4A"/>
                          </a:solidFill>
                        </a:rPr>
                        <a:t>0.64</a:t>
                      </a:r>
                    </a:p>
                  </a:txBody>
                  <a:tcPr marT="12700" marB="12700">
                    <a:solidFill>
                      <a:srgbClr val="FFFFFF"/>
                    </a:solidFill>
                  </a:tcPr>
                </a:tc>
                <a:tc>
                  <a:txBody>
                    <a:bodyPr/>
                    <a:lstStyle/>
                    <a:p>
                      <a:pPr algn="ctr"/>
                      <a:r>
                        <a:rPr sz="1200" b="1">
                          <a:solidFill>
                            <a:srgbClr val="B12A2A"/>
                          </a:solidFill>
                        </a:rPr>
                        <a:t>0.32</a:t>
                      </a:r>
                    </a:p>
                  </a:txBody>
                  <a:tcPr marT="12700" marB="12700">
                    <a:solidFill>
                      <a:srgbClr val="FFFFFF"/>
                    </a:solidFill>
                  </a:tcPr>
                </a:tc>
                <a:tc>
                  <a:txBody>
                    <a:bodyPr/>
                    <a:lstStyle/>
                    <a:p>
                      <a:pPr algn="ctr"/>
                      <a:r>
                        <a:rPr sz="1200" b="0">
                          <a:solidFill>
                            <a:srgbClr val="1B2A4A"/>
                          </a:solidFill>
                        </a:rPr>
                        <a:t>0.67</a:t>
                      </a:r>
                    </a:p>
                  </a:txBody>
                  <a:tcPr marT="12700" marB="12700">
                    <a:solidFill>
                      <a:srgbClr val="FFFFFF"/>
                    </a:solidFill>
                  </a:tcPr>
                </a:tc>
                <a:tc>
                  <a:txBody>
                    <a:bodyPr/>
                    <a:lstStyle/>
                    <a:p>
                      <a:pPr algn="ctr"/>
                      <a:r>
                        <a:rPr sz="1200" b="1">
                          <a:solidFill>
                            <a:srgbClr val="B12A2A"/>
                          </a:solidFill>
                        </a:rPr>
                        <a:t>0.02</a:t>
                      </a:r>
                    </a:p>
                  </a:txBody>
                  <a:tcPr marT="12700" marB="12700">
                    <a:solidFill>
                      <a:srgbClr val="FFFFFF"/>
                    </a:solidFill>
                  </a:tcPr>
                </a:tc>
                <a:tc>
                  <a:txBody>
                    <a:bodyPr/>
                    <a:lstStyle/>
                    <a:p>
                      <a:pPr algn="ctr"/>
                      <a:r>
                        <a:rPr sz="1200" b="0">
                          <a:solidFill>
                            <a:srgbClr val="1B2A4A"/>
                          </a:solidFill>
                        </a:rPr>
                        <a:t>70.2s</a:t>
                      </a:r>
                    </a:p>
                  </a:txBody>
                  <a:tcPr marT="12700" marB="12700">
                    <a:solidFill>
                      <a:srgbClr val="FFFFFF"/>
                    </a:solidFill>
                  </a:tcPr>
                </a:tc>
                <a:tc>
                  <a:txBody>
                    <a:bodyPr/>
                    <a:lstStyle/>
                    <a:p>
                      <a:pPr algn="ctr"/>
                      <a:r>
                        <a:rPr sz="1200" b="0">
                          <a:solidFill>
                            <a:srgbClr val="1B2A4A"/>
                          </a:solidFill>
                        </a:rPr>
                        <a:t>149.0s</a:t>
                      </a:r>
                    </a:p>
                  </a:txBody>
                  <a:tcPr marT="12700" marB="12700">
                    <a:solidFill>
                      <a:srgbClr val="FFFFFF"/>
                    </a:solidFill>
                  </a:tcPr>
                </a:tc>
              </a:tr>
            </a:tbl>
          </a:graphicData>
        </a:graphic>
      </p:graphicFrame>
      <p:sp>
        <p:nvSpPr>
          <p:cNvPr id="7" name="TextBox 6"/>
          <p:cNvSpPr txBox="1"/>
          <p:nvPr/>
        </p:nvSpPr>
        <p:spPr>
          <a:xfrm>
            <a:off x="365760" y="4617720"/>
            <a:ext cx="11430000" cy="320040"/>
          </a:xfrm>
          <a:prstGeom prst="rect">
            <a:avLst/>
          </a:prstGeom>
          <a:noFill/>
        </p:spPr>
        <p:txBody>
          <a:bodyPr wrap="none">
            <a:spAutoFit/>
          </a:bodyPr>
          <a:lstStyle/>
          <a:p>
            <a:pPr algn="ctr"/>
            <a:r>
              <a:rPr sz="1100" b="1">
                <a:solidFill>
                  <a:srgbClr val="1B2A4A"/>
                </a:solidFill>
              </a:rPr>
              <a:t>F 전역 지표 C=8~48 (3회 평균) — default hit·throughput 붕괴(빨강)</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822960"/>
          </a:xfrm>
          <a:prstGeom prst="rect">
            <a:avLst/>
          </a:prstGeom>
          <a:noFill/>
        </p:spPr>
        <p:txBody>
          <a:bodyPr wrap="none">
            <a:spAutoFit/>
          </a:bodyPr>
          <a:lstStyle/>
          <a:p>
            <a:r>
              <a:rPr sz="2600" b="1">
                <a:solidFill>
                  <a:srgbClr val="1B2A4A"/>
                </a:solidFill>
              </a:rPr>
              <a:t>F 결과 ② — 백엔드별 (핵심): 누가 스래싱하나</a:t>
            </a:r>
          </a:p>
        </p:txBody>
      </p:sp>
      <p:sp>
        <p:nvSpPr>
          <p:cNvPr id="3" name="Rectangle 2"/>
          <p:cNvSpPr/>
          <p:nvPr/>
        </p:nvSpPr>
        <p:spPr>
          <a:xfrm>
            <a:off x="530352" y="1005840"/>
            <a:ext cx="2926080" cy="38100"/>
          </a:xfrm>
          <a:prstGeom prst="rect">
            <a:avLst/>
          </a:prstGeom>
          <a:solidFill>
            <a:srgbClr val="2E6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34440"/>
            <a:ext cx="5120640" cy="1188720"/>
          </a:xfrm>
          <a:prstGeom prst="rect">
            <a:avLst/>
          </a:prstGeom>
          <a:noFill/>
        </p:spPr>
        <p:txBody>
          <a:bodyPr wrap="square">
            <a:spAutoFit/>
          </a:bodyPr>
          <a:lstStyle/>
          <a:p>
            <a:pPr>
              <a:spcAft>
                <a:spcPts val="700"/>
              </a:spcAft>
            </a:pPr>
            <a:r>
              <a:rPr sz="1400" b="1">
                <a:solidFill>
                  <a:srgbClr val="B12A2A"/>
                </a:solidFill>
              </a:rPr>
              <a:t>default가 작은 4090을 혹사 (c8 hit 0.08, 재프리필 ~4×)</a:t>
            </a:r>
          </a:p>
          <a:p>
            <a:pPr>
              <a:spcAft>
                <a:spcPts val="700"/>
              </a:spcAft>
            </a:pPr>
            <a:r>
              <a:rPr sz="1400" b="1">
                <a:solidFill>
                  <a:srgbClr val="1E7A3C"/>
                </a:solidFill>
              </a:rPr>
              <a:t>tr은 4090·5090 둘 다 ~0.67 균형, 큰 5090에 더 라우팅(1:1.6)</a:t>
            </a:r>
          </a:p>
        </p:txBody>
      </p:sp>
      <p:graphicFrame>
        <p:nvGraphicFramePr>
          <p:cNvPr id="5" name="Table 4"/>
          <p:cNvGraphicFramePr>
            <a:graphicFrameLocks noGrp="1"/>
          </p:cNvGraphicFramePr>
          <p:nvPr/>
        </p:nvGraphicFramePr>
        <p:xfrm>
          <a:off x="457200" y="2606040"/>
          <a:ext cx="5212080" cy="1170432"/>
        </p:xfrm>
        <a:graphic>
          <a:graphicData uri="http://schemas.openxmlformats.org/drawingml/2006/table">
            <a:tbl>
              <a:tblPr>
                <a:tableStyleId>{5C22544A-7EE6-4342-B048-85BDC9FD1C3A}</a:tableStyleId>
              </a:tblPr>
              <a:tblGrid>
                <a:gridCol w="1554480"/>
                <a:gridCol w="914400"/>
                <a:gridCol w="914400"/>
                <a:gridCol w="914400"/>
                <a:gridCol w="914400"/>
              </a:tblGrid>
              <a:tr h="292608">
                <a:tc>
                  <a:txBody>
                    <a:bodyPr/>
                    <a:lstStyle/>
                    <a:p>
                      <a:pPr algn="ctr"/>
                      <a:r>
                        <a:rPr sz="1200" b="1">
                          <a:solidFill>
                            <a:srgbClr val="FFFFFF"/>
                          </a:solidFill>
                        </a:rPr>
                        <a:t>지표</a:t>
                      </a:r>
                    </a:p>
                  </a:txBody>
                  <a:tcPr marT="12700" marB="12700">
                    <a:solidFill>
                      <a:srgbClr val="1B2A4A"/>
                    </a:solidFill>
                  </a:tcPr>
                </a:tc>
                <a:tc>
                  <a:txBody>
                    <a:bodyPr/>
                    <a:lstStyle/>
                    <a:p>
                      <a:pPr algn="ctr"/>
                      <a:r>
                        <a:rPr sz="1200" b="1">
                          <a:solidFill>
                            <a:srgbClr val="FFFFFF"/>
                          </a:solidFill>
                        </a:rPr>
                        <a:t>tr 4090</a:t>
                      </a:r>
                    </a:p>
                  </a:txBody>
                  <a:tcPr marT="12700" marB="12700">
                    <a:solidFill>
                      <a:srgbClr val="1B2A4A"/>
                    </a:solidFill>
                  </a:tcPr>
                </a:tc>
                <a:tc>
                  <a:txBody>
                    <a:bodyPr/>
                    <a:lstStyle/>
                    <a:p>
                      <a:pPr algn="ctr"/>
                      <a:r>
                        <a:rPr sz="1200" b="1">
                          <a:solidFill>
                            <a:srgbClr val="FFFFFF"/>
                          </a:solidFill>
                        </a:rPr>
                        <a:t>tr 5090</a:t>
                      </a:r>
                    </a:p>
                  </a:txBody>
                  <a:tcPr marT="12700" marB="12700">
                    <a:solidFill>
                      <a:srgbClr val="1B2A4A"/>
                    </a:solidFill>
                  </a:tcPr>
                </a:tc>
                <a:tc>
                  <a:txBody>
                    <a:bodyPr/>
                    <a:lstStyle/>
                    <a:p>
                      <a:pPr algn="ctr"/>
                      <a:r>
                        <a:rPr sz="1200" b="1">
                          <a:solidFill>
                            <a:srgbClr val="FFFFFF"/>
                          </a:solidFill>
                        </a:rPr>
                        <a:t>def 4090</a:t>
                      </a:r>
                    </a:p>
                  </a:txBody>
                  <a:tcPr marT="12700" marB="12700">
                    <a:solidFill>
                      <a:srgbClr val="1B2A4A"/>
                    </a:solidFill>
                  </a:tcPr>
                </a:tc>
                <a:tc>
                  <a:txBody>
                    <a:bodyPr/>
                    <a:lstStyle/>
                    <a:p>
                      <a:pPr algn="ctr"/>
                      <a:r>
                        <a:rPr sz="1200" b="1">
                          <a:solidFill>
                            <a:srgbClr val="FFFFFF"/>
                          </a:solidFill>
                        </a:rPr>
                        <a:t>def 5090</a:t>
                      </a:r>
                    </a:p>
                  </a:txBody>
                  <a:tcPr marT="12700" marB="12700">
                    <a:solidFill>
                      <a:srgbClr val="1B2A4A"/>
                    </a:solidFill>
                  </a:tcPr>
                </a:tc>
              </a:tr>
              <a:tr h="292608">
                <a:tc>
                  <a:txBody>
                    <a:bodyPr/>
                    <a:lstStyle/>
                    <a:p>
                      <a:pPr algn="ctr"/>
                      <a:r>
                        <a:rPr sz="1200" b="0">
                          <a:solidFill>
                            <a:srgbClr val="1B2A4A"/>
                          </a:solidFill>
                        </a:rPr>
                        <a:t>hit (c=8)</a:t>
                      </a:r>
                    </a:p>
                  </a:txBody>
                  <a:tcPr marT="12700" marB="12700">
                    <a:solidFill>
                      <a:srgbClr val="FFFFFF"/>
                    </a:solidFill>
                  </a:tcPr>
                </a:tc>
                <a:tc>
                  <a:txBody>
                    <a:bodyPr/>
                    <a:lstStyle/>
                    <a:p>
                      <a:pPr algn="ctr"/>
                      <a:r>
                        <a:rPr sz="1200" b="0">
                          <a:solidFill>
                            <a:srgbClr val="1B2A4A"/>
                          </a:solidFill>
                        </a:rPr>
                        <a:t>0.48</a:t>
                      </a:r>
                    </a:p>
                  </a:txBody>
                  <a:tcPr marT="12700" marB="12700">
                    <a:solidFill>
                      <a:srgbClr val="FFFFFF"/>
                    </a:solidFill>
                  </a:tcPr>
                </a:tc>
                <a:tc>
                  <a:txBody>
                    <a:bodyPr/>
                    <a:lstStyle/>
                    <a:p>
                      <a:pPr algn="ctr"/>
                      <a:r>
                        <a:rPr sz="1200" b="0">
                          <a:solidFill>
                            <a:srgbClr val="1B2A4A"/>
                          </a:solidFill>
                        </a:rPr>
                        <a:t>0.64</a:t>
                      </a:r>
                    </a:p>
                  </a:txBody>
                  <a:tcPr marT="12700" marB="12700">
                    <a:solidFill>
                      <a:srgbClr val="FFFFFF"/>
                    </a:solidFill>
                  </a:tcPr>
                </a:tc>
                <a:tc>
                  <a:txBody>
                    <a:bodyPr/>
                    <a:lstStyle/>
                    <a:p>
                      <a:pPr algn="ctr"/>
                      <a:r>
                        <a:rPr sz="1200" b="1">
                          <a:solidFill>
                            <a:srgbClr val="B12A2A"/>
                          </a:solidFill>
                        </a:rPr>
                        <a:t>0.08</a:t>
                      </a:r>
                    </a:p>
                  </a:txBody>
                  <a:tcPr marT="12700" marB="12700">
                    <a:solidFill>
                      <a:srgbClr val="FFFFFF"/>
                    </a:solidFill>
                  </a:tcPr>
                </a:tc>
                <a:tc>
                  <a:txBody>
                    <a:bodyPr/>
                    <a:lstStyle/>
                    <a:p>
                      <a:pPr algn="ctr"/>
                      <a:r>
                        <a:rPr sz="1200" b="0">
                          <a:solidFill>
                            <a:srgbClr val="1B2A4A"/>
                          </a:solidFill>
                        </a:rPr>
                        <a:t>0.67</a:t>
                      </a:r>
                    </a:p>
                  </a:txBody>
                  <a:tcPr marT="12700" marB="12700">
                    <a:solidFill>
                      <a:srgbClr val="FFFFFF"/>
                    </a:solidFill>
                  </a:tcPr>
                </a:tc>
              </a:tr>
              <a:tr h="292608">
                <a:tc>
                  <a:txBody>
                    <a:bodyPr/>
                    <a:lstStyle/>
                    <a:p>
                      <a:pPr algn="ctr"/>
                      <a:r>
                        <a:rPr sz="1200" b="0">
                          <a:solidFill>
                            <a:srgbClr val="1B2A4A"/>
                          </a:solidFill>
                        </a:rPr>
                        <a:t>hit (c≥16)</a:t>
                      </a:r>
                    </a:p>
                  </a:txBody>
                  <a:tcPr marT="12700" marB="12700">
                    <a:solidFill>
                      <a:srgbClr val="FFFFFF"/>
                    </a:solidFill>
                  </a:tcPr>
                </a:tc>
                <a:tc>
                  <a:txBody>
                    <a:bodyPr/>
                    <a:lstStyle/>
                    <a:p>
                      <a:pPr algn="ctr"/>
                      <a:r>
                        <a:rPr sz="1200" b="0">
                          <a:solidFill>
                            <a:srgbClr val="1B2A4A"/>
                          </a:solidFill>
                        </a:rPr>
                        <a:t>0.67</a:t>
                      </a:r>
                    </a:p>
                  </a:txBody>
                  <a:tcPr marT="12700" marB="12700">
                    <a:solidFill>
                      <a:srgbClr val="FFFFFF"/>
                    </a:solidFill>
                  </a:tcPr>
                </a:tc>
                <a:tc>
                  <a:txBody>
                    <a:bodyPr/>
                    <a:lstStyle/>
                    <a:p>
                      <a:pPr algn="ctr"/>
                      <a:r>
                        <a:rPr sz="1200" b="0">
                          <a:solidFill>
                            <a:srgbClr val="1B2A4A"/>
                          </a:solidFill>
                        </a:rPr>
                        <a:t>0.67</a:t>
                      </a:r>
                    </a:p>
                  </a:txBody>
                  <a:tcPr marT="12700" marB="12700">
                    <a:solidFill>
                      <a:srgbClr val="FFFFFF"/>
                    </a:solidFill>
                  </a:tcPr>
                </a:tc>
                <a:tc>
                  <a:txBody>
                    <a:bodyPr/>
                    <a:lstStyle/>
                    <a:p>
                      <a:pPr algn="ctr"/>
                      <a:r>
                        <a:rPr sz="1200" b="1">
                          <a:solidFill>
                            <a:srgbClr val="B12A2A"/>
                          </a:solidFill>
                        </a:rPr>
                        <a:t>0.02</a:t>
                      </a:r>
                    </a:p>
                  </a:txBody>
                  <a:tcPr marT="12700" marB="12700">
                    <a:solidFill>
                      <a:srgbClr val="FFFFFF"/>
                    </a:solidFill>
                  </a:tcPr>
                </a:tc>
                <a:tc>
                  <a:txBody>
                    <a:bodyPr/>
                    <a:lstStyle/>
                    <a:p>
                      <a:pPr algn="ctr"/>
                      <a:r>
                        <a:rPr sz="1200" b="0">
                          <a:solidFill>
                            <a:srgbClr val="1B2A4A"/>
                          </a:solidFill>
                        </a:rPr>
                        <a:t>0.02</a:t>
                      </a:r>
                    </a:p>
                  </a:txBody>
                  <a:tcPr marT="12700" marB="12700">
                    <a:solidFill>
                      <a:srgbClr val="FFFFFF"/>
                    </a:solidFill>
                  </a:tcPr>
                </a:tc>
              </a:tr>
              <a:tr h="292608">
                <a:tc>
                  <a:txBody>
                    <a:bodyPr/>
                    <a:lstStyle/>
                    <a:p>
                      <a:pPr algn="ctr"/>
                      <a:r>
                        <a:rPr sz="1200" b="0">
                          <a:solidFill>
                            <a:srgbClr val="1B2A4A"/>
                          </a:solidFill>
                        </a:rPr>
                        <a:t>재프리필 M (c≥16)</a:t>
                      </a:r>
                    </a:p>
                  </a:txBody>
                  <a:tcPr marT="12700" marB="12700">
                    <a:solidFill>
                      <a:srgbClr val="FFFFFF"/>
                    </a:solidFill>
                  </a:tcPr>
                </a:tc>
                <a:tc>
                  <a:txBody>
                    <a:bodyPr/>
                    <a:lstStyle/>
                    <a:p>
                      <a:pPr algn="ctr"/>
                      <a:r>
                        <a:rPr sz="1200" b="0">
                          <a:solidFill>
                            <a:srgbClr val="1B2A4A"/>
                          </a:solidFill>
                        </a:rPr>
                        <a:t>0.80</a:t>
                      </a:r>
                    </a:p>
                  </a:txBody>
                  <a:tcPr marT="12700" marB="12700">
                    <a:solidFill>
                      <a:srgbClr val="FFFFFF"/>
                    </a:solidFill>
                  </a:tcPr>
                </a:tc>
                <a:tc>
                  <a:txBody>
                    <a:bodyPr/>
                    <a:lstStyle/>
                    <a:p>
                      <a:pPr algn="ctr"/>
                      <a:r>
                        <a:rPr sz="1200" b="0">
                          <a:solidFill>
                            <a:srgbClr val="1B2A4A"/>
                          </a:solidFill>
                        </a:rPr>
                        <a:t>1.29</a:t>
                      </a:r>
                    </a:p>
                  </a:txBody>
                  <a:tcPr marT="12700" marB="12700">
                    <a:solidFill>
                      <a:srgbClr val="FFFFFF"/>
                    </a:solidFill>
                  </a:tcPr>
                </a:tc>
                <a:tc>
                  <a:txBody>
                    <a:bodyPr/>
                    <a:lstStyle/>
                    <a:p>
                      <a:pPr algn="ctr"/>
                      <a:r>
                        <a:rPr sz="1200" b="1">
                          <a:solidFill>
                            <a:srgbClr val="B12A2A"/>
                          </a:solidFill>
                        </a:rPr>
                        <a:t>9.2</a:t>
                      </a:r>
                    </a:p>
                  </a:txBody>
                  <a:tcPr marT="12700" marB="12700">
                    <a:solidFill>
                      <a:srgbClr val="FFFFFF"/>
                    </a:solidFill>
                  </a:tcPr>
                </a:tc>
                <a:tc>
                  <a:txBody>
                    <a:bodyPr/>
                    <a:lstStyle/>
                    <a:p>
                      <a:pPr algn="ctr"/>
                      <a:r>
                        <a:rPr sz="1200" b="0">
                          <a:solidFill>
                            <a:srgbClr val="1B2A4A"/>
                          </a:solidFill>
                        </a:rPr>
                        <a:t>2.2</a:t>
                      </a:r>
                    </a:p>
                  </a:txBody>
                  <a:tcPr marT="12700" marB="12700">
                    <a:solidFill>
                      <a:srgbClr val="FFFFFF"/>
                    </a:solidFill>
                  </a:tcPr>
                </a:tc>
              </a:tr>
            </a:tbl>
          </a:graphicData>
        </a:graphic>
      </p:graphicFrame>
      <p:sp>
        <p:nvSpPr>
          <p:cNvPr id="6" name="TextBox 5"/>
          <p:cNvSpPr txBox="1"/>
          <p:nvPr/>
        </p:nvSpPr>
        <p:spPr>
          <a:xfrm>
            <a:off x="457200" y="4160520"/>
            <a:ext cx="5212080" cy="320040"/>
          </a:xfrm>
          <a:prstGeom prst="rect">
            <a:avLst/>
          </a:prstGeom>
          <a:noFill/>
        </p:spPr>
        <p:txBody>
          <a:bodyPr wrap="none">
            <a:spAutoFit/>
          </a:bodyPr>
          <a:lstStyle/>
          <a:p>
            <a:pPr algn="ctr"/>
            <a:r>
              <a:rPr sz="1100" b="1">
                <a:solidFill>
                  <a:srgbClr val="1B2A4A"/>
                </a:solidFill>
              </a:rPr>
              <a:t>백엔드별 수치 (빨강=default 4090, 혹사)</a:t>
            </a:r>
          </a:p>
        </p:txBody>
      </p:sp>
      <p:pic>
        <p:nvPicPr>
          <p:cNvPr id="7" name="Picture 6" descr="homo_hetero_perbackend_hitrate.png"/>
          <p:cNvPicPr>
            <a:picLocks noChangeAspect="1"/>
          </p:cNvPicPr>
          <p:nvPr/>
        </p:nvPicPr>
        <p:blipFill>
          <a:blip r:embed="rId2"/>
          <a:stretch>
            <a:fillRect/>
          </a:stretch>
        </p:blipFill>
        <p:spPr>
          <a:xfrm>
            <a:off x="5806440" y="1920240"/>
            <a:ext cx="6126480" cy="4084320"/>
          </a:xfrm>
          <a:prstGeom prst="rect">
            <a:avLst/>
          </a:prstGeom>
        </p:spPr>
      </p:pic>
      <p:sp>
        <p:nvSpPr>
          <p:cNvPr id="8" name="TextBox 7"/>
          <p:cNvSpPr txBox="1"/>
          <p:nvPr/>
        </p:nvSpPr>
        <p:spPr>
          <a:xfrm>
            <a:off x="5806440" y="5943600"/>
            <a:ext cx="6126480" cy="320040"/>
          </a:xfrm>
          <a:prstGeom prst="rect">
            <a:avLst/>
          </a:prstGeom>
          <a:noFill/>
        </p:spPr>
        <p:txBody>
          <a:bodyPr wrap="none">
            <a:spAutoFit/>
          </a:bodyPr>
          <a:lstStyle/>
          <a:p>
            <a:pPr algn="ctr"/>
            <a:r>
              <a:rPr sz="1100" b="1">
                <a:solidFill>
                  <a:srgbClr val="1B2A4A"/>
                </a:solidFill>
              </a:rPr>
              <a:t>백엔드별 hit rate: default 4090만 붕괴</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822960"/>
          </a:xfrm>
          <a:prstGeom prst="rect">
            <a:avLst/>
          </a:prstGeom>
          <a:noFill/>
        </p:spPr>
        <p:txBody>
          <a:bodyPr wrap="none">
            <a:spAutoFit/>
          </a:bodyPr>
          <a:lstStyle/>
          <a:p>
            <a:r>
              <a:rPr sz="2600" b="1">
                <a:solidFill>
                  <a:srgbClr val="1B2A4A"/>
                </a:solidFill>
              </a:rPr>
              <a:t>F 결과 ③ — 가설 검증: H1 반증</a:t>
            </a:r>
          </a:p>
        </p:txBody>
      </p:sp>
      <p:sp>
        <p:nvSpPr>
          <p:cNvPr id="3" name="Rectangle 2"/>
          <p:cNvSpPr/>
          <p:nvPr/>
        </p:nvSpPr>
        <p:spPr>
          <a:xfrm>
            <a:off x="530352" y="1005840"/>
            <a:ext cx="2926080" cy="38100"/>
          </a:xfrm>
          <a:prstGeom prst="rect">
            <a:avLst/>
          </a:prstGeom>
          <a:solidFill>
            <a:srgbClr val="2E6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34440"/>
            <a:ext cx="5577840" cy="1554480"/>
          </a:xfrm>
          <a:prstGeom prst="rect">
            <a:avLst/>
          </a:prstGeom>
          <a:noFill/>
        </p:spPr>
        <p:txBody>
          <a:bodyPr wrap="square">
            <a:spAutoFit/>
          </a:bodyPr>
          <a:lstStyle/>
          <a:p>
            <a:pPr>
              <a:spcAft>
                <a:spcPts val="700"/>
              </a:spcAft>
            </a:pPr>
            <a:r>
              <a:rPr sz="1400" b="1">
                <a:solidFill>
                  <a:srgbClr val="1B2A4A"/>
                </a:solidFill>
              </a:rPr>
              <a:t>사전 가설 H1: 'tr의 절대-토큰 균형이 작은 4090을 먼저 포화'</a:t>
            </a:r>
          </a:p>
          <a:p>
            <a:pPr>
              <a:spcAft>
                <a:spcPts val="700"/>
              </a:spcAft>
            </a:pPr>
            <a:r>
              <a:rPr sz="1400" b="1">
                <a:solidFill>
                  <a:srgbClr val="B12A2A"/>
                </a:solidFill>
              </a:rPr>
              <a:t>실측: tr 4090·5090 hit 유사(≈0.67) → 사전 등록 반증 조건 충족 → H1 기각</a:t>
            </a:r>
          </a:p>
          <a:p>
            <a:pPr lvl="1">
              <a:spcAft>
                <a:spcPts val="700"/>
              </a:spcAft>
            </a:pPr>
            <a:r>
              <a:rPr sz="1200" b="0">
                <a:solidFill>
                  <a:srgbClr val="1B2A4A"/>
                </a:solidFill>
              </a:rPr>
              <a:t>소형-GPU 혹사는 default 병리. 단 tr은 큰 5090을 다 못 씀 ↓</a:t>
            </a:r>
          </a:p>
        </p:txBody>
      </p:sp>
      <p:graphicFrame>
        <p:nvGraphicFramePr>
          <p:cNvPr id="5" name="Table 4"/>
          <p:cNvGraphicFramePr>
            <a:graphicFrameLocks noGrp="1"/>
          </p:cNvGraphicFramePr>
          <p:nvPr/>
        </p:nvGraphicFramePr>
        <p:xfrm>
          <a:off x="548640" y="3017520"/>
          <a:ext cx="5486400" cy="877824"/>
        </p:xfrm>
        <a:graphic>
          <a:graphicData uri="http://schemas.openxmlformats.org/drawingml/2006/table">
            <a:tbl>
              <a:tblPr>
                <a:tableStyleId>{5C22544A-7EE6-4342-B048-85BDC9FD1C3A}</a:tableStyleId>
              </a:tblPr>
              <a:tblGrid>
                <a:gridCol w="1737360"/>
                <a:gridCol w="1097280"/>
                <a:gridCol w="1097280"/>
                <a:gridCol w="1554480"/>
              </a:tblGrid>
              <a:tr h="292608">
                <a:tc>
                  <a:txBody>
                    <a:bodyPr/>
                    <a:lstStyle/>
                    <a:p>
                      <a:pPr algn="ctr"/>
                      <a:r>
                        <a:rPr sz="1300" b="1">
                          <a:solidFill>
                            <a:srgbClr val="FFFFFF"/>
                          </a:solidFill>
                        </a:rPr>
                        <a:t/>
                      </a:r>
                    </a:p>
                  </a:txBody>
                  <a:tcPr marT="12700" marB="12700">
                    <a:solidFill>
                      <a:srgbClr val="1B2A4A"/>
                    </a:solidFill>
                  </a:tcPr>
                </a:tc>
                <a:tc>
                  <a:txBody>
                    <a:bodyPr/>
                    <a:lstStyle/>
                    <a:p>
                      <a:pPr algn="ctr"/>
                      <a:r>
                        <a:rPr sz="1300" b="1">
                          <a:solidFill>
                            <a:srgbClr val="FFFFFF"/>
                          </a:solidFill>
                        </a:rPr>
                        <a:t>4090</a:t>
                      </a:r>
                    </a:p>
                  </a:txBody>
                  <a:tcPr marT="12700" marB="12700">
                    <a:solidFill>
                      <a:srgbClr val="1B2A4A"/>
                    </a:solidFill>
                  </a:tcPr>
                </a:tc>
                <a:tc>
                  <a:txBody>
                    <a:bodyPr/>
                    <a:lstStyle/>
                    <a:p>
                      <a:pPr algn="ctr"/>
                      <a:r>
                        <a:rPr sz="1300" b="1">
                          <a:solidFill>
                            <a:srgbClr val="FFFFFF"/>
                          </a:solidFill>
                        </a:rPr>
                        <a:t>5090</a:t>
                      </a:r>
                    </a:p>
                  </a:txBody>
                  <a:tcPr marT="12700" marB="12700">
                    <a:solidFill>
                      <a:srgbClr val="1B2A4A"/>
                    </a:solidFill>
                  </a:tcPr>
                </a:tc>
                <a:tc>
                  <a:txBody>
                    <a:bodyPr/>
                    <a:lstStyle/>
                    <a:p>
                      <a:pPr algn="ctr"/>
                      <a:r>
                        <a:rPr sz="1300" b="1">
                          <a:solidFill>
                            <a:srgbClr val="FFFFFF"/>
                          </a:solidFill>
                        </a:rPr>
                        <a:t>비율</a:t>
                      </a:r>
                    </a:p>
                  </a:txBody>
                  <a:tcPr marT="12700" marB="12700">
                    <a:solidFill>
                      <a:srgbClr val="1B2A4A"/>
                    </a:solidFill>
                  </a:tcPr>
                </a:tc>
              </a:tr>
              <a:tr h="292608">
                <a:tc>
                  <a:txBody>
                    <a:bodyPr/>
                    <a:lstStyle/>
                    <a:p>
                      <a:pPr algn="ctr"/>
                      <a:r>
                        <a:rPr sz="1300" b="0">
                          <a:solidFill>
                            <a:srgbClr val="1B2A4A"/>
                          </a:solidFill>
                        </a:rPr>
                        <a:t>KV 풀 (GiB)</a:t>
                      </a:r>
                    </a:p>
                  </a:txBody>
                  <a:tcPr marT="12700" marB="12700">
                    <a:solidFill>
                      <a:srgbClr val="FFFFFF"/>
                    </a:solidFill>
                  </a:tcPr>
                </a:tc>
                <a:tc>
                  <a:txBody>
                    <a:bodyPr/>
                    <a:lstStyle/>
                    <a:p>
                      <a:pPr algn="ctr"/>
                      <a:r>
                        <a:rPr sz="1300" b="0">
                          <a:solidFill>
                            <a:srgbClr val="1B2A4A"/>
                          </a:solidFill>
                        </a:rPr>
                        <a:t>6.03</a:t>
                      </a:r>
                    </a:p>
                  </a:txBody>
                  <a:tcPr marT="12700" marB="12700">
                    <a:solidFill>
                      <a:srgbClr val="FFFFFF"/>
                    </a:solidFill>
                  </a:tcPr>
                </a:tc>
                <a:tc>
                  <a:txBody>
                    <a:bodyPr/>
                    <a:lstStyle/>
                    <a:p>
                      <a:pPr algn="ctr"/>
                      <a:r>
                        <a:rPr sz="1300" b="0">
                          <a:solidFill>
                            <a:srgbClr val="1B2A4A"/>
                          </a:solidFill>
                        </a:rPr>
                        <a:t>12.23</a:t>
                      </a:r>
                    </a:p>
                  </a:txBody>
                  <a:tcPr marT="12700" marB="12700">
                    <a:solidFill>
                      <a:srgbClr val="FFFFFF"/>
                    </a:solidFill>
                  </a:tcPr>
                </a:tc>
                <a:tc>
                  <a:txBody>
                    <a:bodyPr/>
                    <a:lstStyle/>
                    <a:p>
                      <a:pPr algn="ctr"/>
                      <a:r>
                        <a:rPr sz="1300" b="0">
                          <a:solidFill>
                            <a:srgbClr val="1B2A4A"/>
                          </a:solidFill>
                        </a:rPr>
                        <a:t>1 : 2.03</a:t>
                      </a:r>
                    </a:p>
                  </a:txBody>
                  <a:tcPr marT="12700" marB="12700">
                    <a:solidFill>
                      <a:srgbClr val="FFFFFF"/>
                    </a:solidFill>
                  </a:tcPr>
                </a:tc>
              </a:tr>
              <a:tr h="292608">
                <a:tc>
                  <a:txBody>
                    <a:bodyPr/>
                    <a:lstStyle/>
                    <a:p>
                      <a:pPr algn="ctr"/>
                      <a:r>
                        <a:rPr sz="1300" b="0">
                          <a:solidFill>
                            <a:srgbClr val="1B2A4A"/>
                          </a:solidFill>
                        </a:rPr>
                        <a:t>tr split (q, M)</a:t>
                      </a:r>
                    </a:p>
                  </a:txBody>
                  <a:tcPr marT="12700" marB="12700">
                    <a:solidFill>
                      <a:srgbClr val="FFFFFF"/>
                    </a:solidFill>
                  </a:tcPr>
                </a:tc>
                <a:tc>
                  <a:txBody>
                    <a:bodyPr/>
                    <a:lstStyle/>
                    <a:p>
                      <a:pPr algn="ctr"/>
                      <a:r>
                        <a:rPr sz="1300" b="0">
                          <a:solidFill>
                            <a:srgbClr val="1B2A4A"/>
                          </a:solidFill>
                        </a:rPr>
                        <a:t>0.80</a:t>
                      </a:r>
                    </a:p>
                  </a:txBody>
                  <a:tcPr marT="12700" marB="12700">
                    <a:solidFill>
                      <a:srgbClr val="FFFFFF"/>
                    </a:solidFill>
                  </a:tcPr>
                </a:tc>
                <a:tc>
                  <a:txBody>
                    <a:bodyPr/>
                    <a:lstStyle/>
                    <a:p>
                      <a:pPr algn="ctr"/>
                      <a:r>
                        <a:rPr sz="1300" b="0">
                          <a:solidFill>
                            <a:srgbClr val="1B2A4A"/>
                          </a:solidFill>
                        </a:rPr>
                        <a:t>1.29</a:t>
                      </a:r>
                    </a:p>
                  </a:txBody>
                  <a:tcPr marT="12700" marB="12700">
                    <a:solidFill>
                      <a:srgbClr val="FFFFFF"/>
                    </a:solidFill>
                  </a:tcPr>
                </a:tc>
                <a:tc>
                  <a:txBody>
                    <a:bodyPr/>
                    <a:lstStyle/>
                    <a:p>
                      <a:pPr algn="ctr"/>
                      <a:r>
                        <a:rPr sz="1300" b="1">
                          <a:solidFill>
                            <a:srgbClr val="B12A2A"/>
                          </a:solidFill>
                        </a:rPr>
                        <a:t>1 : 1.6</a:t>
                      </a:r>
                    </a:p>
                  </a:txBody>
                  <a:tcPr marT="12700" marB="12700">
                    <a:solidFill>
                      <a:srgbClr val="FFFFFF"/>
                    </a:solidFill>
                  </a:tcPr>
                </a:tc>
              </a:tr>
            </a:tbl>
          </a:graphicData>
        </a:graphic>
      </p:graphicFrame>
      <p:sp>
        <p:nvSpPr>
          <p:cNvPr id="6" name="TextBox 5"/>
          <p:cNvSpPr txBox="1"/>
          <p:nvPr/>
        </p:nvSpPr>
        <p:spPr>
          <a:xfrm>
            <a:off x="548640" y="3977639"/>
            <a:ext cx="4160520" cy="320040"/>
          </a:xfrm>
          <a:prstGeom prst="rect">
            <a:avLst/>
          </a:prstGeom>
          <a:noFill/>
        </p:spPr>
        <p:txBody>
          <a:bodyPr wrap="none">
            <a:spAutoFit/>
          </a:bodyPr>
          <a:lstStyle/>
          <a:p>
            <a:pPr algn="ctr"/>
            <a:r>
              <a:rPr sz="1100" b="1">
                <a:solidFill>
                  <a:srgbClr val="1B2A4A"/>
                </a:solidFill>
              </a:rPr>
              <a:t>tr split(1:1.6) &lt; 용량비(1:2.03) → 5090 과소활용</a:t>
            </a:r>
          </a:p>
        </p:txBody>
      </p:sp>
      <p:pic>
        <p:nvPicPr>
          <p:cNvPr id="7" name="Picture 6" descr="homo_hetero_perbackend_reprefill.png"/>
          <p:cNvPicPr>
            <a:picLocks noChangeAspect="1"/>
          </p:cNvPicPr>
          <p:nvPr/>
        </p:nvPicPr>
        <p:blipFill>
          <a:blip r:embed="rId2"/>
          <a:stretch>
            <a:fillRect/>
          </a:stretch>
        </p:blipFill>
        <p:spPr>
          <a:xfrm>
            <a:off x="6446520" y="1691640"/>
            <a:ext cx="5486400" cy="3657600"/>
          </a:xfrm>
          <a:prstGeom prst="rect">
            <a:avLst/>
          </a:prstGeom>
        </p:spPr>
      </p:pic>
      <p:sp>
        <p:nvSpPr>
          <p:cNvPr id="8" name="TextBox 7"/>
          <p:cNvSpPr txBox="1"/>
          <p:nvPr/>
        </p:nvSpPr>
        <p:spPr>
          <a:xfrm>
            <a:off x="6446520" y="5669280"/>
            <a:ext cx="5486400" cy="320040"/>
          </a:xfrm>
          <a:prstGeom prst="rect">
            <a:avLst/>
          </a:prstGeom>
          <a:noFill/>
        </p:spPr>
        <p:txBody>
          <a:bodyPr wrap="none">
            <a:spAutoFit/>
          </a:bodyPr>
          <a:lstStyle/>
          <a:p>
            <a:pPr algn="ctr"/>
            <a:r>
              <a:rPr sz="1100" b="1">
                <a:solidFill>
                  <a:srgbClr val="1B2A4A"/>
                </a:solidFill>
              </a:rPr>
              <a:t>백엔드별 재프리필: default 4090이 ~4배</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822960"/>
          </a:xfrm>
          <a:prstGeom prst="rect">
            <a:avLst/>
          </a:prstGeom>
          <a:noFill/>
        </p:spPr>
        <p:txBody>
          <a:bodyPr wrap="none">
            <a:spAutoFit/>
          </a:bodyPr>
          <a:lstStyle/>
          <a:p>
            <a:r>
              <a:rPr sz="2600" b="1">
                <a:solidFill>
                  <a:srgbClr val="1B2A4A"/>
                </a:solidFill>
              </a:rPr>
              <a:t>G 결과 ① — 실 TraceLab × 이종: tr throughput 회복 (vs D)</a:t>
            </a:r>
          </a:p>
        </p:txBody>
      </p:sp>
      <p:sp>
        <p:nvSpPr>
          <p:cNvPr id="3" name="Rectangle 2"/>
          <p:cNvSpPr/>
          <p:nvPr/>
        </p:nvSpPr>
        <p:spPr>
          <a:xfrm>
            <a:off x="530352" y="1005840"/>
            <a:ext cx="2926080" cy="38100"/>
          </a:xfrm>
          <a:prstGeom prst="rect">
            <a:avLst/>
          </a:prstGeom>
          <a:solidFill>
            <a:srgbClr val="2E6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88720"/>
            <a:ext cx="5760720" cy="1828800"/>
          </a:xfrm>
          <a:prstGeom prst="rect">
            <a:avLst/>
          </a:prstGeom>
          <a:noFill/>
        </p:spPr>
        <p:txBody>
          <a:bodyPr wrap="square">
            <a:spAutoFit/>
          </a:bodyPr>
          <a:lstStyle/>
          <a:p>
            <a:pPr>
              <a:spcAft>
                <a:spcPts val="700"/>
              </a:spcAft>
            </a:pPr>
            <a:r>
              <a:rPr sz="1400" b="1">
                <a:solidFill>
                  <a:srgbClr val="1B2A4A"/>
                </a:solidFill>
              </a:rPr>
              <a:t>실데이터를 4090+5090으로: D(2×4090)에서 tr이 잃은 throughput이 회복되나?</a:t>
            </a:r>
          </a:p>
          <a:p>
            <a:pPr lvl="1">
              <a:spcAft>
                <a:spcPts val="700"/>
              </a:spcAft>
            </a:pPr>
            <a:r>
              <a:rPr sz="1200" b="0">
                <a:solidFill>
                  <a:srgbClr val="1E7A3C"/>
                </a:solidFill>
              </a:rPr>
              <a:t>tr throughput D 대비 1.6~1.7× 회복 (D 0.067~0.078 → G 0.115~0.126)</a:t>
            </a:r>
          </a:p>
          <a:p>
            <a:pPr lvl="1">
              <a:spcAft>
                <a:spcPts val="700"/>
              </a:spcAft>
            </a:pPr>
            <a:r>
              <a:rPr sz="1200" b="0">
                <a:solidFill>
                  <a:srgbClr val="1B2A4A"/>
                </a:solidFill>
              </a:rPr>
              <a:t>default와 격차 34%→8%로 축소(c48) — 단 완전 역전은 아님</a:t>
            </a:r>
          </a:p>
          <a:p>
            <a:pPr>
              <a:spcAft>
                <a:spcPts val="700"/>
              </a:spcAft>
            </a:pPr>
            <a:r>
              <a:rPr sz="1400" b="1">
                <a:solidFill>
                  <a:srgbClr val="1B2A4A"/>
                </a:solidFill>
              </a:rPr>
              <a:t>hit rate는 tr 압승 유지(0.68~0.83 vs 0.03). p95는 tr 여전히 열세(D 패턴).</a:t>
            </a:r>
          </a:p>
        </p:txBody>
      </p:sp>
      <p:graphicFrame>
        <p:nvGraphicFramePr>
          <p:cNvPr id="5" name="Table 4"/>
          <p:cNvGraphicFramePr>
            <a:graphicFrameLocks noGrp="1"/>
          </p:cNvGraphicFramePr>
          <p:nvPr/>
        </p:nvGraphicFramePr>
        <p:xfrm>
          <a:off x="457200" y="3200400"/>
          <a:ext cx="5760720" cy="1371600"/>
        </p:xfrm>
        <a:graphic>
          <a:graphicData uri="http://schemas.openxmlformats.org/drawingml/2006/table">
            <a:tbl>
              <a:tblPr>
                <a:tableStyleId>{5C22544A-7EE6-4342-B048-85BDC9FD1C3A}</a:tableStyleId>
              </a:tblPr>
              <a:tblGrid>
                <a:gridCol w="640080"/>
                <a:gridCol w="1005840"/>
                <a:gridCol w="1005840"/>
                <a:gridCol w="1005840"/>
                <a:gridCol w="1051560"/>
                <a:gridCol w="1051560"/>
              </a:tblGrid>
              <a:tr h="274320">
                <a:tc>
                  <a:txBody>
                    <a:bodyPr/>
                    <a:lstStyle/>
                    <a:p>
                      <a:pPr algn="ctr"/>
                      <a:r>
                        <a:rPr sz="1200" b="1">
                          <a:solidFill>
                            <a:srgbClr val="FFFFFF"/>
                          </a:solidFill>
                        </a:rPr>
                        <a:t>C</a:t>
                      </a:r>
                    </a:p>
                  </a:txBody>
                  <a:tcPr marT="12700" marB="12700">
                    <a:solidFill>
                      <a:srgbClr val="1B2A4A"/>
                    </a:solidFill>
                  </a:tcPr>
                </a:tc>
                <a:tc>
                  <a:txBody>
                    <a:bodyPr/>
                    <a:lstStyle/>
                    <a:p>
                      <a:pPr algn="ctr"/>
                      <a:r>
                        <a:rPr sz="1200" b="1">
                          <a:solidFill>
                            <a:srgbClr val="FFFFFF"/>
                          </a:solidFill>
                        </a:rPr>
                        <a:t>D tr</a:t>
                      </a:r>
                    </a:p>
                  </a:txBody>
                  <a:tcPr marT="12700" marB="12700">
                    <a:solidFill>
                      <a:srgbClr val="1B2A4A"/>
                    </a:solidFill>
                  </a:tcPr>
                </a:tc>
                <a:tc>
                  <a:txBody>
                    <a:bodyPr/>
                    <a:lstStyle/>
                    <a:p>
                      <a:pPr algn="ctr"/>
                      <a:r>
                        <a:rPr sz="1200" b="1">
                          <a:solidFill>
                            <a:srgbClr val="FFFFFF"/>
                          </a:solidFill>
                        </a:rPr>
                        <a:t>G tr</a:t>
                      </a:r>
                    </a:p>
                  </a:txBody>
                  <a:tcPr marT="12700" marB="12700">
                    <a:solidFill>
                      <a:srgbClr val="1B2A4A"/>
                    </a:solidFill>
                  </a:tcPr>
                </a:tc>
                <a:tc>
                  <a:txBody>
                    <a:bodyPr/>
                    <a:lstStyle/>
                    <a:p>
                      <a:pPr algn="ctr"/>
                      <a:r>
                        <a:rPr sz="1200" b="1">
                          <a:solidFill>
                            <a:srgbClr val="FFFFFF"/>
                          </a:solidFill>
                        </a:rPr>
                        <a:t>G def</a:t>
                      </a:r>
                    </a:p>
                  </a:txBody>
                  <a:tcPr marT="12700" marB="12700">
                    <a:solidFill>
                      <a:srgbClr val="1B2A4A"/>
                    </a:solidFill>
                  </a:tcPr>
                </a:tc>
                <a:tc>
                  <a:txBody>
                    <a:bodyPr/>
                    <a:lstStyle/>
                    <a:p>
                      <a:pPr algn="ctr"/>
                      <a:r>
                        <a:rPr sz="1200" b="1">
                          <a:solidFill>
                            <a:srgbClr val="FFFFFF"/>
                          </a:solidFill>
                        </a:rPr>
                        <a:t>hit tr</a:t>
                      </a:r>
                    </a:p>
                  </a:txBody>
                  <a:tcPr marT="12700" marB="12700">
                    <a:solidFill>
                      <a:srgbClr val="1B2A4A"/>
                    </a:solidFill>
                  </a:tcPr>
                </a:tc>
                <a:tc>
                  <a:txBody>
                    <a:bodyPr/>
                    <a:lstStyle/>
                    <a:p>
                      <a:pPr algn="ctr"/>
                      <a:r>
                        <a:rPr sz="1200" b="1">
                          <a:solidFill>
                            <a:srgbClr val="FFFFFF"/>
                          </a:solidFill>
                        </a:rPr>
                        <a:t>hit def</a:t>
                      </a:r>
                    </a:p>
                  </a:txBody>
                  <a:tcPr marT="12700" marB="12700">
                    <a:solidFill>
                      <a:srgbClr val="1B2A4A"/>
                    </a:solidFill>
                  </a:tcPr>
                </a:tc>
              </a:tr>
              <a:tr h="274320">
                <a:tc>
                  <a:txBody>
                    <a:bodyPr/>
                    <a:lstStyle/>
                    <a:p>
                      <a:pPr algn="ctr"/>
                      <a:r>
                        <a:rPr sz="1200" b="0">
                          <a:solidFill>
                            <a:srgbClr val="1B2A4A"/>
                          </a:solidFill>
                        </a:rPr>
                        <a:t>8</a:t>
                      </a:r>
                    </a:p>
                  </a:txBody>
                  <a:tcPr marT="12700" marB="12700">
                    <a:solidFill>
                      <a:srgbClr val="FFFFFF"/>
                    </a:solidFill>
                  </a:tcPr>
                </a:tc>
                <a:tc>
                  <a:txBody>
                    <a:bodyPr/>
                    <a:lstStyle/>
                    <a:p>
                      <a:pPr algn="ctr"/>
                      <a:r>
                        <a:rPr sz="1200" b="0">
                          <a:solidFill>
                            <a:srgbClr val="1B2A4A"/>
                          </a:solidFill>
                        </a:rPr>
                        <a:t>0.078</a:t>
                      </a:r>
                    </a:p>
                  </a:txBody>
                  <a:tcPr marT="12700" marB="12700">
                    <a:solidFill>
                      <a:srgbClr val="FFFFFF"/>
                    </a:solidFill>
                  </a:tcPr>
                </a:tc>
                <a:tc>
                  <a:txBody>
                    <a:bodyPr/>
                    <a:lstStyle/>
                    <a:p>
                      <a:pPr algn="ctr"/>
                      <a:r>
                        <a:rPr sz="1200" b="0">
                          <a:solidFill>
                            <a:srgbClr val="1B2A4A"/>
                          </a:solidFill>
                        </a:rPr>
                        <a:t>0.126</a:t>
                      </a:r>
                    </a:p>
                  </a:txBody>
                  <a:tcPr marT="12700" marB="12700">
                    <a:solidFill>
                      <a:srgbClr val="FFFFFF"/>
                    </a:solidFill>
                  </a:tcPr>
                </a:tc>
                <a:tc>
                  <a:txBody>
                    <a:bodyPr/>
                    <a:lstStyle/>
                    <a:p>
                      <a:pPr algn="ctr"/>
                      <a:r>
                        <a:rPr sz="1200" b="0">
                          <a:solidFill>
                            <a:srgbClr val="1B2A4A"/>
                          </a:solidFill>
                        </a:rPr>
                        <a:t>0.154</a:t>
                      </a:r>
                    </a:p>
                  </a:txBody>
                  <a:tcPr marT="12700" marB="12700">
                    <a:solidFill>
                      <a:srgbClr val="FFFFFF"/>
                    </a:solidFill>
                  </a:tcPr>
                </a:tc>
                <a:tc>
                  <a:txBody>
                    <a:bodyPr/>
                    <a:lstStyle/>
                    <a:p>
                      <a:pPr algn="ctr"/>
                      <a:r>
                        <a:rPr sz="1200" b="0">
                          <a:solidFill>
                            <a:srgbClr val="1B2A4A"/>
                          </a:solidFill>
                        </a:rPr>
                        <a:t>0.77</a:t>
                      </a:r>
                    </a:p>
                  </a:txBody>
                  <a:tcPr marT="12700" marB="12700">
                    <a:solidFill>
                      <a:srgbClr val="FFFFFF"/>
                    </a:solidFill>
                  </a:tcPr>
                </a:tc>
                <a:tc>
                  <a:txBody>
                    <a:bodyPr/>
                    <a:lstStyle/>
                    <a:p>
                      <a:pPr algn="ctr"/>
                      <a:r>
                        <a:rPr sz="1200" b="1">
                          <a:solidFill>
                            <a:srgbClr val="B12A2A"/>
                          </a:solidFill>
                        </a:rPr>
                        <a:t>0.39</a:t>
                      </a:r>
                    </a:p>
                  </a:txBody>
                  <a:tcPr marT="12700" marB="12700">
                    <a:solidFill>
                      <a:srgbClr val="FFFFFF"/>
                    </a:solidFill>
                  </a:tcPr>
                </a:tc>
              </a:tr>
              <a:tr h="274320">
                <a:tc>
                  <a:txBody>
                    <a:bodyPr/>
                    <a:lstStyle/>
                    <a:p>
                      <a:pPr algn="ctr"/>
                      <a:r>
                        <a:rPr sz="1200" b="0">
                          <a:solidFill>
                            <a:srgbClr val="1B2A4A"/>
                          </a:solidFill>
                        </a:rPr>
                        <a:t>16</a:t>
                      </a:r>
                    </a:p>
                  </a:txBody>
                  <a:tcPr marT="12700" marB="12700">
                    <a:solidFill>
                      <a:srgbClr val="FFFFFF"/>
                    </a:solidFill>
                  </a:tcPr>
                </a:tc>
                <a:tc>
                  <a:txBody>
                    <a:bodyPr/>
                    <a:lstStyle/>
                    <a:p>
                      <a:pPr algn="ctr"/>
                      <a:r>
                        <a:rPr sz="1200" b="0">
                          <a:solidFill>
                            <a:srgbClr val="1B2A4A"/>
                          </a:solidFill>
                        </a:rPr>
                        <a:t>0.073</a:t>
                      </a:r>
                    </a:p>
                  </a:txBody>
                  <a:tcPr marT="12700" marB="12700">
                    <a:solidFill>
                      <a:srgbClr val="FFFFFF"/>
                    </a:solidFill>
                  </a:tcPr>
                </a:tc>
                <a:tc>
                  <a:txBody>
                    <a:bodyPr/>
                    <a:lstStyle/>
                    <a:p>
                      <a:pPr algn="ctr"/>
                      <a:r>
                        <a:rPr sz="1200" b="0">
                          <a:solidFill>
                            <a:srgbClr val="1B2A4A"/>
                          </a:solidFill>
                        </a:rPr>
                        <a:t>0.116</a:t>
                      </a:r>
                    </a:p>
                  </a:txBody>
                  <a:tcPr marT="12700" marB="12700">
                    <a:solidFill>
                      <a:srgbClr val="FFFFFF"/>
                    </a:solidFill>
                  </a:tcPr>
                </a:tc>
                <a:tc>
                  <a:txBody>
                    <a:bodyPr/>
                    <a:lstStyle/>
                    <a:p>
                      <a:pPr algn="ctr"/>
                      <a:r>
                        <a:rPr sz="1200" b="0">
                          <a:solidFill>
                            <a:srgbClr val="1B2A4A"/>
                          </a:solidFill>
                        </a:rPr>
                        <a:t>0.143</a:t>
                      </a:r>
                    </a:p>
                  </a:txBody>
                  <a:tcPr marT="12700" marB="12700">
                    <a:solidFill>
                      <a:srgbClr val="FFFFFF"/>
                    </a:solidFill>
                  </a:tcPr>
                </a:tc>
                <a:tc>
                  <a:txBody>
                    <a:bodyPr/>
                    <a:lstStyle/>
                    <a:p>
                      <a:pPr algn="ctr"/>
                      <a:r>
                        <a:rPr sz="1200" b="0">
                          <a:solidFill>
                            <a:srgbClr val="1B2A4A"/>
                          </a:solidFill>
                        </a:rPr>
                        <a:t>0.74</a:t>
                      </a:r>
                    </a:p>
                  </a:txBody>
                  <a:tcPr marT="12700" marB="12700">
                    <a:solidFill>
                      <a:srgbClr val="FFFFFF"/>
                    </a:solidFill>
                  </a:tcPr>
                </a:tc>
                <a:tc>
                  <a:txBody>
                    <a:bodyPr/>
                    <a:lstStyle/>
                    <a:p>
                      <a:pPr algn="ctr"/>
                      <a:r>
                        <a:rPr sz="1200" b="1">
                          <a:solidFill>
                            <a:srgbClr val="B12A2A"/>
                          </a:solidFill>
                        </a:rPr>
                        <a:t>0.07</a:t>
                      </a:r>
                    </a:p>
                  </a:txBody>
                  <a:tcPr marT="12700" marB="12700">
                    <a:solidFill>
                      <a:srgbClr val="FFFFFF"/>
                    </a:solidFill>
                  </a:tcPr>
                </a:tc>
              </a:tr>
              <a:tr h="274320">
                <a:tc>
                  <a:txBody>
                    <a:bodyPr/>
                    <a:lstStyle/>
                    <a:p>
                      <a:pPr algn="ctr"/>
                      <a:r>
                        <a:rPr sz="1200" b="0">
                          <a:solidFill>
                            <a:srgbClr val="1B2A4A"/>
                          </a:solidFill>
                        </a:rPr>
                        <a:t>32</a:t>
                      </a:r>
                    </a:p>
                  </a:txBody>
                  <a:tcPr marT="12700" marB="12700">
                    <a:solidFill>
                      <a:srgbClr val="FFFFFF"/>
                    </a:solidFill>
                  </a:tcPr>
                </a:tc>
                <a:tc>
                  <a:txBody>
                    <a:bodyPr/>
                    <a:lstStyle/>
                    <a:p>
                      <a:pPr algn="ctr"/>
                      <a:r>
                        <a:rPr sz="1200" b="0">
                          <a:solidFill>
                            <a:srgbClr val="1B2A4A"/>
                          </a:solidFill>
                        </a:rPr>
                        <a:t>0.069</a:t>
                      </a:r>
                    </a:p>
                  </a:txBody>
                  <a:tcPr marT="12700" marB="12700">
                    <a:solidFill>
                      <a:srgbClr val="FFFFFF"/>
                    </a:solidFill>
                  </a:tcPr>
                </a:tc>
                <a:tc>
                  <a:txBody>
                    <a:bodyPr/>
                    <a:lstStyle/>
                    <a:p>
                      <a:pPr algn="ctr"/>
                      <a:r>
                        <a:rPr sz="1200" b="0">
                          <a:solidFill>
                            <a:srgbClr val="1B2A4A"/>
                          </a:solidFill>
                        </a:rPr>
                        <a:t>0.116</a:t>
                      </a:r>
                    </a:p>
                  </a:txBody>
                  <a:tcPr marT="12700" marB="12700">
                    <a:solidFill>
                      <a:srgbClr val="FFFFFF"/>
                    </a:solidFill>
                  </a:tcPr>
                </a:tc>
                <a:tc>
                  <a:txBody>
                    <a:bodyPr/>
                    <a:lstStyle/>
                    <a:p>
                      <a:pPr algn="ctr"/>
                      <a:r>
                        <a:rPr sz="1200" b="0">
                          <a:solidFill>
                            <a:srgbClr val="1B2A4A"/>
                          </a:solidFill>
                        </a:rPr>
                        <a:t>0.132</a:t>
                      </a:r>
                    </a:p>
                  </a:txBody>
                  <a:tcPr marT="12700" marB="12700">
                    <a:solidFill>
                      <a:srgbClr val="FFFFFF"/>
                    </a:solidFill>
                  </a:tcPr>
                </a:tc>
                <a:tc>
                  <a:txBody>
                    <a:bodyPr/>
                    <a:lstStyle/>
                    <a:p>
                      <a:pPr algn="ctr"/>
                      <a:r>
                        <a:rPr sz="1200" b="0">
                          <a:solidFill>
                            <a:srgbClr val="1B2A4A"/>
                          </a:solidFill>
                        </a:rPr>
                        <a:t>0.73</a:t>
                      </a:r>
                    </a:p>
                  </a:txBody>
                  <a:tcPr marT="12700" marB="12700">
                    <a:solidFill>
                      <a:srgbClr val="FFFFFF"/>
                    </a:solidFill>
                  </a:tcPr>
                </a:tc>
                <a:tc>
                  <a:txBody>
                    <a:bodyPr/>
                    <a:lstStyle/>
                    <a:p>
                      <a:pPr algn="ctr"/>
                      <a:r>
                        <a:rPr sz="1200" b="1">
                          <a:solidFill>
                            <a:srgbClr val="B12A2A"/>
                          </a:solidFill>
                        </a:rPr>
                        <a:t>0.03</a:t>
                      </a:r>
                    </a:p>
                  </a:txBody>
                  <a:tcPr marT="12700" marB="12700">
                    <a:solidFill>
                      <a:srgbClr val="FFFFFF"/>
                    </a:solidFill>
                  </a:tcPr>
                </a:tc>
              </a:tr>
              <a:tr h="274320">
                <a:tc>
                  <a:txBody>
                    <a:bodyPr/>
                    <a:lstStyle/>
                    <a:p>
                      <a:pPr algn="ctr"/>
                      <a:r>
                        <a:rPr sz="1200" b="0">
                          <a:solidFill>
                            <a:srgbClr val="1B2A4A"/>
                          </a:solidFill>
                        </a:rPr>
                        <a:t>48</a:t>
                      </a:r>
                    </a:p>
                  </a:txBody>
                  <a:tcPr marT="12700" marB="12700">
                    <a:solidFill>
                      <a:srgbClr val="FFFFFF"/>
                    </a:solidFill>
                  </a:tcPr>
                </a:tc>
                <a:tc>
                  <a:txBody>
                    <a:bodyPr/>
                    <a:lstStyle/>
                    <a:p>
                      <a:pPr algn="ctr"/>
                      <a:r>
                        <a:rPr sz="1200" b="0">
                          <a:solidFill>
                            <a:srgbClr val="1B2A4A"/>
                          </a:solidFill>
                        </a:rPr>
                        <a:t>0.067</a:t>
                      </a:r>
                    </a:p>
                  </a:txBody>
                  <a:tcPr marT="12700" marB="12700">
                    <a:solidFill>
                      <a:srgbClr val="FFFFFF"/>
                    </a:solidFill>
                  </a:tcPr>
                </a:tc>
                <a:tc>
                  <a:txBody>
                    <a:bodyPr/>
                    <a:lstStyle/>
                    <a:p>
                      <a:pPr algn="ctr"/>
                      <a:r>
                        <a:rPr sz="1200" b="0">
                          <a:solidFill>
                            <a:srgbClr val="1B2A4A"/>
                          </a:solidFill>
                        </a:rPr>
                        <a:t>0.115</a:t>
                      </a:r>
                    </a:p>
                  </a:txBody>
                  <a:tcPr marT="12700" marB="12700">
                    <a:solidFill>
                      <a:srgbClr val="FFFFFF"/>
                    </a:solidFill>
                  </a:tcPr>
                </a:tc>
                <a:tc>
                  <a:txBody>
                    <a:bodyPr/>
                    <a:lstStyle/>
                    <a:p>
                      <a:pPr algn="ctr"/>
                      <a:r>
                        <a:rPr sz="1200" b="0">
                          <a:solidFill>
                            <a:srgbClr val="1B2A4A"/>
                          </a:solidFill>
                        </a:rPr>
                        <a:t>0.125</a:t>
                      </a:r>
                    </a:p>
                  </a:txBody>
                  <a:tcPr marT="12700" marB="12700">
                    <a:solidFill>
                      <a:srgbClr val="FFFFFF"/>
                    </a:solidFill>
                  </a:tcPr>
                </a:tc>
                <a:tc>
                  <a:txBody>
                    <a:bodyPr/>
                    <a:lstStyle/>
                    <a:p>
                      <a:pPr algn="ctr"/>
                      <a:r>
                        <a:rPr sz="1200" b="0">
                          <a:solidFill>
                            <a:srgbClr val="1B2A4A"/>
                          </a:solidFill>
                        </a:rPr>
                        <a:t>0.68</a:t>
                      </a:r>
                    </a:p>
                  </a:txBody>
                  <a:tcPr marT="12700" marB="12700">
                    <a:solidFill>
                      <a:srgbClr val="FFFFFF"/>
                    </a:solidFill>
                  </a:tcPr>
                </a:tc>
                <a:tc>
                  <a:txBody>
                    <a:bodyPr/>
                    <a:lstStyle/>
                    <a:p>
                      <a:pPr algn="ctr"/>
                      <a:r>
                        <a:rPr sz="1200" b="1">
                          <a:solidFill>
                            <a:srgbClr val="B12A2A"/>
                          </a:solidFill>
                        </a:rPr>
                        <a:t>0.03</a:t>
                      </a:r>
                    </a:p>
                  </a:txBody>
                  <a:tcPr marT="12700" marB="12700">
                    <a:solidFill>
                      <a:srgbClr val="FFFFFF"/>
                    </a:solidFill>
                  </a:tcPr>
                </a:tc>
              </a:tr>
            </a:tbl>
          </a:graphicData>
        </a:graphic>
      </p:graphicFrame>
      <p:sp>
        <p:nvSpPr>
          <p:cNvPr id="6" name="TextBox 5"/>
          <p:cNvSpPr txBox="1"/>
          <p:nvPr/>
        </p:nvSpPr>
        <p:spPr>
          <a:xfrm>
            <a:off x="457200" y="4754880"/>
            <a:ext cx="5760720" cy="320040"/>
          </a:xfrm>
          <a:prstGeom prst="rect">
            <a:avLst/>
          </a:prstGeom>
          <a:noFill/>
        </p:spPr>
        <p:txBody>
          <a:bodyPr wrap="none">
            <a:spAutoFit/>
          </a:bodyPr>
          <a:lstStyle/>
          <a:p>
            <a:pPr algn="ctr"/>
            <a:r>
              <a:rPr sz="1100" b="1">
                <a:solidFill>
                  <a:srgbClr val="1B2A4A"/>
                </a:solidFill>
              </a:rPr>
              <a:t>throughput D tr→G tr 회복 / default hit 붕괴(빨강)</a:t>
            </a:r>
          </a:p>
        </p:txBody>
      </p:sp>
      <p:pic>
        <p:nvPicPr>
          <p:cNvPr id="7" name="Picture 6" descr="hetero_hetero_hitrate.png"/>
          <p:cNvPicPr>
            <a:picLocks noChangeAspect="1"/>
          </p:cNvPicPr>
          <p:nvPr/>
        </p:nvPicPr>
        <p:blipFill>
          <a:blip r:embed="rId2"/>
          <a:stretch>
            <a:fillRect/>
          </a:stretch>
        </p:blipFill>
        <p:spPr>
          <a:xfrm>
            <a:off x="6492240" y="1554480"/>
            <a:ext cx="5486400" cy="3716594"/>
          </a:xfrm>
          <a:prstGeom prst="rect">
            <a:avLst/>
          </a:prstGeom>
        </p:spPr>
      </p:pic>
      <p:sp>
        <p:nvSpPr>
          <p:cNvPr id="8" name="TextBox 7"/>
          <p:cNvSpPr txBox="1"/>
          <p:nvPr/>
        </p:nvSpPr>
        <p:spPr>
          <a:xfrm>
            <a:off x="6492240" y="5806440"/>
            <a:ext cx="5486400" cy="320040"/>
          </a:xfrm>
          <a:prstGeom prst="rect">
            <a:avLst/>
          </a:prstGeom>
          <a:noFill/>
        </p:spPr>
        <p:txBody>
          <a:bodyPr wrap="none">
            <a:spAutoFit/>
          </a:bodyPr>
          <a:lstStyle/>
          <a:p>
            <a:pPr algn="ctr"/>
            <a:r>
              <a:rPr sz="1100" b="1">
                <a:solidFill>
                  <a:srgbClr val="1B2A4A"/>
                </a:solidFill>
              </a:rPr>
              <a:t>G 전역 hit rate: tr 유지 vs default 붕괴</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822960"/>
          </a:xfrm>
          <a:prstGeom prst="rect">
            <a:avLst/>
          </a:prstGeom>
          <a:noFill/>
        </p:spPr>
        <p:txBody>
          <a:bodyPr wrap="none">
            <a:spAutoFit/>
          </a:bodyPr>
          <a:lstStyle/>
          <a:p>
            <a:r>
              <a:rPr sz="2600" b="1">
                <a:solidFill>
                  <a:srgbClr val="1B2A4A"/>
                </a:solidFill>
              </a:rPr>
              <a:t>G 결과 ② — 백엔드별 + 세 방향 결론</a:t>
            </a:r>
          </a:p>
        </p:txBody>
      </p:sp>
      <p:sp>
        <p:nvSpPr>
          <p:cNvPr id="3" name="Rectangle 2"/>
          <p:cNvSpPr/>
          <p:nvPr/>
        </p:nvSpPr>
        <p:spPr>
          <a:xfrm>
            <a:off x="530352" y="1005840"/>
            <a:ext cx="2926080" cy="38100"/>
          </a:xfrm>
          <a:prstGeom prst="rect">
            <a:avLst/>
          </a:prstGeom>
          <a:solidFill>
            <a:srgbClr val="2E6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88720"/>
            <a:ext cx="5212080" cy="2468880"/>
          </a:xfrm>
          <a:prstGeom prst="rect">
            <a:avLst/>
          </a:prstGeom>
          <a:noFill/>
        </p:spPr>
        <p:txBody>
          <a:bodyPr wrap="square">
            <a:spAutoFit/>
          </a:bodyPr>
          <a:lstStyle/>
          <a:p>
            <a:pPr>
              <a:spcAft>
                <a:spcPts val="700"/>
              </a:spcAft>
            </a:pPr>
            <a:r>
              <a:rPr sz="1400" b="1">
                <a:solidFill>
                  <a:srgbClr val="1B2A4A"/>
                </a:solidFill>
              </a:rPr>
              <a:t>F 패턴이 실데이터에서도 유지:</a:t>
            </a:r>
          </a:p>
          <a:p>
            <a:pPr lvl="1">
              <a:spcAft>
                <a:spcPts val="700"/>
              </a:spcAft>
            </a:pPr>
            <a:r>
              <a:rPr sz="1200" b="0">
                <a:solidFill>
                  <a:srgbClr val="B12A2A"/>
                </a:solidFill>
              </a:rPr>
              <a:t>default가 작은 4090 최악 붕괴 (c48 4090 hit 0.03 vs 5090 0.06)</a:t>
            </a:r>
          </a:p>
          <a:p>
            <a:pPr lvl="1">
              <a:spcAft>
                <a:spcPts val="700"/>
              </a:spcAft>
            </a:pPr>
            <a:r>
              <a:rPr sz="1200" b="0">
                <a:solidFill>
                  <a:srgbClr val="1E7A3C"/>
                </a:solidFill>
              </a:rPr>
              <a:t>tr은 4090·5090 균형 (둘 다 ~0.67~0.87)</a:t>
            </a:r>
          </a:p>
          <a:p>
            <a:pPr>
              <a:spcAft>
                <a:spcPts val="700"/>
              </a:spcAft>
            </a:pPr>
            <a:r>
              <a:rPr sz="1400" b="1">
                <a:solidFill>
                  <a:srgbClr val="1B2A4A"/>
                </a:solidFill>
              </a:rPr>
              <a:t>단 tr split ~1:1 ≪ 용량비 1:2.03 → 실데이터에서 5090 과소활용 (F 1:1.6보다 큼)</a:t>
            </a:r>
          </a:p>
          <a:p>
            <a:pPr lvl="1">
              <a:spcAft>
                <a:spcPts val="700"/>
              </a:spcAft>
            </a:pPr>
            <a:r>
              <a:rPr sz="1200" b="0">
                <a:solidFill>
                  <a:srgbClr val="1B2A4A"/>
                </a:solidFill>
              </a:rPr>
              <a:t>그럼에도 throughput +72%(용량 +51% 대비 초선형) → 용량 비례로 5090 더 쓰면 상단↑</a:t>
            </a:r>
          </a:p>
        </p:txBody>
      </p:sp>
      <p:graphicFrame>
        <p:nvGraphicFramePr>
          <p:cNvPr id="5" name="Table 4"/>
          <p:cNvGraphicFramePr>
            <a:graphicFrameLocks noGrp="1"/>
          </p:cNvGraphicFramePr>
          <p:nvPr/>
        </p:nvGraphicFramePr>
        <p:xfrm>
          <a:off x="548640" y="4114800"/>
          <a:ext cx="4023360" cy="877824"/>
        </p:xfrm>
        <a:graphic>
          <a:graphicData uri="http://schemas.openxmlformats.org/drawingml/2006/table">
            <a:tbl>
              <a:tblPr>
                <a:tableStyleId>{5C22544A-7EE6-4342-B048-85BDC9FD1C3A}</a:tableStyleId>
              </a:tblPr>
              <a:tblGrid>
                <a:gridCol w="1463040"/>
                <a:gridCol w="1280160"/>
                <a:gridCol w="1280160"/>
              </a:tblGrid>
              <a:tr h="292608">
                <a:tc>
                  <a:txBody>
                    <a:bodyPr/>
                    <a:lstStyle/>
                    <a:p>
                      <a:pPr algn="ctr"/>
                      <a:r>
                        <a:rPr sz="1300" b="1">
                          <a:solidFill>
                            <a:srgbClr val="FFFFFF"/>
                          </a:solidFill>
                        </a:rPr>
                        <a:t>hit (c=48)</a:t>
                      </a:r>
                    </a:p>
                  </a:txBody>
                  <a:tcPr marT="12700" marB="12700">
                    <a:solidFill>
                      <a:srgbClr val="1B2A4A"/>
                    </a:solidFill>
                  </a:tcPr>
                </a:tc>
                <a:tc>
                  <a:txBody>
                    <a:bodyPr/>
                    <a:lstStyle/>
                    <a:p>
                      <a:pPr algn="ctr"/>
                      <a:r>
                        <a:rPr sz="1300" b="1">
                          <a:solidFill>
                            <a:srgbClr val="FFFFFF"/>
                          </a:solidFill>
                        </a:rPr>
                        <a:t>tr</a:t>
                      </a:r>
                    </a:p>
                  </a:txBody>
                  <a:tcPr marT="12700" marB="12700">
                    <a:solidFill>
                      <a:srgbClr val="1B2A4A"/>
                    </a:solidFill>
                  </a:tcPr>
                </a:tc>
                <a:tc>
                  <a:txBody>
                    <a:bodyPr/>
                    <a:lstStyle/>
                    <a:p>
                      <a:pPr algn="ctr"/>
                      <a:r>
                        <a:rPr sz="1300" b="1">
                          <a:solidFill>
                            <a:srgbClr val="FFFFFF"/>
                          </a:solidFill>
                        </a:rPr>
                        <a:t>default</a:t>
                      </a:r>
                    </a:p>
                  </a:txBody>
                  <a:tcPr marT="12700" marB="12700">
                    <a:solidFill>
                      <a:srgbClr val="1B2A4A"/>
                    </a:solidFill>
                  </a:tcPr>
                </a:tc>
              </a:tr>
              <a:tr h="292608">
                <a:tc>
                  <a:txBody>
                    <a:bodyPr/>
                    <a:lstStyle/>
                    <a:p>
                      <a:pPr algn="ctr"/>
                      <a:r>
                        <a:rPr sz="1300" b="0">
                          <a:solidFill>
                            <a:srgbClr val="1B2A4A"/>
                          </a:solidFill>
                        </a:rPr>
                        <a:t>4090</a:t>
                      </a:r>
                    </a:p>
                  </a:txBody>
                  <a:tcPr marT="12700" marB="12700">
                    <a:solidFill>
                      <a:srgbClr val="FFFFFF"/>
                    </a:solidFill>
                  </a:tcPr>
                </a:tc>
                <a:tc>
                  <a:txBody>
                    <a:bodyPr/>
                    <a:lstStyle/>
                    <a:p>
                      <a:pPr algn="ctr"/>
                      <a:r>
                        <a:rPr sz="1300" b="0">
                          <a:solidFill>
                            <a:srgbClr val="1B2A4A"/>
                          </a:solidFill>
                        </a:rPr>
                        <a:t>0.69</a:t>
                      </a:r>
                    </a:p>
                  </a:txBody>
                  <a:tcPr marT="12700" marB="12700">
                    <a:solidFill>
                      <a:srgbClr val="FFFFFF"/>
                    </a:solidFill>
                  </a:tcPr>
                </a:tc>
                <a:tc>
                  <a:txBody>
                    <a:bodyPr/>
                    <a:lstStyle/>
                    <a:p>
                      <a:pPr algn="ctr"/>
                      <a:r>
                        <a:rPr sz="1300" b="1">
                          <a:solidFill>
                            <a:srgbClr val="B12A2A"/>
                          </a:solidFill>
                        </a:rPr>
                        <a:t>0.03</a:t>
                      </a:r>
                    </a:p>
                  </a:txBody>
                  <a:tcPr marT="12700" marB="12700">
                    <a:solidFill>
                      <a:srgbClr val="FFFFFF"/>
                    </a:solidFill>
                  </a:tcPr>
                </a:tc>
              </a:tr>
              <a:tr h="292608">
                <a:tc>
                  <a:txBody>
                    <a:bodyPr/>
                    <a:lstStyle/>
                    <a:p>
                      <a:pPr algn="ctr"/>
                      <a:r>
                        <a:rPr sz="1300" b="0">
                          <a:solidFill>
                            <a:srgbClr val="1B2A4A"/>
                          </a:solidFill>
                        </a:rPr>
                        <a:t>5090</a:t>
                      </a:r>
                    </a:p>
                  </a:txBody>
                  <a:tcPr marT="12700" marB="12700">
                    <a:solidFill>
                      <a:srgbClr val="FFFFFF"/>
                    </a:solidFill>
                  </a:tcPr>
                </a:tc>
                <a:tc>
                  <a:txBody>
                    <a:bodyPr/>
                    <a:lstStyle/>
                    <a:p>
                      <a:pPr algn="ctr"/>
                      <a:r>
                        <a:rPr sz="1300" b="0">
                          <a:solidFill>
                            <a:srgbClr val="1B2A4A"/>
                          </a:solidFill>
                        </a:rPr>
                        <a:t>0.67</a:t>
                      </a:r>
                    </a:p>
                  </a:txBody>
                  <a:tcPr marT="12700" marB="12700">
                    <a:solidFill>
                      <a:srgbClr val="FFFFFF"/>
                    </a:solidFill>
                  </a:tcPr>
                </a:tc>
                <a:tc>
                  <a:txBody>
                    <a:bodyPr/>
                    <a:lstStyle/>
                    <a:p>
                      <a:pPr algn="ctr"/>
                      <a:r>
                        <a:rPr sz="1300" b="1">
                          <a:solidFill>
                            <a:srgbClr val="B12A2A"/>
                          </a:solidFill>
                        </a:rPr>
                        <a:t>0.06</a:t>
                      </a:r>
                    </a:p>
                  </a:txBody>
                  <a:tcPr marT="12700" marB="12700">
                    <a:solidFill>
                      <a:srgbClr val="FFFFFF"/>
                    </a:solidFill>
                  </a:tcPr>
                </a:tc>
              </a:tr>
            </a:tbl>
          </a:graphicData>
        </a:graphic>
      </p:graphicFrame>
      <p:sp>
        <p:nvSpPr>
          <p:cNvPr id="6" name="TextBox 5"/>
          <p:cNvSpPr txBox="1"/>
          <p:nvPr/>
        </p:nvSpPr>
        <p:spPr>
          <a:xfrm>
            <a:off x="548640" y="5074920"/>
            <a:ext cx="4023360" cy="320040"/>
          </a:xfrm>
          <a:prstGeom prst="rect">
            <a:avLst/>
          </a:prstGeom>
          <a:noFill/>
        </p:spPr>
        <p:txBody>
          <a:bodyPr wrap="none">
            <a:spAutoFit/>
          </a:bodyPr>
          <a:lstStyle/>
          <a:p>
            <a:pPr algn="ctr"/>
            <a:r>
              <a:rPr sz="1100" b="1">
                <a:solidFill>
                  <a:srgbClr val="1B2A4A"/>
                </a:solidFill>
              </a:rPr>
              <a:t>백엔드별 hit (c=48): default 4090 최악 붕괴</a:t>
            </a:r>
          </a:p>
        </p:txBody>
      </p:sp>
      <p:pic>
        <p:nvPicPr>
          <p:cNvPr id="7" name="Picture 6" descr="hetero_hetero_perbackend_hitrate.png"/>
          <p:cNvPicPr>
            <a:picLocks noChangeAspect="1"/>
          </p:cNvPicPr>
          <p:nvPr/>
        </p:nvPicPr>
        <p:blipFill>
          <a:blip r:embed="rId2"/>
          <a:stretch>
            <a:fillRect/>
          </a:stretch>
        </p:blipFill>
        <p:spPr>
          <a:xfrm>
            <a:off x="5806440" y="1828800"/>
            <a:ext cx="6217920" cy="4145280"/>
          </a:xfrm>
          <a:prstGeom prst="rect">
            <a:avLst/>
          </a:prstGeom>
        </p:spPr>
      </p:pic>
      <p:sp>
        <p:nvSpPr>
          <p:cNvPr id="8" name="TextBox 7"/>
          <p:cNvSpPr txBox="1"/>
          <p:nvPr/>
        </p:nvSpPr>
        <p:spPr>
          <a:xfrm>
            <a:off x="5806440" y="6035040"/>
            <a:ext cx="6217920" cy="320040"/>
          </a:xfrm>
          <a:prstGeom prst="rect">
            <a:avLst/>
          </a:prstGeom>
          <a:noFill/>
        </p:spPr>
        <p:txBody>
          <a:bodyPr wrap="none">
            <a:spAutoFit/>
          </a:bodyPr>
          <a:lstStyle/>
          <a:p>
            <a:pPr algn="ctr"/>
            <a:r>
              <a:rPr sz="1100" b="1">
                <a:solidFill>
                  <a:srgbClr val="1B2A4A"/>
                </a:solidFill>
              </a:rPr>
              <a:t>tr 균형 vs default 4090 최악 붕괴</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822960"/>
          </a:xfrm>
          <a:prstGeom prst="rect">
            <a:avLst/>
          </a:prstGeom>
          <a:noFill/>
        </p:spPr>
        <p:txBody>
          <a:bodyPr wrap="none">
            <a:spAutoFit/>
          </a:bodyPr>
          <a:lstStyle/>
          <a:p>
            <a:r>
              <a:rPr sz="2600" b="1">
                <a:solidFill>
                  <a:srgbClr val="1B2A4A"/>
                </a:solidFill>
              </a:rPr>
              <a:t>종합: 2×2 매트릭스 (데이터 × GPU) — 4칸 완성</a:t>
            </a:r>
          </a:p>
        </p:txBody>
      </p:sp>
      <p:sp>
        <p:nvSpPr>
          <p:cNvPr id="3" name="Rectangle 2"/>
          <p:cNvSpPr/>
          <p:nvPr/>
        </p:nvSpPr>
        <p:spPr>
          <a:xfrm>
            <a:off x="530352" y="1005840"/>
            <a:ext cx="2926080" cy="38100"/>
          </a:xfrm>
          <a:prstGeom prst="rect">
            <a:avLst/>
          </a:prstGeom>
          <a:solidFill>
            <a:srgbClr val="2E6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640080" y="1508760"/>
          <a:ext cx="10881360" cy="2103120"/>
        </p:xfrm>
        <a:graphic>
          <a:graphicData uri="http://schemas.openxmlformats.org/drawingml/2006/table">
            <a:tbl>
              <a:tblPr firstRow="1" bandRow="1">
                <a:tableStyleId>{5C22544A-7EE6-4342-B048-85BDC9FD1C3A}</a:tableStyleId>
              </a:tblPr>
              <a:tblGrid>
                <a:gridCol w="2286000"/>
                <a:gridCol w="4114800"/>
                <a:gridCol w="4480560"/>
              </a:tblGrid>
              <a:tr h="701040">
                <a:tc>
                  <a:txBody>
                    <a:bodyPr/>
                    <a:lstStyle/>
                    <a:p>
                      <a:pPr algn="ctr"/>
                      <a:r>
                        <a:rPr sz="1400" b="1">
                          <a:solidFill>
                            <a:srgbClr val="FFFFFF"/>
                          </a:solidFill>
                        </a:rPr>
                        <a:t/>
                      </a:r>
                    </a:p>
                  </a:txBody>
                  <a:tcPr>
                    <a:solidFill>
                      <a:srgbClr val="1B2A4A"/>
                    </a:solidFill>
                  </a:tcPr>
                </a:tc>
                <a:tc>
                  <a:txBody>
                    <a:bodyPr/>
                    <a:lstStyle/>
                    <a:p>
                      <a:pPr algn="ctr"/>
                      <a:r>
                        <a:rPr sz="1400" b="1">
                          <a:solidFill>
                            <a:srgbClr val="FFFFFF"/>
                          </a:solidFill>
                        </a:rPr>
                        <a:t>2×4090 (homo GPU)</a:t>
                      </a:r>
                    </a:p>
                  </a:txBody>
                  <a:tcPr>
                    <a:solidFill>
                      <a:srgbClr val="1B2A4A"/>
                    </a:solidFill>
                  </a:tcPr>
                </a:tc>
                <a:tc>
                  <a:txBody>
                    <a:bodyPr/>
                    <a:lstStyle/>
                    <a:p>
                      <a:pPr algn="ctr"/>
                      <a:r>
                        <a:rPr sz="1400" b="1">
                          <a:solidFill>
                            <a:srgbClr val="FFFFFF"/>
                          </a:solidFill>
                        </a:rPr>
                        <a:t>4090+5090 (hetero GPU)</a:t>
                      </a:r>
                    </a:p>
                  </a:txBody>
                  <a:tcPr>
                    <a:solidFill>
                      <a:srgbClr val="1B2A4A"/>
                    </a:solidFill>
                  </a:tcPr>
                </a:tc>
              </a:tr>
              <a:tr h="701040">
                <a:tc>
                  <a:txBody>
                    <a:bodyPr/>
                    <a:lstStyle/>
                    <a:p>
                      <a:pPr algn="ctr"/>
                      <a:r>
                        <a:rPr sz="1400" b="1">
                          <a:solidFill>
                            <a:srgbClr val="FFFFFF"/>
                          </a:solidFill>
                        </a:rPr>
                        <a:t>합성 데이터</a:t>
                      </a:r>
                    </a:p>
                  </a:txBody>
                  <a:tcPr>
                    <a:solidFill>
                      <a:srgbClr val="1B2A4A"/>
                    </a:solidFill>
                  </a:tcPr>
                </a:tc>
                <a:tc>
                  <a:txBody>
                    <a:bodyPr/>
                    <a:lstStyle/>
                    <a:p>
                      <a:pPr algn="ctr"/>
                      <a:r>
                        <a:rPr sz="1400">
                          <a:solidFill>
                            <a:srgbClr val="1B2A4A"/>
                          </a:solidFill>
                        </a:rPr>
                        <a:t>§9: tr thru +57% · hit 압승</a:t>
                      </a:r>
                    </a:p>
                  </a:txBody>
                  <a:tcPr>
                    <a:solidFill>
                      <a:srgbClr val="FFFFFF"/>
                    </a:solidFill>
                  </a:tcPr>
                </a:tc>
                <a:tc>
                  <a:txBody>
                    <a:bodyPr/>
                    <a:lstStyle/>
                    <a:p>
                      <a:pPr algn="ctr"/>
                      <a:r>
                        <a:rPr sz="1400">
                          <a:solidFill>
                            <a:srgbClr val="1B2A4A"/>
                          </a:solidFill>
                        </a:rPr>
                        <a:t>F: tr thru +100% · hit·p95 우위</a:t>
                      </a:r>
                    </a:p>
                  </a:txBody>
                  <a:tcPr>
                    <a:solidFill>
                      <a:srgbClr val="FFFFFF"/>
                    </a:solidFill>
                  </a:tcPr>
                </a:tc>
              </a:tr>
              <a:tr h="701040">
                <a:tc>
                  <a:txBody>
                    <a:bodyPr/>
                    <a:lstStyle/>
                    <a:p>
                      <a:pPr algn="ctr"/>
                      <a:r>
                        <a:rPr sz="1400" b="1">
                          <a:solidFill>
                            <a:srgbClr val="FFFFFF"/>
                          </a:solidFill>
                        </a:rPr>
                        <a:t>실제 TraceLab</a:t>
                      </a:r>
                    </a:p>
                  </a:txBody>
                  <a:tcPr>
                    <a:solidFill>
                      <a:srgbClr val="1B2A4A"/>
                    </a:solidFill>
                  </a:tcPr>
                </a:tc>
                <a:tc>
                  <a:txBody>
                    <a:bodyPr/>
                    <a:lstStyle/>
                    <a:p>
                      <a:pPr algn="ctr"/>
                      <a:r>
                        <a:rPr sz="1400">
                          <a:solidFill>
                            <a:srgbClr val="1B2A4A"/>
                          </a:solidFill>
                        </a:rPr>
                        <a:t>D: tr thru −34% · hit 압승(30×)</a:t>
                      </a:r>
                    </a:p>
                  </a:txBody>
                  <a:tcPr>
                    <a:solidFill>
                      <a:srgbClr val="FFFFFF"/>
                    </a:solidFill>
                  </a:tcPr>
                </a:tc>
                <a:tc>
                  <a:txBody>
                    <a:bodyPr/>
                    <a:lstStyle/>
                    <a:p>
                      <a:pPr algn="ctr"/>
                      <a:r>
                        <a:rPr sz="1400">
                          <a:solidFill>
                            <a:srgbClr val="1B2A4A"/>
                          </a:solidFill>
                        </a:rPr>
                        <a:t>G: tr thru −8%(회복) · hit 압승</a:t>
                      </a:r>
                    </a:p>
                  </a:txBody>
                  <a:tcPr>
                    <a:solidFill>
                      <a:srgbClr val="FFFFFF"/>
                    </a:solidFill>
                  </a:tcPr>
                </a:tc>
              </a:tr>
            </a:tbl>
          </a:graphicData>
        </a:graphic>
      </p:graphicFrame>
      <p:sp>
        <p:nvSpPr>
          <p:cNvPr id="5" name="TextBox 4"/>
          <p:cNvSpPr txBox="1"/>
          <p:nvPr/>
        </p:nvSpPr>
        <p:spPr>
          <a:xfrm>
            <a:off x="640080" y="4114800"/>
            <a:ext cx="10972800" cy="2103120"/>
          </a:xfrm>
          <a:prstGeom prst="rect">
            <a:avLst/>
          </a:prstGeom>
          <a:noFill/>
        </p:spPr>
        <p:txBody>
          <a:bodyPr wrap="square">
            <a:spAutoFit/>
          </a:bodyPr>
          <a:lstStyle/>
          <a:p>
            <a:pPr>
              <a:spcAft>
                <a:spcPts val="700"/>
              </a:spcAft>
            </a:pPr>
            <a:r>
              <a:rPr sz="1500" b="1">
                <a:solidFill>
                  <a:srgbClr val="1B2A4A"/>
                </a:solidFill>
              </a:rPr>
              <a:t>KV hit rate: tr은 4칸 모두 압승 (스래싱 억제 견고).</a:t>
            </a:r>
          </a:p>
          <a:p>
            <a:pPr>
              <a:spcAft>
                <a:spcPts val="700"/>
              </a:spcAft>
            </a:pPr>
            <a:r>
              <a:rPr sz="1500" b="1">
                <a:solidFill>
                  <a:srgbClr val="1B2A4A"/>
                </a:solidFill>
              </a:rPr>
              <a:t>Throughput: 프로그램이 KV에 육박하는 실데이터(D)에선 tr이 지고, 여유·이종이면 이기거나 회복(§9·F·G).</a:t>
            </a:r>
          </a:p>
          <a:p>
            <a:pPr lvl="1">
              <a:spcAft>
                <a:spcPts val="700"/>
              </a:spcAft>
            </a:pPr>
            <a:r>
              <a:rPr sz="1300" b="0">
                <a:solidFill>
                  <a:srgbClr val="1B2A4A"/>
                </a:solidFill>
              </a:rPr>
              <a:t>→ tr 이득은 '프로그램/KV 비율'·'GPU 용량'에 좌우. 이종 5090이 실데이터 적자를 34%→8%로 축소.</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822960"/>
          </a:xfrm>
          <a:prstGeom prst="rect">
            <a:avLst/>
          </a:prstGeom>
          <a:noFill/>
        </p:spPr>
        <p:txBody>
          <a:bodyPr wrap="none">
            <a:spAutoFit/>
          </a:bodyPr>
          <a:lstStyle/>
          <a:p>
            <a:r>
              <a:rPr sz="2600" b="1">
                <a:solidFill>
                  <a:srgbClr val="1B2A4A"/>
                </a:solidFill>
              </a:rPr>
              <a:t>시사점 · 다음 방향</a:t>
            </a:r>
          </a:p>
        </p:txBody>
      </p:sp>
      <p:sp>
        <p:nvSpPr>
          <p:cNvPr id="3" name="Rectangle 2"/>
          <p:cNvSpPr/>
          <p:nvPr/>
        </p:nvSpPr>
        <p:spPr>
          <a:xfrm>
            <a:off x="530352" y="1005840"/>
            <a:ext cx="2926080" cy="38100"/>
          </a:xfrm>
          <a:prstGeom prst="rect">
            <a:avLst/>
          </a:prstGeom>
          <a:solidFill>
            <a:srgbClr val="2E6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80160"/>
            <a:ext cx="10972800" cy="5029200"/>
          </a:xfrm>
          <a:prstGeom prst="rect">
            <a:avLst/>
          </a:prstGeom>
          <a:noFill/>
        </p:spPr>
        <p:txBody>
          <a:bodyPr wrap="square">
            <a:spAutoFit/>
          </a:bodyPr>
          <a:lstStyle/>
          <a:p>
            <a:pPr>
              <a:spcAft>
                <a:spcPts val="700"/>
              </a:spcAft>
            </a:pPr>
            <a:r>
              <a:rPr sz="1700" b="1">
                <a:solidFill>
                  <a:srgbClr val="1B2A4A"/>
                </a:solidFill>
              </a:rPr>
              <a:t>핵심 발견</a:t>
            </a:r>
          </a:p>
          <a:p>
            <a:pPr lvl="1">
              <a:spcAft>
                <a:spcPts val="700"/>
              </a:spcAft>
            </a:pPr>
            <a:r>
              <a:rPr sz="1500" b="0">
                <a:solidFill>
                  <a:srgbClr val="4A4A4A"/>
                </a:solidFill>
              </a:rPr>
              <a:t>① tr의 스래싱 억제(KV hit)는 실데이터·이종에서 견고히 재현.</a:t>
            </a:r>
          </a:p>
          <a:p>
            <a:pPr lvl="1">
              <a:spcAft>
                <a:spcPts val="700"/>
              </a:spcAft>
            </a:pPr>
            <a:r>
              <a:rPr sz="1500" b="0">
                <a:solidFill>
                  <a:srgbClr val="4A4A4A"/>
                </a:solidFill>
              </a:rPr>
              <a:t>② 이종에서 소형-GPU 혹사는 default의 병리 — tr은 균형 유지(H1 반증).</a:t>
            </a:r>
          </a:p>
          <a:p>
            <a:pPr lvl="1">
              <a:spcAft>
                <a:spcPts val="700"/>
              </a:spcAft>
            </a:pPr>
            <a:r>
              <a:rPr sz="1500" b="0">
                <a:solidFill>
                  <a:srgbClr val="B12A2A"/>
                </a:solidFill>
              </a:rPr>
              <a:t>③ 그러나 tr은 큰 5090을 과소활용 (split 1:1.6 &lt; 용량 1:2.03, +31% &lt; +51%).</a:t>
            </a:r>
          </a:p>
          <a:p>
            <a:pPr>
              <a:spcAft>
                <a:spcPts val="700"/>
              </a:spcAft>
            </a:pPr>
            <a:r>
              <a:rPr sz="1700" b="1">
                <a:solidFill>
                  <a:srgbClr val="1B2A4A"/>
                </a:solidFill>
              </a:rPr>
              <a:t>다음 과제: 용량 비례 라우팅</a:t>
            </a:r>
          </a:p>
          <a:p>
            <a:pPr lvl="1">
              <a:spcAft>
                <a:spcPts val="700"/>
              </a:spcAft>
            </a:pPr>
            <a:r>
              <a:rPr sz="1500" b="0">
                <a:solidFill>
                  <a:srgbClr val="1E7A3C"/>
                </a:solidFill>
              </a:rPr>
              <a:t>목표를 재정의 — '소형 GPU 부하 경감'이 아니라 '대형 GPU 여유 활용으로 throughput 상단 올리기'.</a:t>
            </a:r>
          </a:p>
          <a:p>
            <a:pPr lvl="1">
              <a:spcAft>
                <a:spcPts val="700"/>
              </a:spcAft>
            </a:pPr>
            <a:r>
              <a:rPr sz="1500" b="0">
                <a:solidFill>
                  <a:srgbClr val="1B2A4A"/>
                </a:solidFill>
              </a:rPr>
              <a:t>용량(가능하면 속도·대역폭)에 비례해 신규 프로그램 배정 → 5090 활용률↑ 검증.</a:t>
            </a:r>
          </a:p>
        </p:txBody>
      </p:sp>
      <p:sp>
        <p:nvSpPr>
          <p:cNvPr id="5" name="TextBox 4"/>
          <p:cNvSpPr txBox="1"/>
          <p:nvPr/>
        </p:nvSpPr>
        <p:spPr>
          <a:xfrm>
            <a:off x="640080" y="6419088"/>
            <a:ext cx="11155680" cy="365760"/>
          </a:xfrm>
          <a:prstGeom prst="rect">
            <a:avLst/>
          </a:prstGeom>
          <a:noFill/>
        </p:spPr>
        <p:txBody>
          <a:bodyPr wrap="none">
            <a:spAutoFit/>
          </a:bodyPr>
          <a:lstStyle/>
          <a:p>
            <a:r>
              <a:rPr sz="1100" i="1">
                <a:solidFill>
                  <a:srgbClr val="2E6DB4"/>
                </a:solidFill>
              </a:rPr>
              <a:t>router.py의 신규-프로그램 배정 로직을 용량 비례로 확장 (이번엔 관측만, 근거 확보 완료).</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822960"/>
          </a:xfrm>
          <a:prstGeom prst="rect">
            <a:avLst/>
          </a:prstGeom>
          <a:noFill/>
        </p:spPr>
        <p:txBody>
          <a:bodyPr wrap="none">
            <a:spAutoFit/>
          </a:bodyPr>
          <a:lstStyle/>
          <a:p>
            <a:r>
              <a:rPr sz="2600" b="1">
                <a:solidFill>
                  <a:srgbClr val="1B2A4A"/>
                </a:solidFill>
              </a:rPr>
              <a:t>한계 · TODO</a:t>
            </a:r>
          </a:p>
        </p:txBody>
      </p:sp>
      <p:sp>
        <p:nvSpPr>
          <p:cNvPr id="3" name="Rectangle 2"/>
          <p:cNvSpPr/>
          <p:nvPr/>
        </p:nvSpPr>
        <p:spPr>
          <a:xfrm>
            <a:off x="530352" y="1005840"/>
            <a:ext cx="2926080" cy="38100"/>
          </a:xfrm>
          <a:prstGeom prst="rect">
            <a:avLst/>
          </a:prstGeom>
          <a:solidFill>
            <a:srgbClr val="2E6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80160"/>
            <a:ext cx="10972800" cy="5029200"/>
          </a:xfrm>
          <a:prstGeom prst="rect">
            <a:avLst/>
          </a:prstGeom>
          <a:noFill/>
        </p:spPr>
        <p:txBody>
          <a:bodyPr wrap="square">
            <a:spAutoFit/>
          </a:bodyPr>
          <a:lstStyle/>
          <a:p>
            <a:pPr>
              <a:spcAft>
                <a:spcPts val="700"/>
              </a:spcAft>
            </a:pPr>
            <a:r>
              <a:rPr sz="1600" b="1">
                <a:solidFill>
                  <a:srgbClr val="1B2A4A"/>
                </a:solidFill>
              </a:rPr>
              <a:t>측정 신뢰도: 각 점 3회 (반복 간 편차, 특히 tr pause 타이밍) → 반복·에러바 보강.</a:t>
            </a:r>
          </a:p>
          <a:p>
            <a:pPr>
              <a:spcAft>
                <a:spcPts val="700"/>
              </a:spcAft>
            </a:pPr>
            <a:r>
              <a:rPr sz="1600" b="1">
                <a:solidFill>
                  <a:srgbClr val="1B2A4A"/>
                </a:solidFill>
              </a:rPr>
              <a:t>워크로드: F는 합성(§9). 실데이터 이종(TraceLab × 4090+5090)은 미실행.</a:t>
            </a:r>
          </a:p>
          <a:p>
            <a:pPr>
              <a:spcAft>
                <a:spcPts val="700"/>
              </a:spcAft>
            </a:pPr>
            <a:r>
              <a:rPr sz="1600" b="1">
                <a:solidFill>
                  <a:srgbClr val="1B2A4A"/>
                </a:solidFill>
              </a:rPr>
              <a:t>지표 근사: split을 prefix-cache queries(재프리필 포함)로 근사 — 순수 라우팅 프로그램 수와 다름.</a:t>
            </a:r>
          </a:p>
          <a:p>
            <a:pPr>
              <a:spcAft>
                <a:spcPts val="700"/>
              </a:spcAft>
            </a:pPr>
            <a:r>
              <a:rPr sz="1600" b="1">
                <a:solidFill>
                  <a:srgbClr val="1B2A4A"/>
                </a:solidFill>
              </a:rPr>
              <a:t>데이터 편향: fit≤32k 서브셋(982세션)은 짧은 세션 편향 — 92.5% turn이 32k 초과라 제외됨.</a:t>
            </a:r>
          </a:p>
          <a:p>
            <a:pPr>
              <a:spcAft>
                <a:spcPts val="700"/>
              </a:spcAft>
            </a:pPr>
            <a:r>
              <a:rPr sz="1600" b="1">
                <a:solidFill>
                  <a:srgbClr val="1B2A4A"/>
                </a:solidFill>
              </a:rPr>
              <a:t>보류: C·D(SWE-bench 녹화), E(cross-node homo) — 다음 미팅 이후.</a:t>
            </a:r>
          </a:p>
          <a:p>
            <a:pPr>
              <a:spcAft>
                <a:spcPts val="700"/>
              </a:spcAft>
            </a:pPr>
            <a:r>
              <a:rPr sz="1600" b="1">
                <a:solidFill>
                  <a:srgbClr val="1B2A4A"/>
                </a:solidFill>
              </a:rPr>
              <a:t>다음: 용량 비례 라우팅 구현 → D·F 재실행으로 이득 검증.</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